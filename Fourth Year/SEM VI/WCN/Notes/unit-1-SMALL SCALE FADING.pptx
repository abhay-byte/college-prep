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62" r:id="rId3"/>
    <p:sldId id="261" r:id="rId4"/>
    <p:sldId id="263" r:id="rId5"/>
    <p:sldId id="258"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varScale="1">
        <p:scale>
          <a:sx n="78" d="100"/>
          <a:sy n="78" d="100"/>
        </p:scale>
        <p:origin x="82" y="2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8/30/2020</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8/30/2020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8/30/2020</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8/30/2020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8/30/2020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8/30/2020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8/30/2020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8/30/2020</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8/30/2020</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8/30/2020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8/30/2020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8/30/2020</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Intersymbol_interference" TargetMode="External"/><Relationship Id="rId2" Type="http://schemas.openxmlformats.org/officeDocument/2006/relationships/hyperlink" Target="https://electronics.stackexchange.com/questions/123427/what-is-doppler-spread" TargetMode="External"/><Relationship Id="rId1" Type="http://schemas.openxmlformats.org/officeDocument/2006/relationships/slideLayout" Target="../slideLayouts/slideLayout2.xml"/><Relationship Id="rId6" Type="http://schemas.openxmlformats.org/officeDocument/2006/relationships/hyperlink" Target="https://en.wikipedia.org/wiki/Communication_channel" TargetMode="External"/><Relationship Id="rId5" Type="http://schemas.openxmlformats.org/officeDocument/2006/relationships/hyperlink" Target="https://en.wikipedia.org/wiki/Equalizer_(communications)" TargetMode="External"/><Relationship Id="rId4" Type="http://schemas.openxmlformats.org/officeDocument/2006/relationships/hyperlink" Target="https://en.wikipedia.org/wiki/Adaptive_equalizer"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A1D66-73BB-4B00-A218-FE065BB122AB}"/>
              </a:ext>
            </a:extLst>
          </p:cNvPr>
          <p:cNvSpPr>
            <a:spLocks noGrp="1"/>
          </p:cNvSpPr>
          <p:nvPr>
            <p:ph type="title"/>
          </p:nvPr>
        </p:nvSpPr>
        <p:spPr>
          <a:xfrm>
            <a:off x="727587" y="7374"/>
            <a:ext cx="11464413" cy="1485900"/>
          </a:xfrm>
        </p:spPr>
        <p:txBody>
          <a:bodyPr/>
          <a:lstStyle/>
          <a:p>
            <a:r>
              <a:rPr lang="en-US" dirty="0"/>
              <a:t>SMALL SCALE FADING</a:t>
            </a:r>
            <a:endParaRPr lang="en-IN" dirty="0"/>
          </a:p>
        </p:txBody>
      </p:sp>
      <p:sp>
        <p:nvSpPr>
          <p:cNvPr id="3" name="Content Placeholder 2">
            <a:extLst>
              <a:ext uri="{FF2B5EF4-FFF2-40B4-BE49-F238E27FC236}">
                <a16:creationId xmlns:a16="http://schemas.microsoft.com/office/drawing/2014/main" id="{8F371680-9CD1-4518-9C38-8071496E5CB9}"/>
              </a:ext>
            </a:extLst>
          </p:cNvPr>
          <p:cNvSpPr>
            <a:spLocks noGrp="1"/>
          </p:cNvSpPr>
          <p:nvPr>
            <p:ph idx="1"/>
          </p:nvPr>
        </p:nvSpPr>
        <p:spPr>
          <a:xfrm>
            <a:off x="727587" y="678426"/>
            <a:ext cx="11464413" cy="6172200"/>
          </a:xfrm>
        </p:spPr>
        <p:txBody>
          <a:bodyPr/>
          <a:lstStyle/>
          <a:p>
            <a:pPr>
              <a:buFont typeface="Wingdings" panose="05000000000000000000" pitchFamily="2" charset="2"/>
              <a:buChar char="Ø"/>
            </a:pPr>
            <a:endParaRPr lang="en-US" b="0" i="0" dirty="0">
              <a:solidFill>
                <a:srgbClr val="444444"/>
              </a:solidFill>
              <a:effectLst/>
              <a:latin typeface="Arial" panose="020B0604020202020204" pitchFamily="34" charset="0"/>
            </a:endParaRPr>
          </a:p>
          <a:p>
            <a:pPr>
              <a:buFont typeface="Wingdings" panose="05000000000000000000" pitchFamily="2" charset="2"/>
              <a:buChar char="Ø"/>
            </a:pPr>
            <a:r>
              <a:rPr lang="en-US" b="0" i="0" dirty="0">
                <a:solidFill>
                  <a:srgbClr val="444444"/>
                </a:solidFill>
                <a:effectLst/>
                <a:latin typeface="Arial" panose="020B0604020202020204" pitchFamily="34" charset="0"/>
              </a:rPr>
              <a:t>This refers to the fluctuations in signal strength and phase over short distance and small duration of time. It is also called </a:t>
            </a:r>
            <a:r>
              <a:rPr lang="en-US" b="1" i="0" dirty="0">
                <a:solidFill>
                  <a:srgbClr val="444444"/>
                </a:solidFill>
                <a:effectLst/>
                <a:latin typeface="Arial" panose="020B0604020202020204" pitchFamily="34" charset="0"/>
              </a:rPr>
              <a:t>Rayleigh Fading</a:t>
            </a:r>
            <a:r>
              <a:rPr lang="en-US" b="0" i="0" dirty="0">
                <a:solidFill>
                  <a:srgbClr val="444444"/>
                </a:solidFill>
                <a:effectLst/>
                <a:latin typeface="Arial" panose="020B0604020202020204" pitchFamily="34" charset="0"/>
              </a:rPr>
              <a:t>. Small Scale Fading affects almost all forms of wireless communication and overcoming them is a necessity to increase efficiency and decrease error.</a:t>
            </a:r>
          </a:p>
          <a:p>
            <a:pPr>
              <a:buFont typeface="Wingdings" panose="05000000000000000000" pitchFamily="2" charset="2"/>
              <a:buChar char="Ø"/>
            </a:pPr>
            <a:endParaRPr lang="en-US" dirty="0">
              <a:solidFill>
                <a:srgbClr val="444444"/>
              </a:solidFill>
              <a:latin typeface="Arial" panose="020B0604020202020204" pitchFamily="34" charset="0"/>
            </a:endParaRPr>
          </a:p>
          <a:p>
            <a:pPr>
              <a:buFont typeface="Wingdings" panose="05000000000000000000" pitchFamily="2" charset="2"/>
              <a:buChar char="Ø"/>
            </a:pPr>
            <a:r>
              <a:rPr lang="en-US" dirty="0">
                <a:solidFill>
                  <a:srgbClr val="444444"/>
                </a:solidFill>
                <a:latin typeface="Arial" panose="020B0604020202020204" pitchFamily="34" charset="0"/>
              </a:rPr>
              <a:t>Reasons of small scale fading:</a:t>
            </a:r>
          </a:p>
          <a:p>
            <a:pPr marL="514350" indent="-514350">
              <a:buFont typeface="+mj-lt"/>
              <a:buAutoNum type="romanLcPeriod"/>
            </a:pPr>
            <a:r>
              <a:rPr lang="en-US" b="0" i="0" dirty="0">
                <a:solidFill>
                  <a:srgbClr val="444444"/>
                </a:solidFill>
                <a:effectLst/>
                <a:latin typeface="Arial" panose="020B0604020202020204" pitchFamily="34" charset="0"/>
              </a:rPr>
              <a:t>Rapid change in signal strength over small distance</a:t>
            </a:r>
          </a:p>
          <a:p>
            <a:pPr marL="514350" indent="-514350">
              <a:buFont typeface="+mj-lt"/>
              <a:buAutoNum type="romanLcPeriod"/>
            </a:pPr>
            <a:r>
              <a:rPr lang="en-US" dirty="0">
                <a:solidFill>
                  <a:srgbClr val="444444"/>
                </a:solidFill>
                <a:latin typeface="Arial" panose="020B0604020202020204" pitchFamily="34" charset="0"/>
              </a:rPr>
              <a:t>Time dispersion due to multipath delays</a:t>
            </a:r>
            <a:endParaRPr lang="en-US"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600217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A673B-C38B-43D7-A075-C7E76D232E6C}"/>
              </a:ext>
            </a:extLst>
          </p:cNvPr>
          <p:cNvSpPr>
            <a:spLocks noGrp="1"/>
          </p:cNvSpPr>
          <p:nvPr>
            <p:ph type="title"/>
          </p:nvPr>
        </p:nvSpPr>
        <p:spPr>
          <a:xfrm>
            <a:off x="717755" y="0"/>
            <a:ext cx="11474245" cy="1485900"/>
          </a:xfrm>
        </p:spPr>
        <p:txBody>
          <a:bodyPr/>
          <a:lstStyle/>
          <a:p>
            <a:r>
              <a:rPr lang="en-US" dirty="0"/>
              <a:t>TYPES OF SMALL SCALE FADING</a:t>
            </a:r>
            <a:endParaRPr lang="en-IN" dirty="0"/>
          </a:p>
        </p:txBody>
      </p:sp>
      <p:sp>
        <p:nvSpPr>
          <p:cNvPr id="3" name="Content Placeholder 2">
            <a:extLst>
              <a:ext uri="{FF2B5EF4-FFF2-40B4-BE49-F238E27FC236}">
                <a16:creationId xmlns:a16="http://schemas.microsoft.com/office/drawing/2014/main" id="{BF0390DB-9AFD-4AA5-BE03-72FBFD51C9FC}"/>
              </a:ext>
            </a:extLst>
          </p:cNvPr>
          <p:cNvSpPr>
            <a:spLocks noGrp="1"/>
          </p:cNvSpPr>
          <p:nvPr>
            <p:ph idx="1"/>
          </p:nvPr>
        </p:nvSpPr>
        <p:spPr>
          <a:xfrm>
            <a:off x="717755" y="806245"/>
            <a:ext cx="11474245" cy="6051755"/>
          </a:xfrm>
        </p:spPr>
        <p:txBody>
          <a:bodyPr/>
          <a:lstStyle/>
          <a:p>
            <a:r>
              <a:rPr lang="en-US" dirty="0"/>
              <a:t>Types of fading experienced by Tx signal depends on the nature of Tx signal with respect to characteristics of channel</a:t>
            </a:r>
            <a:endParaRPr lang="en-IN" dirty="0"/>
          </a:p>
        </p:txBody>
      </p:sp>
      <p:pic>
        <p:nvPicPr>
          <p:cNvPr id="5" name="Picture 4">
            <a:extLst>
              <a:ext uri="{FF2B5EF4-FFF2-40B4-BE49-F238E27FC236}">
                <a16:creationId xmlns:a16="http://schemas.microsoft.com/office/drawing/2014/main" id="{5B688C14-D8D5-49AA-9348-E49CFE11350E}"/>
              </a:ext>
            </a:extLst>
          </p:cNvPr>
          <p:cNvPicPr>
            <a:picLocks noChangeAspect="1"/>
          </p:cNvPicPr>
          <p:nvPr/>
        </p:nvPicPr>
        <p:blipFill>
          <a:blip r:embed="rId2"/>
          <a:stretch>
            <a:fillRect/>
          </a:stretch>
        </p:blipFill>
        <p:spPr>
          <a:xfrm>
            <a:off x="1524000" y="1485900"/>
            <a:ext cx="9144000" cy="5372100"/>
          </a:xfrm>
          <a:prstGeom prst="rect">
            <a:avLst/>
          </a:prstGeom>
        </p:spPr>
      </p:pic>
    </p:spTree>
    <p:extLst>
      <p:ext uri="{BB962C8B-B14F-4D97-AF65-F5344CB8AC3E}">
        <p14:creationId xmlns:p14="http://schemas.microsoft.com/office/powerpoint/2010/main" val="1183593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299105-D542-4445-AEF1-16BCBE264EB4}"/>
              </a:ext>
            </a:extLst>
          </p:cNvPr>
          <p:cNvSpPr>
            <a:spLocks noGrp="1"/>
          </p:cNvSpPr>
          <p:nvPr>
            <p:ph idx="1"/>
          </p:nvPr>
        </p:nvSpPr>
        <p:spPr>
          <a:xfrm>
            <a:off x="717755" y="0"/>
            <a:ext cx="11474245" cy="6858000"/>
          </a:xfrm>
        </p:spPr>
        <p:txBody>
          <a:bodyPr>
            <a:normAutofit/>
          </a:bodyPr>
          <a:lstStyle/>
          <a:p>
            <a:pPr>
              <a:buFont typeface="Arial" panose="020B0604020202020204" pitchFamily="34" charset="0"/>
              <a:buChar char="•"/>
            </a:pPr>
            <a:endParaRPr lang="en-US" b="1" i="0" dirty="0">
              <a:solidFill>
                <a:srgbClr val="444444"/>
              </a:solidFill>
              <a:effectLst/>
              <a:latin typeface="Arial" panose="020B0604020202020204" pitchFamily="34" charset="0"/>
            </a:endParaRPr>
          </a:p>
          <a:p>
            <a:pPr>
              <a:buFont typeface="Wingdings" panose="05000000000000000000" pitchFamily="2" charset="2"/>
              <a:buChar char="§"/>
            </a:pPr>
            <a:r>
              <a:rPr lang="en-US" b="1" i="0" dirty="0">
                <a:solidFill>
                  <a:srgbClr val="444444"/>
                </a:solidFill>
                <a:effectLst/>
                <a:latin typeface="Arial" panose="020B0604020202020204" pitchFamily="34" charset="0"/>
              </a:rPr>
              <a:t>Fast Fading:</a:t>
            </a:r>
            <a:r>
              <a:rPr lang="en-US" b="0" i="0" dirty="0">
                <a:solidFill>
                  <a:srgbClr val="444444"/>
                </a:solidFill>
                <a:effectLst/>
                <a:latin typeface="Arial" panose="020B0604020202020204" pitchFamily="34" charset="0"/>
              </a:rPr>
              <a:t> It occurs mainly due to reflections for surfaces and movement of transmitter or receiver. </a:t>
            </a:r>
          </a:p>
          <a:p>
            <a:pPr>
              <a:buFont typeface="Wingdings" panose="05000000000000000000" pitchFamily="2" charset="2"/>
              <a:buChar char="Ø"/>
            </a:pPr>
            <a:r>
              <a:rPr lang="en-US" b="0" i="0" dirty="0">
                <a:solidFill>
                  <a:srgbClr val="444444"/>
                </a:solidFill>
                <a:effectLst/>
                <a:latin typeface="Arial" panose="020B0604020202020204" pitchFamily="34" charset="0"/>
              </a:rPr>
              <a:t> High </a:t>
            </a:r>
            <a:r>
              <a:rPr lang="en-US" b="0" i="0" u="none" strike="noStrike" dirty="0">
                <a:solidFill>
                  <a:srgbClr val="007EB0"/>
                </a:solidFill>
                <a:effectLst/>
                <a:latin typeface="Arial" panose="020B0604020202020204" pitchFamily="34" charset="0"/>
                <a:hlinkClick r:id="rId2"/>
              </a:rPr>
              <a:t>doppler spread</a:t>
            </a:r>
            <a:r>
              <a:rPr lang="en-US" b="0" i="0" u="none" strike="noStrike" dirty="0">
                <a:solidFill>
                  <a:srgbClr val="007EB0"/>
                </a:solidFill>
                <a:effectLst/>
                <a:latin typeface="Arial" panose="020B0604020202020204" pitchFamily="34" charset="0"/>
              </a:rPr>
              <a:t>(</a:t>
            </a:r>
            <a:r>
              <a:rPr lang="en-IN" b="0" i="1" dirty="0">
                <a:solidFill>
                  <a:srgbClr val="535A60"/>
                </a:solidFill>
                <a:effectLst/>
                <a:latin typeface="Arial" panose="020B0604020202020204" pitchFamily="34" charset="0"/>
              </a:rPr>
              <a:t>spectral broadening</a:t>
            </a:r>
            <a:r>
              <a:rPr lang="en-IN" b="0" i="0" dirty="0">
                <a:solidFill>
                  <a:srgbClr val="535A60"/>
                </a:solidFill>
                <a:effectLst/>
                <a:latin typeface="Arial" panose="020B0604020202020204" pitchFamily="34" charset="0"/>
              </a:rPr>
              <a:t> </a:t>
            </a:r>
            <a:r>
              <a:rPr lang="en-US" b="0" i="0" u="none" strike="noStrike" dirty="0">
                <a:solidFill>
                  <a:srgbClr val="007EB0"/>
                </a:solidFill>
                <a:effectLst/>
                <a:latin typeface="Arial" panose="020B0604020202020204" pitchFamily="34" charset="0"/>
              </a:rPr>
              <a:t>)</a:t>
            </a:r>
            <a:r>
              <a:rPr lang="en-US" b="0" i="0" dirty="0">
                <a:solidFill>
                  <a:srgbClr val="444444"/>
                </a:solidFill>
                <a:effectLst/>
                <a:latin typeface="Arial" panose="020B0604020202020204" pitchFamily="34" charset="0"/>
              </a:rPr>
              <a:t> is observed in the fast fading with Doppler bandwidth comparable to or greater than the bandwidth of the signal and the channel variations are as fast or faster than the signal variations</a:t>
            </a:r>
          </a:p>
          <a:p>
            <a:pPr>
              <a:buFont typeface="Wingdings" panose="05000000000000000000" pitchFamily="2" charset="2"/>
              <a:buChar char="Ø"/>
            </a:pPr>
            <a:r>
              <a:rPr lang="en-US" b="0" i="0" dirty="0">
                <a:solidFill>
                  <a:srgbClr val="444444"/>
                </a:solidFill>
                <a:effectLst/>
                <a:latin typeface="Arial" panose="020B0604020202020204" pitchFamily="34" charset="0"/>
              </a:rPr>
              <a:t>It causes linear distortions in the shape of the baseband signal and creates </a:t>
            </a:r>
            <a:r>
              <a:rPr lang="en-US" b="0" i="0" u="none" strike="noStrike" dirty="0">
                <a:solidFill>
                  <a:srgbClr val="007EB0"/>
                </a:solidFill>
                <a:effectLst/>
                <a:latin typeface="Arial" panose="020B0604020202020204" pitchFamily="34" charset="0"/>
                <a:hlinkClick r:id="rId3"/>
              </a:rPr>
              <a:t>Inter Symbol       Interference (ISI)</a:t>
            </a:r>
            <a:r>
              <a:rPr lang="en-US" b="0" i="0" dirty="0">
                <a:solidFill>
                  <a:srgbClr val="444444"/>
                </a:solidFill>
                <a:effectLst/>
                <a:latin typeface="Arial" panose="020B0604020202020204" pitchFamily="34" charset="0"/>
              </a:rPr>
              <a:t>. One way to remove ISI is </a:t>
            </a:r>
            <a:r>
              <a:rPr lang="en-US" b="0" i="0" u="none" strike="noStrike" dirty="0">
                <a:solidFill>
                  <a:srgbClr val="007EB0"/>
                </a:solidFill>
                <a:effectLst/>
                <a:latin typeface="Arial" panose="020B0604020202020204" pitchFamily="34" charset="0"/>
                <a:hlinkClick r:id="rId4"/>
              </a:rPr>
              <a:t>adaptive equalization</a:t>
            </a:r>
            <a:r>
              <a:rPr lang="en-US" b="0" i="0" dirty="0">
                <a:solidFill>
                  <a:srgbClr val="444444"/>
                </a:solidFill>
                <a:effectLst/>
                <a:latin typeface="Arial" panose="020B0604020202020204" pitchFamily="34" charset="0"/>
              </a:rPr>
              <a:t>(It </a:t>
            </a:r>
            <a:r>
              <a:rPr lang="en-US" b="0" i="0" dirty="0">
                <a:solidFill>
                  <a:srgbClr val="202122"/>
                </a:solidFill>
                <a:effectLst/>
                <a:latin typeface="Arial" panose="020B0604020202020204" pitchFamily="34" charset="0"/>
              </a:rPr>
              <a:t>is an </a:t>
            </a:r>
            <a:r>
              <a:rPr lang="en-US" b="0" i="0" u="none" strike="noStrike" dirty="0">
                <a:solidFill>
                  <a:srgbClr val="0B0080"/>
                </a:solidFill>
                <a:effectLst/>
                <a:latin typeface="Arial" panose="020B0604020202020204" pitchFamily="34" charset="0"/>
                <a:hlinkClick r:id="rId5" tooltip="Equalizer (communications)"/>
              </a:rPr>
              <a:t>equalizer</a:t>
            </a:r>
            <a:r>
              <a:rPr lang="en-US" b="0" i="0" dirty="0">
                <a:solidFill>
                  <a:srgbClr val="202122"/>
                </a:solidFill>
                <a:effectLst/>
                <a:latin typeface="Arial" panose="020B0604020202020204" pitchFamily="34" charset="0"/>
              </a:rPr>
              <a:t> that automatically adapts to time-varying properties of the </a:t>
            </a:r>
            <a:r>
              <a:rPr lang="en-US" b="0" i="0" u="none" strike="noStrike" dirty="0">
                <a:solidFill>
                  <a:srgbClr val="0B0080"/>
                </a:solidFill>
                <a:effectLst/>
                <a:latin typeface="Arial" panose="020B0604020202020204" pitchFamily="34" charset="0"/>
                <a:hlinkClick r:id="rId6" tooltip="Communication channel"/>
              </a:rPr>
              <a:t>communication channel</a:t>
            </a:r>
            <a:r>
              <a:rPr lang="en-US" b="0" i="0" dirty="0">
                <a:solidFill>
                  <a:srgbClr val="444444"/>
                </a:solidFill>
                <a:effectLst/>
                <a:latin typeface="Arial" panose="020B0604020202020204" pitchFamily="34" charset="0"/>
              </a:rPr>
              <a:t>)</a:t>
            </a:r>
          </a:p>
          <a:p>
            <a:pPr>
              <a:buFont typeface="Wingdings" panose="05000000000000000000" pitchFamily="2" charset="2"/>
              <a:buChar char="Ø"/>
            </a:pPr>
            <a:r>
              <a:rPr lang="en-US" dirty="0">
                <a:solidFill>
                  <a:srgbClr val="444444"/>
                </a:solidFill>
                <a:latin typeface="Arial" panose="020B0604020202020204" pitchFamily="34" charset="0"/>
              </a:rPr>
              <a:t>Rate of change of channel is faster than rate of change of Tx signal</a:t>
            </a:r>
          </a:p>
          <a:p>
            <a:pPr>
              <a:buFont typeface="Wingdings" panose="05000000000000000000" pitchFamily="2" charset="2"/>
              <a:buChar char="Ø"/>
            </a:pPr>
            <a:r>
              <a:rPr lang="en-US" b="0" i="0" dirty="0">
                <a:solidFill>
                  <a:srgbClr val="444444"/>
                </a:solidFill>
                <a:effectLst/>
                <a:latin typeface="Arial" panose="020B0604020202020204" pitchFamily="34" charset="0"/>
              </a:rPr>
              <a:t>Doppler spread is greater than Tx signal</a:t>
            </a:r>
          </a:p>
          <a:p>
            <a:pPr marL="514350" indent="-514350">
              <a:buFont typeface="+mj-lt"/>
              <a:buAutoNum type="romanLcPeriod"/>
            </a:pPr>
            <a:r>
              <a:rPr lang="en-US" dirty="0">
                <a:solidFill>
                  <a:srgbClr val="444444"/>
                </a:solidFill>
                <a:latin typeface="Arial" panose="020B0604020202020204" pitchFamily="34" charset="0"/>
              </a:rPr>
              <a:t>Ts&gt;</a:t>
            </a:r>
            <a:r>
              <a:rPr lang="en-US" dirty="0" err="1">
                <a:solidFill>
                  <a:srgbClr val="444444"/>
                </a:solidFill>
                <a:latin typeface="Arial" panose="020B0604020202020204" pitchFamily="34" charset="0"/>
              </a:rPr>
              <a:t>Tchannel</a:t>
            </a:r>
            <a:r>
              <a:rPr lang="en-US" dirty="0">
                <a:solidFill>
                  <a:srgbClr val="444444"/>
                </a:solidFill>
                <a:latin typeface="Arial" panose="020B0604020202020204" pitchFamily="34" charset="0"/>
              </a:rPr>
              <a:t>                    (Ts- Symbol Period)</a:t>
            </a:r>
          </a:p>
          <a:p>
            <a:pPr marL="514350" indent="-514350">
              <a:buFont typeface="+mj-lt"/>
              <a:buAutoNum type="romanLcPeriod"/>
            </a:pPr>
            <a:r>
              <a:rPr lang="en-US" b="0" i="0" dirty="0" err="1">
                <a:solidFill>
                  <a:srgbClr val="444444"/>
                </a:solidFill>
                <a:effectLst/>
                <a:latin typeface="Arial" panose="020B0604020202020204" pitchFamily="34" charset="0"/>
              </a:rPr>
              <a:t>Bsignal</a:t>
            </a:r>
            <a:r>
              <a:rPr lang="en-US" b="0" i="0" dirty="0">
                <a:solidFill>
                  <a:srgbClr val="444444"/>
                </a:solidFill>
                <a:effectLst/>
                <a:latin typeface="Arial" panose="020B0604020202020204" pitchFamily="34" charset="0"/>
              </a:rPr>
              <a:t>&lt;</a:t>
            </a:r>
            <a:r>
              <a:rPr lang="en-US" b="0" i="0" dirty="0" err="1">
                <a:solidFill>
                  <a:srgbClr val="444444"/>
                </a:solidFill>
                <a:effectLst/>
                <a:latin typeface="Arial" panose="020B0604020202020204" pitchFamily="34" charset="0"/>
              </a:rPr>
              <a:t>Bdoppler</a:t>
            </a:r>
            <a:r>
              <a:rPr lang="en-US" b="0" i="0" dirty="0">
                <a:solidFill>
                  <a:srgbClr val="444444"/>
                </a:solidFill>
                <a:effectLst/>
                <a:latin typeface="Arial" panose="020B0604020202020204" pitchFamily="34" charset="0"/>
              </a:rPr>
              <a:t> spread</a:t>
            </a:r>
          </a:p>
          <a:p>
            <a:pPr marL="0" indent="0">
              <a:buNone/>
            </a:pPr>
            <a:endParaRPr lang="en-US" dirty="0">
              <a:solidFill>
                <a:srgbClr val="444444"/>
              </a:solidFill>
              <a:latin typeface="Arial" panose="020B0604020202020204" pitchFamily="34" charset="0"/>
            </a:endParaRPr>
          </a:p>
          <a:p>
            <a:pPr marL="0" indent="0">
              <a:buNone/>
            </a:pPr>
            <a:endParaRPr lang="en-US" b="0" i="0" dirty="0">
              <a:solidFill>
                <a:srgbClr val="444444"/>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3772878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DDA2BF-819F-4C3D-A46D-7704BE5DDAD8}"/>
              </a:ext>
            </a:extLst>
          </p:cNvPr>
          <p:cNvSpPr>
            <a:spLocks noGrp="1"/>
          </p:cNvSpPr>
          <p:nvPr>
            <p:ph idx="1"/>
          </p:nvPr>
        </p:nvSpPr>
        <p:spPr>
          <a:xfrm>
            <a:off x="717755" y="0"/>
            <a:ext cx="11474245" cy="6858000"/>
          </a:xfrm>
        </p:spPr>
        <p:txBody>
          <a:bodyPr/>
          <a:lstStyle/>
          <a:p>
            <a:pPr>
              <a:buFont typeface="Wingdings" panose="05000000000000000000" pitchFamily="2" charset="2"/>
              <a:buChar char="§"/>
            </a:pPr>
            <a:r>
              <a:rPr lang="en-US" b="1" i="0" dirty="0">
                <a:solidFill>
                  <a:srgbClr val="444444"/>
                </a:solidFill>
                <a:effectLst/>
                <a:latin typeface="Arial" panose="020B0604020202020204" pitchFamily="34" charset="0"/>
              </a:rPr>
              <a:t>Slow Fading:</a:t>
            </a:r>
            <a:r>
              <a:rPr lang="en-US" b="0" i="0" dirty="0">
                <a:solidFill>
                  <a:srgbClr val="444444"/>
                </a:solidFill>
                <a:effectLst/>
                <a:latin typeface="Arial" panose="020B0604020202020204" pitchFamily="34" charset="0"/>
              </a:rPr>
              <a:t> It occurs mainly due to shadowing where large buildings or geographical structures obstruct the LOS(</a:t>
            </a:r>
            <a:r>
              <a:rPr lang="en-US" b="0" i="0" dirty="0">
                <a:solidFill>
                  <a:srgbClr val="6C6C6C"/>
                </a:solidFill>
                <a:effectLst/>
                <a:latin typeface="Arial" panose="020B0604020202020204" pitchFamily="34" charset="0"/>
              </a:rPr>
              <a:t>Line of sight (LOS) is the level of obstruction on the path between two points</a:t>
            </a:r>
            <a:r>
              <a:rPr lang="en-US" b="0" i="0" dirty="0">
                <a:solidFill>
                  <a:srgbClr val="444444"/>
                </a:solidFill>
                <a:effectLst/>
                <a:latin typeface="Arial" panose="020B0604020202020204" pitchFamily="34" charset="0"/>
              </a:rPr>
              <a:t>).</a:t>
            </a:r>
          </a:p>
          <a:p>
            <a:pPr>
              <a:buFont typeface="Wingdings" panose="05000000000000000000" pitchFamily="2" charset="2"/>
              <a:buChar char="Ø"/>
            </a:pPr>
            <a:r>
              <a:rPr lang="en-US" b="0" i="0" dirty="0">
                <a:solidFill>
                  <a:srgbClr val="444444"/>
                </a:solidFill>
                <a:effectLst/>
                <a:latin typeface="Arial" panose="020B0604020202020204" pitchFamily="34" charset="0"/>
              </a:rPr>
              <a:t> Low doppler spread is observed in Slow Fading with the doppler bandwidth being smaller compared to the bandwidth of the signal and the channel variations are slow relative to the signal variations.</a:t>
            </a:r>
          </a:p>
          <a:p>
            <a:pPr>
              <a:buFont typeface="Wingdings" panose="05000000000000000000" pitchFamily="2" charset="2"/>
              <a:buChar char="Ø"/>
            </a:pPr>
            <a:r>
              <a:rPr lang="en-US" b="0" i="0" dirty="0">
                <a:solidFill>
                  <a:srgbClr val="444444"/>
                </a:solidFill>
                <a:effectLst/>
                <a:latin typeface="Arial" panose="020B0604020202020204" pitchFamily="34" charset="0"/>
              </a:rPr>
              <a:t>It results in reduction of SNR(</a:t>
            </a:r>
            <a:r>
              <a:rPr lang="en-IN" b="1" i="0" dirty="0">
                <a:solidFill>
                  <a:srgbClr val="333333"/>
                </a:solidFill>
                <a:effectLst/>
                <a:latin typeface="proxima-nova-1"/>
              </a:rPr>
              <a:t>Signal-to-Noise Ratio (SNR) </a:t>
            </a:r>
            <a:r>
              <a:rPr lang="en-US" b="0" i="0" dirty="0">
                <a:solidFill>
                  <a:srgbClr val="333333"/>
                </a:solidFill>
                <a:effectLst/>
                <a:latin typeface="proxima-nova-1"/>
              </a:rPr>
              <a:t>is the difference between the received wireless signal and the noise floor</a:t>
            </a:r>
            <a:r>
              <a:rPr lang="en-US" b="0" i="0" dirty="0">
                <a:solidFill>
                  <a:srgbClr val="444444"/>
                </a:solidFill>
                <a:effectLst/>
                <a:latin typeface="Arial" panose="020B0604020202020204" pitchFamily="34" charset="0"/>
              </a:rPr>
              <a:t>) which can be overcome using error correction techniques and receiver diversity techniques.</a:t>
            </a:r>
          </a:p>
          <a:p>
            <a:pPr>
              <a:buFont typeface="Wingdings" panose="05000000000000000000" pitchFamily="2" charset="2"/>
              <a:buChar char="Ø"/>
            </a:pPr>
            <a:r>
              <a:rPr lang="en-US" dirty="0">
                <a:solidFill>
                  <a:srgbClr val="444444"/>
                </a:solidFill>
                <a:latin typeface="Arial" panose="020B0604020202020204" pitchFamily="34" charset="0"/>
              </a:rPr>
              <a:t>Rate of change of channel is slower than Tx signal</a:t>
            </a:r>
          </a:p>
          <a:p>
            <a:pPr>
              <a:buFont typeface="Wingdings" panose="05000000000000000000" pitchFamily="2" charset="2"/>
              <a:buChar char="Ø"/>
            </a:pPr>
            <a:r>
              <a:rPr lang="en-US" dirty="0">
                <a:solidFill>
                  <a:srgbClr val="444444"/>
                </a:solidFill>
                <a:latin typeface="Arial" panose="020B0604020202020204" pitchFamily="34" charset="0"/>
              </a:rPr>
              <a:t>Impulse response is static</a:t>
            </a:r>
          </a:p>
          <a:p>
            <a:pPr>
              <a:buFont typeface="Wingdings" panose="05000000000000000000" pitchFamily="2" charset="2"/>
              <a:buChar char="Ø"/>
            </a:pPr>
            <a:r>
              <a:rPr lang="en-IN" dirty="0"/>
              <a:t>Doppler spread is smaller than Tx signal</a:t>
            </a:r>
          </a:p>
          <a:p>
            <a:pPr marL="514350" indent="-514350">
              <a:buFont typeface="+mj-lt"/>
              <a:buAutoNum type="romanLcPeriod"/>
            </a:pPr>
            <a:r>
              <a:rPr lang="en-IN" dirty="0"/>
              <a:t>Ts&lt;&lt;Tc                                (Tc- Coherence Time)</a:t>
            </a:r>
          </a:p>
          <a:p>
            <a:pPr marL="514350" indent="-514350">
              <a:buFont typeface="+mj-lt"/>
              <a:buAutoNum type="romanLcPeriod"/>
            </a:pPr>
            <a:r>
              <a:rPr lang="en-IN" dirty="0" err="1"/>
              <a:t>Bsignal</a:t>
            </a:r>
            <a:r>
              <a:rPr lang="en-IN" dirty="0"/>
              <a:t>&gt;&gt;</a:t>
            </a:r>
            <a:r>
              <a:rPr lang="en-IN" dirty="0" err="1"/>
              <a:t>Bdoppler</a:t>
            </a:r>
            <a:r>
              <a:rPr lang="en-IN" dirty="0"/>
              <a:t>            (Ts- Symbol Period)</a:t>
            </a:r>
          </a:p>
          <a:p>
            <a:endParaRPr lang="en-IN" dirty="0"/>
          </a:p>
        </p:txBody>
      </p:sp>
      <p:pic>
        <p:nvPicPr>
          <p:cNvPr id="5" name="Picture 4">
            <a:extLst>
              <a:ext uri="{FF2B5EF4-FFF2-40B4-BE49-F238E27FC236}">
                <a16:creationId xmlns:a16="http://schemas.microsoft.com/office/drawing/2014/main" id="{3CE969D9-3827-4BC7-82D3-714CC5C667F6}"/>
              </a:ext>
            </a:extLst>
          </p:cNvPr>
          <p:cNvPicPr>
            <a:picLocks noChangeAspect="1"/>
          </p:cNvPicPr>
          <p:nvPr/>
        </p:nvPicPr>
        <p:blipFill>
          <a:blip r:embed="rId2"/>
          <a:stretch>
            <a:fillRect/>
          </a:stretch>
        </p:blipFill>
        <p:spPr>
          <a:xfrm>
            <a:off x="6430297" y="4006645"/>
            <a:ext cx="5761703" cy="2851355"/>
          </a:xfrm>
          <a:prstGeom prst="rect">
            <a:avLst/>
          </a:prstGeom>
        </p:spPr>
      </p:pic>
    </p:spTree>
    <p:extLst>
      <p:ext uri="{BB962C8B-B14F-4D97-AF65-F5344CB8AC3E}">
        <p14:creationId xmlns:p14="http://schemas.microsoft.com/office/powerpoint/2010/main" val="3966357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00AA21-6162-4892-9FED-56613306C6AF}"/>
              </a:ext>
            </a:extLst>
          </p:cNvPr>
          <p:cNvSpPr>
            <a:spLocks noGrp="1"/>
          </p:cNvSpPr>
          <p:nvPr>
            <p:ph idx="1"/>
          </p:nvPr>
        </p:nvSpPr>
        <p:spPr>
          <a:xfrm>
            <a:off x="717755" y="0"/>
            <a:ext cx="11474245" cy="6858000"/>
          </a:xfrm>
        </p:spPr>
        <p:txBody>
          <a:bodyPr/>
          <a:lstStyle/>
          <a:p>
            <a:pPr>
              <a:buFont typeface="Wingdings" panose="05000000000000000000" pitchFamily="2" charset="2"/>
              <a:buChar char="§"/>
            </a:pPr>
            <a:r>
              <a:rPr lang="en-US" b="1" i="0" dirty="0">
                <a:solidFill>
                  <a:srgbClr val="444444"/>
                </a:solidFill>
                <a:effectLst/>
                <a:latin typeface="Arial" panose="020B0604020202020204" pitchFamily="34" charset="0"/>
              </a:rPr>
              <a:t>Multipath Fading:</a:t>
            </a:r>
            <a:r>
              <a:rPr lang="en-US" b="0" i="0" dirty="0">
                <a:solidFill>
                  <a:srgbClr val="444444"/>
                </a:solidFill>
                <a:effectLst/>
                <a:latin typeface="Arial" panose="020B0604020202020204" pitchFamily="34" charset="0"/>
              </a:rPr>
              <a:t> It occurs when a signal reaches the receiver from various path i.e. when multipath propagation takes place. </a:t>
            </a:r>
          </a:p>
          <a:p>
            <a:pPr>
              <a:buFont typeface="Wingdings" panose="05000000000000000000" pitchFamily="2" charset="2"/>
              <a:buChar char="Ø"/>
            </a:pPr>
            <a:r>
              <a:rPr lang="en-US" b="0" i="0" dirty="0">
                <a:solidFill>
                  <a:srgbClr val="444444"/>
                </a:solidFill>
                <a:effectLst/>
                <a:latin typeface="Arial" panose="020B0604020202020204" pitchFamily="34" charset="0"/>
              </a:rPr>
              <a:t>Multipath fading can affect all ranges of frequencies starting from low frequency to microwave and beyond. </a:t>
            </a:r>
          </a:p>
          <a:p>
            <a:pPr>
              <a:buFont typeface="Wingdings" panose="05000000000000000000" pitchFamily="2" charset="2"/>
              <a:buChar char="Ø"/>
            </a:pPr>
            <a:r>
              <a:rPr lang="en-US" b="0" i="0" dirty="0">
                <a:solidFill>
                  <a:srgbClr val="444444"/>
                </a:solidFill>
                <a:effectLst/>
                <a:latin typeface="Arial" panose="020B0604020202020204" pitchFamily="34" charset="0"/>
              </a:rPr>
              <a:t>It affects both the amplitude and the phase of the signal causing phase distortions and ISI.</a:t>
            </a:r>
          </a:p>
          <a:p>
            <a:pPr marL="0" indent="0">
              <a:buNone/>
            </a:pPr>
            <a:r>
              <a:rPr lang="en-US" dirty="0">
                <a:solidFill>
                  <a:srgbClr val="444444"/>
                </a:solidFill>
                <a:latin typeface="Arial" panose="020B0604020202020204" pitchFamily="34" charset="0"/>
              </a:rPr>
              <a:t>      </a:t>
            </a:r>
            <a:r>
              <a:rPr lang="en-US" b="0" i="0" dirty="0">
                <a:solidFill>
                  <a:srgbClr val="444444"/>
                </a:solidFill>
                <a:effectLst/>
                <a:latin typeface="Arial" panose="020B0604020202020204" pitchFamily="34" charset="0"/>
              </a:rPr>
              <a:t>Multipath fading can affect signal transmission in two ways:</a:t>
            </a:r>
          </a:p>
          <a:p>
            <a:pPr marL="0" indent="0">
              <a:buNone/>
            </a:pPr>
            <a:r>
              <a:rPr lang="en-US" dirty="0">
                <a:solidFill>
                  <a:srgbClr val="444444"/>
                </a:solidFill>
                <a:latin typeface="Arial" panose="020B0604020202020204" pitchFamily="34" charset="0"/>
              </a:rPr>
              <a:t>   </a:t>
            </a:r>
          </a:p>
          <a:p>
            <a:pPr>
              <a:buFont typeface="Courier New" panose="02070309020205020404" pitchFamily="49" charset="0"/>
              <a:buChar char="o"/>
            </a:pPr>
            <a:r>
              <a:rPr lang="en-US" b="1" i="0" dirty="0">
                <a:solidFill>
                  <a:srgbClr val="444444"/>
                </a:solidFill>
                <a:effectLst/>
                <a:latin typeface="Arial" panose="020B0604020202020204" pitchFamily="34" charset="0"/>
              </a:rPr>
              <a:t>Flat Fading:</a:t>
            </a:r>
            <a:r>
              <a:rPr lang="en-US" b="0" i="0" dirty="0">
                <a:solidFill>
                  <a:srgbClr val="444444"/>
                </a:solidFill>
                <a:effectLst/>
                <a:latin typeface="Arial" panose="020B0604020202020204" pitchFamily="34" charset="0"/>
              </a:rPr>
              <a:t> In flat fading, all frequency components get affected almost equally. Flat multipath fading causes the amplitude to fluctuate over a period of time.</a:t>
            </a:r>
          </a:p>
          <a:p>
            <a:pPr>
              <a:buFont typeface="Wingdings" panose="05000000000000000000" pitchFamily="2" charset="2"/>
              <a:buChar char="Ø"/>
            </a:pPr>
            <a:r>
              <a:rPr lang="en-US" dirty="0">
                <a:solidFill>
                  <a:srgbClr val="444444"/>
                </a:solidFill>
                <a:latin typeface="Arial" panose="020B0604020202020204" pitchFamily="34" charset="0"/>
              </a:rPr>
              <a:t>Occurs in </a:t>
            </a:r>
            <a:r>
              <a:rPr lang="en-US" dirty="0" err="1">
                <a:solidFill>
                  <a:srgbClr val="444444"/>
                </a:solidFill>
                <a:latin typeface="Arial" panose="020B0604020202020204" pitchFamily="34" charset="0"/>
              </a:rPr>
              <a:t>rx</a:t>
            </a:r>
            <a:r>
              <a:rPr lang="en-US" dirty="0">
                <a:solidFill>
                  <a:srgbClr val="444444"/>
                </a:solidFill>
                <a:latin typeface="Arial" panose="020B0604020202020204" pitchFamily="34" charset="0"/>
              </a:rPr>
              <a:t> signal if channel has constant gain and linear phase response over </a:t>
            </a:r>
            <a:r>
              <a:rPr lang="en-US" dirty="0" err="1">
                <a:solidFill>
                  <a:srgbClr val="444444"/>
                </a:solidFill>
                <a:latin typeface="Arial" panose="020B0604020202020204" pitchFamily="34" charset="0"/>
              </a:rPr>
              <a:t>Bchannel</a:t>
            </a:r>
            <a:r>
              <a:rPr lang="en-US" dirty="0">
                <a:solidFill>
                  <a:srgbClr val="444444"/>
                </a:solidFill>
                <a:latin typeface="Arial" panose="020B0604020202020204" pitchFamily="34" charset="0"/>
              </a:rPr>
              <a:t>&gt;</a:t>
            </a:r>
            <a:r>
              <a:rPr lang="en-US" dirty="0" err="1">
                <a:solidFill>
                  <a:srgbClr val="444444"/>
                </a:solidFill>
                <a:latin typeface="Arial" panose="020B0604020202020204" pitchFamily="34" charset="0"/>
              </a:rPr>
              <a:t>Btransmitted</a:t>
            </a:r>
            <a:r>
              <a:rPr lang="en-US" dirty="0">
                <a:solidFill>
                  <a:srgbClr val="444444"/>
                </a:solidFill>
                <a:latin typeface="Arial" panose="020B0604020202020204" pitchFamily="34" charset="0"/>
              </a:rPr>
              <a:t> signal</a:t>
            </a:r>
          </a:p>
          <a:p>
            <a:pPr>
              <a:buFont typeface="Courier New" panose="02070309020205020404" pitchFamily="49" charset="0"/>
              <a:buChar char="o"/>
            </a:pPr>
            <a:r>
              <a:rPr lang="en-US" b="1" i="0" dirty="0">
                <a:solidFill>
                  <a:srgbClr val="444444"/>
                </a:solidFill>
                <a:effectLst/>
                <a:latin typeface="Arial" panose="020B0604020202020204" pitchFamily="34" charset="0"/>
              </a:rPr>
              <a:t>Frequency Selective Fading:</a:t>
            </a:r>
            <a:r>
              <a:rPr lang="en-US" b="0" i="0" dirty="0">
                <a:solidFill>
                  <a:srgbClr val="444444"/>
                </a:solidFill>
                <a:effectLst/>
                <a:latin typeface="Arial" panose="020B0604020202020204" pitchFamily="34" charset="0"/>
              </a:rPr>
              <a:t> refers to multipath fading when the selected frequency component of the signal is affected.</a:t>
            </a:r>
          </a:p>
          <a:p>
            <a:pPr>
              <a:buFont typeface="Wingdings" panose="05000000000000000000" pitchFamily="2" charset="2"/>
              <a:buChar char="Ø"/>
            </a:pPr>
            <a:r>
              <a:rPr lang="en-US" b="0" i="0" dirty="0">
                <a:solidFill>
                  <a:srgbClr val="444444"/>
                </a:solidFill>
                <a:effectLst/>
                <a:latin typeface="Arial" panose="020B0604020202020204" pitchFamily="34" charset="0"/>
              </a:rPr>
              <a:t> It means selected frequencies will have increased error and attenuation as compared to other frequency components of the same signal. </a:t>
            </a:r>
          </a:p>
          <a:p>
            <a:pPr>
              <a:buFont typeface="Wingdings" panose="05000000000000000000" pitchFamily="2" charset="2"/>
              <a:buChar char="Ø"/>
            </a:pPr>
            <a:r>
              <a:rPr lang="en-US" dirty="0">
                <a:solidFill>
                  <a:srgbClr val="444444"/>
                </a:solidFill>
                <a:latin typeface="Arial" panose="020B0604020202020204" pitchFamily="34" charset="0"/>
              </a:rPr>
              <a:t>Caused due to time dispersion due to delayed multipath components</a:t>
            </a:r>
          </a:p>
          <a:p>
            <a:pPr>
              <a:buFont typeface="Wingdings" panose="05000000000000000000" pitchFamily="2" charset="2"/>
              <a:buChar char="Ø"/>
            </a:pPr>
            <a:r>
              <a:rPr lang="en-US" b="0" i="0" dirty="0">
                <a:solidFill>
                  <a:srgbClr val="444444"/>
                </a:solidFill>
                <a:effectLst/>
                <a:latin typeface="Arial" panose="020B0604020202020204" pitchFamily="34" charset="0"/>
              </a:rPr>
              <a:t>Occurs in </a:t>
            </a:r>
            <a:r>
              <a:rPr lang="en-US" b="0" i="0" dirty="0" err="1">
                <a:solidFill>
                  <a:srgbClr val="444444"/>
                </a:solidFill>
                <a:effectLst/>
                <a:latin typeface="Arial" panose="020B0604020202020204" pitchFamily="34" charset="0"/>
              </a:rPr>
              <a:t>rx</a:t>
            </a:r>
            <a:r>
              <a:rPr lang="en-US" b="0" i="0" dirty="0">
                <a:solidFill>
                  <a:srgbClr val="444444"/>
                </a:solidFill>
                <a:effectLst/>
                <a:latin typeface="Arial" panose="020B0604020202020204" pitchFamily="34" charset="0"/>
              </a:rPr>
              <a:t> signal if channel has constant gain and linear phased respon</a:t>
            </a:r>
            <a:r>
              <a:rPr lang="en-US" dirty="0">
                <a:solidFill>
                  <a:srgbClr val="444444"/>
                </a:solidFill>
                <a:latin typeface="Arial" panose="020B0604020202020204" pitchFamily="34" charset="0"/>
              </a:rPr>
              <a:t>se over </a:t>
            </a:r>
            <a:r>
              <a:rPr lang="en-US" dirty="0" err="1">
                <a:solidFill>
                  <a:srgbClr val="444444"/>
                </a:solidFill>
                <a:latin typeface="Arial" panose="020B0604020202020204" pitchFamily="34" charset="0"/>
              </a:rPr>
              <a:t>Bchannel</a:t>
            </a:r>
            <a:r>
              <a:rPr lang="en-US" dirty="0">
                <a:solidFill>
                  <a:srgbClr val="444444"/>
                </a:solidFill>
                <a:latin typeface="Arial" panose="020B0604020202020204" pitchFamily="34" charset="0"/>
              </a:rPr>
              <a:t>&lt;</a:t>
            </a:r>
            <a:r>
              <a:rPr lang="en-US" dirty="0" err="1">
                <a:solidFill>
                  <a:srgbClr val="444444"/>
                </a:solidFill>
                <a:latin typeface="Arial" panose="020B0604020202020204" pitchFamily="34" charset="0"/>
              </a:rPr>
              <a:t>Bsignal</a:t>
            </a:r>
            <a:endParaRPr lang="en-US" b="0" i="0" dirty="0">
              <a:solidFill>
                <a:srgbClr val="444444"/>
              </a:solidFill>
              <a:effectLst/>
              <a:latin typeface="Arial" panose="020B0604020202020204" pitchFamily="34" charset="0"/>
            </a:endParaRPr>
          </a:p>
          <a:p>
            <a:pPr marL="0" indent="0">
              <a:buNone/>
            </a:pPr>
            <a:endParaRPr lang="en-US"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2602915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52B907-C839-4BC9-9C0E-2D632358506D}"/>
              </a:ext>
            </a:extLst>
          </p:cNvPr>
          <p:cNvSpPr>
            <a:spLocks noGrp="1"/>
          </p:cNvSpPr>
          <p:nvPr>
            <p:ph idx="1"/>
          </p:nvPr>
        </p:nvSpPr>
        <p:spPr>
          <a:xfrm>
            <a:off x="717755" y="0"/>
            <a:ext cx="11474245" cy="6858000"/>
          </a:xfrm>
        </p:spPr>
        <p:txBody>
          <a:bodyPr/>
          <a:lstStyle/>
          <a:p>
            <a:pPr>
              <a:buFont typeface="Wingdings" panose="05000000000000000000" pitchFamily="2" charset="2"/>
              <a:buChar char="Ø"/>
            </a:pPr>
            <a:endParaRPr lang="en-US" dirty="0"/>
          </a:p>
          <a:p>
            <a:pPr>
              <a:buFont typeface="Wingdings" panose="05000000000000000000" pitchFamily="2" charset="2"/>
              <a:buChar char="Ø"/>
            </a:pPr>
            <a:r>
              <a:rPr lang="en-US" dirty="0"/>
              <a:t>Received signal includes faded and delayed signal hence signal is distorted and </a:t>
            </a:r>
            <a:r>
              <a:rPr lang="en-US" dirty="0" err="1"/>
              <a:t>Intersymbol</a:t>
            </a:r>
            <a:r>
              <a:rPr lang="en-US" dirty="0"/>
              <a:t> Interferences is induced</a:t>
            </a:r>
            <a:endParaRPr lang="en-IN" dirty="0"/>
          </a:p>
        </p:txBody>
      </p:sp>
      <p:pic>
        <p:nvPicPr>
          <p:cNvPr id="5" name="Picture 4">
            <a:extLst>
              <a:ext uri="{FF2B5EF4-FFF2-40B4-BE49-F238E27FC236}">
                <a16:creationId xmlns:a16="http://schemas.microsoft.com/office/drawing/2014/main" id="{ABEF4CE6-B7E9-4B4C-8281-9830B625A120}"/>
              </a:ext>
            </a:extLst>
          </p:cNvPr>
          <p:cNvPicPr>
            <a:picLocks noChangeAspect="1"/>
          </p:cNvPicPr>
          <p:nvPr/>
        </p:nvPicPr>
        <p:blipFill>
          <a:blip r:embed="rId2"/>
          <a:stretch>
            <a:fillRect/>
          </a:stretch>
        </p:blipFill>
        <p:spPr>
          <a:xfrm>
            <a:off x="1913941" y="1587619"/>
            <a:ext cx="8364117" cy="1971950"/>
          </a:xfrm>
          <a:prstGeom prst="rect">
            <a:avLst/>
          </a:prstGeom>
        </p:spPr>
      </p:pic>
    </p:spTree>
    <p:extLst>
      <p:ext uri="{BB962C8B-B14F-4D97-AF65-F5344CB8AC3E}">
        <p14:creationId xmlns:p14="http://schemas.microsoft.com/office/powerpoint/2010/main" val="2740790348"/>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TM10001105[[fn=Crop]]</Template>
  <TotalTime>183</TotalTime>
  <Words>578</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Courier New</vt:lpstr>
      <vt:lpstr>Franklin Gothic Book</vt:lpstr>
      <vt:lpstr>proxima-nova-1</vt:lpstr>
      <vt:lpstr>Wingdings</vt:lpstr>
      <vt:lpstr>Crop</vt:lpstr>
      <vt:lpstr>SMALL SCALE FADING</vt:lpstr>
      <vt:lpstr>TYPES OF SMALL SCALE FADING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jaspinder singh</dc:creator>
  <cp:lastModifiedBy>jaspinder singh</cp:lastModifiedBy>
  <cp:revision>15</cp:revision>
  <dcterms:created xsi:type="dcterms:W3CDTF">2020-08-29T02:36:35Z</dcterms:created>
  <dcterms:modified xsi:type="dcterms:W3CDTF">2020-08-29T21:02:07Z</dcterms:modified>
</cp:coreProperties>
</file>