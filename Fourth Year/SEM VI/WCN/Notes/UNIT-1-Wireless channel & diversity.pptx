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73" r:id="rId6"/>
    <p:sldId id="274" r:id="rId7"/>
    <p:sldId id="283" r:id="rId8"/>
    <p:sldId id="275" r:id="rId9"/>
    <p:sldId id="260" r:id="rId10"/>
    <p:sldId id="261" r:id="rId11"/>
    <p:sldId id="269" r:id="rId12"/>
    <p:sldId id="267" r:id="rId13"/>
    <p:sldId id="268" r:id="rId14"/>
    <p:sldId id="270" r:id="rId15"/>
    <p:sldId id="271" r:id="rId16"/>
    <p:sldId id="272" r:id="rId17"/>
    <p:sldId id="276" r:id="rId18"/>
    <p:sldId id="277" r:id="rId19"/>
    <p:sldId id="278" r:id="rId20"/>
    <p:sldId id="279" r:id="rId21"/>
    <p:sldId id="280" r:id="rId22"/>
    <p:sldId id="281" r:id="rId23"/>
    <p:sldId id="282" r:id="rId24"/>
    <p:sldId id="262" r:id="rId25"/>
    <p:sldId id="263" r:id="rId26"/>
    <p:sldId id="264" r:id="rId27"/>
    <p:sldId id="265" r:id="rId28"/>
    <p:sldId id="266"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609"/>
  </p:normalViewPr>
  <p:slideViewPr>
    <p:cSldViewPr snapToGrid="0" snapToObjects="1">
      <p:cViewPr varScale="1">
        <p:scale>
          <a:sx n="82" d="100"/>
          <a:sy n="82" d="100"/>
        </p:scale>
        <p:origin x="1474" y="5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x-none"/>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a:t>Click to edit Master subtitle style</a:t>
            </a:r>
            <a:endParaRPr lang="en-US" dirty="0"/>
          </a:p>
        </p:txBody>
      </p:sp>
      <p:sp>
        <p:nvSpPr>
          <p:cNvPr id="4" name="Date Placeholder 3"/>
          <p:cNvSpPr>
            <a:spLocks noGrp="1"/>
          </p:cNvSpPr>
          <p:nvPr>
            <p:ph type="dt" sz="half" idx="10"/>
          </p:nvPr>
        </p:nvSpPr>
        <p:spPr/>
        <p:txBody>
          <a:bodyPr/>
          <a:lstStyle/>
          <a:p>
            <a:fld id="{722FCD99-5B6A-2C4B-8DDF-ED2D0368E9F8}" type="datetimeFigureOut">
              <a:rPr lang="en-US" smtClean="0"/>
              <a:t>10/7/2020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ED9B18-8118-F845-B40C-56FE9D8A06D8}"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Content Placeholder 2"/>
          <p:cNvSpPr>
            <a:spLocks noGrp="1"/>
          </p:cNvSpPr>
          <p:nvPr>
            <p:ph idx="1"/>
          </p:nvPr>
        </p:nvSpPr>
        <p:spPr/>
        <p:txBody>
          <a:body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Date Placeholder 3"/>
          <p:cNvSpPr>
            <a:spLocks noGrp="1"/>
          </p:cNvSpPr>
          <p:nvPr>
            <p:ph type="dt" sz="half" idx="10"/>
          </p:nvPr>
        </p:nvSpPr>
        <p:spPr/>
        <p:txBody>
          <a:bodyPr/>
          <a:lstStyle/>
          <a:p>
            <a:fld id="{722FCD99-5B6A-2C4B-8DDF-ED2D0368E9F8}" type="datetimeFigureOut">
              <a:rPr lang="en-US" smtClean="0"/>
              <a:t>10/7/2020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ED9B18-8118-F845-B40C-56FE9D8A06D8}"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x-none"/>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x-none"/>
              <a:t>Click to edit Master text styles</a:t>
            </a:r>
          </a:p>
        </p:txBody>
      </p:sp>
      <p:sp>
        <p:nvSpPr>
          <p:cNvPr id="4" name="Date Placeholder 3"/>
          <p:cNvSpPr>
            <a:spLocks noGrp="1"/>
          </p:cNvSpPr>
          <p:nvPr>
            <p:ph type="dt" sz="half" idx="10"/>
          </p:nvPr>
        </p:nvSpPr>
        <p:spPr/>
        <p:txBody>
          <a:bodyPr/>
          <a:lstStyle/>
          <a:p>
            <a:fld id="{722FCD99-5B6A-2C4B-8DDF-ED2D0368E9F8}" type="datetimeFigureOut">
              <a:rPr lang="en-US" smtClean="0"/>
              <a:t>10/7/2020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ED9B18-8118-F845-B40C-56FE9D8A06D8}"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dirty="0"/>
          </a:p>
        </p:txBody>
      </p:sp>
      <p:sp>
        <p:nvSpPr>
          <p:cNvPr id="5" name="Date Placeholder 4"/>
          <p:cNvSpPr>
            <a:spLocks noGrp="1"/>
          </p:cNvSpPr>
          <p:nvPr>
            <p:ph type="dt" sz="half" idx="10"/>
          </p:nvPr>
        </p:nvSpPr>
        <p:spPr/>
        <p:txBody>
          <a:bodyPr/>
          <a:lstStyle/>
          <a:p>
            <a:fld id="{722FCD99-5B6A-2C4B-8DDF-ED2D0368E9F8}" type="datetimeFigureOut">
              <a:rPr lang="en-US" smtClean="0"/>
              <a:t>10/7/2020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ED9B18-8118-F845-B40C-56FE9D8A06D8}"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x-none"/>
              <a:t>Click to edit Master title style</a:t>
            </a:r>
            <a:endParaRPr lang="en-US"/>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7" name="Date Placeholder 6"/>
          <p:cNvSpPr>
            <a:spLocks noGrp="1"/>
          </p:cNvSpPr>
          <p:nvPr>
            <p:ph type="dt" sz="half" idx="10"/>
          </p:nvPr>
        </p:nvSpPr>
        <p:spPr/>
        <p:txBody>
          <a:bodyPr/>
          <a:lstStyle/>
          <a:p>
            <a:fld id="{722FCD99-5B6A-2C4B-8DDF-ED2D0368E9F8}" type="datetimeFigureOut">
              <a:rPr lang="en-US" smtClean="0"/>
              <a:t>10/7/2020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ED9B18-8118-F845-B40C-56FE9D8A06D8}"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Date Placeholder 2"/>
          <p:cNvSpPr>
            <a:spLocks noGrp="1"/>
          </p:cNvSpPr>
          <p:nvPr>
            <p:ph type="dt" sz="half" idx="10"/>
          </p:nvPr>
        </p:nvSpPr>
        <p:spPr/>
        <p:txBody>
          <a:bodyPr/>
          <a:lstStyle/>
          <a:p>
            <a:fld id="{722FCD99-5B6A-2C4B-8DDF-ED2D0368E9F8}" type="datetimeFigureOut">
              <a:rPr lang="en-US" smtClean="0"/>
              <a:t>10/7/2020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ED9B18-8118-F845-B40C-56FE9D8A06D8}"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2FCD99-5B6A-2C4B-8DDF-ED2D0368E9F8}" type="datetimeFigureOut">
              <a:rPr lang="en-US" smtClean="0"/>
              <a:t>10/7/2020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6ED9B18-8118-F845-B40C-56FE9D8A06D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x-none"/>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a:t>Click to edit Master text styles</a:t>
            </a:r>
          </a:p>
        </p:txBody>
      </p:sp>
      <p:sp>
        <p:nvSpPr>
          <p:cNvPr id="5" name="Date Placeholder 4"/>
          <p:cNvSpPr>
            <a:spLocks noGrp="1"/>
          </p:cNvSpPr>
          <p:nvPr>
            <p:ph type="dt" sz="half" idx="10"/>
          </p:nvPr>
        </p:nvSpPr>
        <p:spPr/>
        <p:txBody>
          <a:bodyPr/>
          <a:lstStyle/>
          <a:p>
            <a:fld id="{722FCD99-5B6A-2C4B-8DDF-ED2D0368E9F8}" type="datetimeFigureOut">
              <a:rPr lang="en-US" smtClean="0"/>
              <a:t>10/7/2020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ED9B18-8118-F845-B40C-56FE9D8A06D8}" type="slidenum">
              <a:rPr lang="en-US" smtClean="0"/>
              <a:t>‹#›</a:t>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x-none"/>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x-none"/>
              <a:t>Drag picture to placeholder or click icon to add</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a:t>Click to edit Master text styles</a:t>
            </a:r>
          </a:p>
        </p:txBody>
      </p:sp>
      <p:sp>
        <p:nvSpPr>
          <p:cNvPr id="8" name="Date Placeholder 7"/>
          <p:cNvSpPr>
            <a:spLocks noGrp="1"/>
          </p:cNvSpPr>
          <p:nvPr>
            <p:ph type="dt" sz="half" idx="10"/>
          </p:nvPr>
        </p:nvSpPr>
        <p:spPr/>
        <p:txBody>
          <a:bodyPr/>
          <a:lstStyle/>
          <a:p>
            <a:fld id="{722FCD99-5B6A-2C4B-8DDF-ED2D0368E9F8}" type="datetimeFigureOut">
              <a:rPr lang="en-US" smtClean="0"/>
              <a:t>10/7/2020</a:t>
            </a:fld>
            <a:endParaRPr lang="en-US"/>
          </a:p>
        </p:txBody>
      </p:sp>
      <p:sp>
        <p:nvSpPr>
          <p:cNvPr id="9" name="Slide Number Placeholder 8"/>
          <p:cNvSpPr>
            <a:spLocks noGrp="1"/>
          </p:cNvSpPr>
          <p:nvPr>
            <p:ph type="sldNum" sz="quarter" idx="11"/>
          </p:nvPr>
        </p:nvSpPr>
        <p:spPr/>
        <p:txBody>
          <a:bodyPr/>
          <a:lstStyle/>
          <a:p>
            <a:fld id="{F6ED9B18-8118-F845-B40C-56FE9D8A06D8}" type="slidenum">
              <a:rPr lang="en-US" smtClean="0"/>
              <a:t>‹#›</a:t>
            </a:fld>
            <a:endParaRPr lang="en-US"/>
          </a:p>
        </p:txBody>
      </p:sp>
      <p:sp>
        <p:nvSpPr>
          <p:cNvPr id="10" name="Footer Placeholder 9"/>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Date Placeholder 3"/>
          <p:cNvSpPr>
            <a:spLocks noGrp="1"/>
          </p:cNvSpPr>
          <p:nvPr>
            <p:ph type="dt" sz="half" idx="10"/>
          </p:nvPr>
        </p:nvSpPr>
        <p:spPr/>
        <p:txBody>
          <a:bodyPr/>
          <a:lstStyle/>
          <a:p>
            <a:fld id="{722FCD99-5B6A-2C4B-8DDF-ED2D0368E9F8}" type="datetimeFigureOut">
              <a:rPr lang="en-US" smtClean="0"/>
              <a:t>10/7/2020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ED9B18-8118-F845-B40C-56FE9D8A06D8}"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x-none"/>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Date Placeholder 3"/>
          <p:cNvSpPr>
            <a:spLocks noGrp="1"/>
          </p:cNvSpPr>
          <p:nvPr>
            <p:ph type="dt" sz="half" idx="10"/>
          </p:nvPr>
        </p:nvSpPr>
        <p:spPr/>
        <p:txBody>
          <a:bodyPr/>
          <a:lstStyle/>
          <a:p>
            <a:fld id="{722FCD99-5B6A-2C4B-8DDF-ED2D0368E9F8}" type="datetimeFigureOut">
              <a:rPr lang="en-US" smtClean="0"/>
              <a:t>10/7/2020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ED9B18-8118-F845-B40C-56FE9D8A06D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x-none"/>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F6ED9B18-8118-F845-B40C-56FE9D8A06D8}" type="slidenum">
              <a:rPr lang="en-US" smtClean="0"/>
              <a:t>‹#›</a:t>
            </a:fld>
            <a:endParaRPr lang="en-US"/>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US"/>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722FCD99-5B6A-2C4B-8DDF-ED2D0368E9F8}" type="datetimeFigureOut">
              <a:rPr lang="en-US" smtClean="0"/>
              <a:t>10/7/2020</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electronics.stackexchange.com/questions/123427/what-is-doppler-spread"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759768"/>
            <a:ext cx="7772400" cy="1470025"/>
          </a:xfrm>
        </p:spPr>
        <p:txBody>
          <a:bodyPr>
            <a:normAutofit/>
          </a:bodyPr>
          <a:lstStyle/>
          <a:p>
            <a:r>
              <a:rPr lang="en-US" sz="4000" dirty="0">
                <a:latin typeface="Times New Roman"/>
                <a:cs typeface="Times New Roman"/>
              </a:rPr>
              <a:t>Wireless Channel and Diversity</a:t>
            </a:r>
          </a:p>
        </p:txBody>
      </p:sp>
      <p:sp>
        <p:nvSpPr>
          <p:cNvPr id="3" name="Subtitle 2"/>
          <p:cNvSpPr>
            <a:spLocks noGrp="1"/>
          </p:cNvSpPr>
          <p:nvPr>
            <p:ph type="subTitle" idx="1"/>
          </p:nvPr>
        </p:nvSpPr>
        <p:spPr>
          <a:xfrm>
            <a:off x="1371600" y="2229793"/>
            <a:ext cx="6587358" cy="4384569"/>
          </a:xfrm>
        </p:spPr>
        <p:txBody>
          <a:bodyPr>
            <a:normAutofit/>
          </a:bodyPr>
          <a:lstStyle/>
          <a:p>
            <a:pPr marL="457200" indent="-457200" algn="r">
              <a:buFont typeface="Wingdings" charset="2"/>
              <a:buChar char="Ø"/>
            </a:pPr>
            <a:r>
              <a:rPr lang="en-US" sz="2200" dirty="0">
                <a:latin typeface="Times New Roman"/>
                <a:cs typeface="Times New Roman"/>
              </a:rPr>
              <a:t>Introduction</a:t>
            </a:r>
          </a:p>
          <a:p>
            <a:pPr marL="457200" indent="-457200" algn="r">
              <a:buFont typeface="Wingdings" charset="2"/>
              <a:buChar char="Ø"/>
            </a:pPr>
            <a:r>
              <a:rPr lang="en-US" sz="2200" dirty="0">
                <a:latin typeface="Times New Roman"/>
                <a:cs typeface="Times New Roman"/>
              </a:rPr>
              <a:t>Fading</a:t>
            </a:r>
          </a:p>
          <a:p>
            <a:pPr marL="457200" indent="-457200" algn="r">
              <a:buFont typeface="Wingdings" charset="2"/>
              <a:buChar char="Ø"/>
            </a:pPr>
            <a:r>
              <a:rPr lang="en-US" sz="2200" dirty="0">
                <a:latin typeface="Times New Roman"/>
                <a:cs typeface="Times New Roman"/>
              </a:rPr>
              <a:t>Types of fading</a:t>
            </a:r>
          </a:p>
          <a:p>
            <a:pPr marL="457200" indent="-457200" algn="r">
              <a:buFont typeface="Wingdings" charset="2"/>
              <a:buChar char="Ø"/>
            </a:pPr>
            <a:r>
              <a:rPr lang="en-US" sz="2200" dirty="0">
                <a:latin typeface="Times New Roman"/>
                <a:cs typeface="Times New Roman"/>
              </a:rPr>
              <a:t>Diversity</a:t>
            </a:r>
          </a:p>
          <a:p>
            <a:pPr marL="457200" indent="-457200" algn="r">
              <a:buFont typeface="Wingdings" charset="2"/>
              <a:buChar char="Ø"/>
            </a:pPr>
            <a:r>
              <a:rPr lang="en-US" sz="2200" dirty="0">
                <a:latin typeface="Times New Roman"/>
                <a:cs typeface="Times New Roman"/>
              </a:rPr>
              <a:t>Types of Diversity</a:t>
            </a:r>
          </a:p>
          <a:p>
            <a:pPr algn="l"/>
            <a:endParaRPr lang="en-US" sz="2200" dirty="0">
              <a:latin typeface="Times New Roman"/>
              <a:cs typeface="Times New Roman"/>
            </a:endParaRPr>
          </a:p>
          <a:p>
            <a:pPr algn="l"/>
            <a:r>
              <a:rPr lang="en-US" sz="2200" dirty="0">
                <a:latin typeface="Times New Roman"/>
                <a:cs typeface="Times New Roman"/>
              </a:rPr>
              <a:t>By Jasleen Kaur</a:t>
            </a:r>
          </a:p>
          <a:p>
            <a:pPr algn="l"/>
            <a:r>
              <a:rPr lang="en-US" sz="2200">
                <a:latin typeface="Times New Roman"/>
                <a:cs typeface="Times New Roman"/>
              </a:rPr>
              <a:t>IT </a:t>
            </a:r>
            <a:r>
              <a:rPr lang="en-US" sz="2200" dirty="0">
                <a:latin typeface="Times New Roman"/>
                <a:cs typeface="Times New Roman"/>
              </a:rPr>
              <a:t>dept.</a:t>
            </a:r>
          </a:p>
          <a:p>
            <a:pPr algn="l"/>
            <a:r>
              <a:rPr lang="en-US" sz="2200" dirty="0">
                <a:latin typeface="Times New Roman"/>
                <a:cs typeface="Times New Roman"/>
              </a:rPr>
              <a:t>GTBIT</a:t>
            </a:r>
          </a:p>
          <a:p>
            <a:pPr marL="457200" indent="-457200">
              <a:buFont typeface="Wingdings" charset="2"/>
              <a:buChar char="Ø"/>
            </a:pPr>
            <a:endParaRPr lang="en-US" sz="2200" dirty="0">
              <a:latin typeface="Times New Roman"/>
              <a:cs typeface="Times New Roman"/>
            </a:endParaRPr>
          </a:p>
        </p:txBody>
      </p:sp>
    </p:spTree>
    <p:extLst>
      <p:ext uri="{BB962C8B-B14F-4D97-AF65-F5344CB8AC3E}">
        <p14:creationId xmlns:p14="http://schemas.microsoft.com/office/powerpoint/2010/main" val="2684083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28143"/>
            <a:ext cx="8229600" cy="5822147"/>
          </a:xfrm>
        </p:spPr>
        <p:txBody>
          <a:bodyPr>
            <a:noAutofit/>
          </a:bodyPr>
          <a:lstStyle/>
          <a:p>
            <a:r>
              <a:rPr lang="en-US" sz="2700" dirty="0">
                <a:latin typeface="Times New Roman"/>
                <a:cs typeface="Times New Roman"/>
              </a:rPr>
              <a:t>Wireless Communication is prone to noise, interference and other channel obstruction which change over time unpredictably resulting degradation of signal. Losses in signal arises both in transmission of signal in short distances well as long distance.</a:t>
            </a:r>
          </a:p>
          <a:p>
            <a:r>
              <a:rPr lang="en-US" sz="2700" b="1" dirty="0">
                <a:latin typeface="Times New Roman"/>
                <a:cs typeface="Times New Roman"/>
              </a:rPr>
              <a:t>Two types of communication channels:</a:t>
            </a:r>
          </a:p>
          <a:p>
            <a:pPr marL="514350" indent="-514350">
              <a:buFont typeface="+mj-lt"/>
              <a:buAutoNum type="arabicParenR"/>
            </a:pPr>
            <a:r>
              <a:rPr lang="en-US" sz="2700" dirty="0">
                <a:latin typeface="Times New Roman"/>
                <a:cs typeface="Times New Roman"/>
              </a:rPr>
              <a:t>Wired channels</a:t>
            </a:r>
          </a:p>
          <a:p>
            <a:pPr marL="514350" indent="-514350">
              <a:buFont typeface="+mj-lt"/>
              <a:buAutoNum type="arabicParenR"/>
            </a:pPr>
            <a:r>
              <a:rPr lang="en-US" sz="2700" dirty="0">
                <a:latin typeface="Times New Roman"/>
                <a:cs typeface="Times New Roman"/>
              </a:rPr>
              <a:t>Radio or wireless channels.</a:t>
            </a:r>
          </a:p>
          <a:p>
            <a:pPr marL="0" indent="0">
              <a:buNone/>
            </a:pPr>
            <a:r>
              <a:rPr lang="en-US" sz="2700" dirty="0">
                <a:latin typeface="Times New Roman"/>
                <a:cs typeface="Times New Roman"/>
              </a:rPr>
              <a:t>The wired channels are stationary and predictable whereas the radio channels are extremely random and do not offer easy analysis. Even the speed of motion affects how rapidly the signal level fades as a mobile terminal moves in space.</a:t>
            </a:r>
          </a:p>
          <a:p>
            <a:pPr marL="514350" indent="-514350">
              <a:buFont typeface="+mj-lt"/>
              <a:buAutoNum type="arabicParenR"/>
            </a:pPr>
            <a:endParaRPr lang="en-US" sz="2700" dirty="0">
              <a:latin typeface="Times New Roman"/>
              <a:cs typeface="Times New Roman"/>
            </a:endParaRPr>
          </a:p>
        </p:txBody>
      </p:sp>
    </p:spTree>
    <p:extLst>
      <p:ext uri="{BB962C8B-B14F-4D97-AF65-F5344CB8AC3E}">
        <p14:creationId xmlns:p14="http://schemas.microsoft.com/office/powerpoint/2010/main" val="20421805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77245"/>
            <a:ext cx="8229600" cy="5748918"/>
          </a:xfrm>
        </p:spPr>
        <p:txBody>
          <a:bodyPr>
            <a:normAutofit fontScale="92500"/>
          </a:bodyPr>
          <a:lstStyle/>
          <a:p>
            <a:r>
              <a:rPr lang="en-US" sz="2700" dirty="0">
                <a:latin typeface="Times New Roman"/>
                <a:cs typeface="Times New Roman"/>
              </a:rPr>
              <a:t>The signal can be either reflected, diffracted or scattered by obstacles (i.e. buildings, vehicles, trees, mountains etc.) so that multiple copies through multiple paths of the signal with varying delays can be received is known as multipath propagation. The three basic propagation mechanism (i.e. reflection, diffraction &amp; scattering) mainly responsible for multipath propagation.</a:t>
            </a:r>
          </a:p>
          <a:p>
            <a:r>
              <a:rPr lang="en-US" sz="2700" dirty="0">
                <a:latin typeface="Times New Roman"/>
                <a:cs typeface="Times New Roman"/>
              </a:rPr>
              <a:t>Multipath propagation mainly produce three effects in wireless communication: </a:t>
            </a:r>
          </a:p>
          <a:p>
            <a:pPr marL="571500" indent="-571500">
              <a:buFont typeface="+mj-lt"/>
              <a:buAutoNum type="romanLcPeriod"/>
            </a:pPr>
            <a:r>
              <a:rPr lang="en-US" sz="2700" dirty="0">
                <a:latin typeface="Times New Roman"/>
                <a:cs typeface="Times New Roman"/>
              </a:rPr>
              <a:t>Multipath copies of signal may arrive at different phases.</a:t>
            </a:r>
          </a:p>
          <a:p>
            <a:pPr marL="571500" indent="-571500">
              <a:buFont typeface="+mj-lt"/>
              <a:buAutoNum type="romanLcPeriod"/>
            </a:pPr>
            <a:r>
              <a:rPr lang="en-US" sz="2700" dirty="0">
                <a:latin typeface="Times New Roman"/>
                <a:cs typeface="Times New Roman"/>
              </a:rPr>
              <a:t>Multipath propagation produce Inter Symbol  Interference(ISI).</a:t>
            </a:r>
          </a:p>
          <a:p>
            <a:pPr marL="571500" indent="-571500">
              <a:buFont typeface="+mj-lt"/>
              <a:buAutoNum type="romanLcPeriod"/>
            </a:pPr>
            <a:r>
              <a:rPr lang="en-US" sz="2700" dirty="0">
                <a:latin typeface="Times New Roman"/>
                <a:cs typeface="Times New Roman"/>
              </a:rPr>
              <a:t>Multipath propagation produce short term or small scale fading.</a:t>
            </a:r>
          </a:p>
          <a:p>
            <a:pPr marL="571500" indent="-571500">
              <a:buFont typeface="+mj-lt"/>
              <a:buAutoNum type="romanLcPeriod"/>
            </a:pPr>
            <a:endParaRPr lang="en-US" sz="2700" dirty="0">
              <a:latin typeface="Times New Roman"/>
              <a:cs typeface="Times New Roman"/>
            </a:endParaRPr>
          </a:p>
        </p:txBody>
      </p:sp>
    </p:spTree>
    <p:extLst>
      <p:ext uri="{BB962C8B-B14F-4D97-AF65-F5344CB8AC3E}">
        <p14:creationId xmlns:p14="http://schemas.microsoft.com/office/powerpoint/2010/main" val="2988173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53891"/>
            <a:ext cx="8229600" cy="5711193"/>
          </a:xfrm>
        </p:spPr>
        <p:txBody>
          <a:bodyPr>
            <a:normAutofit/>
          </a:bodyPr>
          <a:lstStyle/>
          <a:p>
            <a:r>
              <a:rPr lang="en-US" sz="2400" b="1" dirty="0">
                <a:latin typeface="Times New Roman"/>
                <a:cs typeface="Times New Roman"/>
              </a:rPr>
              <a:t>Fading: </a:t>
            </a:r>
            <a:r>
              <a:rPr lang="en-US" sz="2400" dirty="0">
                <a:latin typeface="Times New Roman"/>
                <a:cs typeface="Times New Roman"/>
              </a:rPr>
              <a:t>The strength(power) of received signal varies with respect to time is known as fading.</a:t>
            </a:r>
          </a:p>
          <a:p>
            <a:r>
              <a:rPr lang="en-US" sz="2400" dirty="0">
                <a:latin typeface="Times New Roman"/>
                <a:cs typeface="Times New Roman"/>
              </a:rPr>
              <a:t>The main causes of fading are attenuation (loss of signal strength),changes in transmission medium, refraction , multipath propagation, rainfall, obstacles etc. </a:t>
            </a:r>
          </a:p>
          <a:p>
            <a:r>
              <a:rPr lang="en-US" sz="2400" dirty="0">
                <a:latin typeface="Times New Roman"/>
                <a:cs typeface="Times New Roman"/>
              </a:rPr>
              <a:t>Fading can be divided into two times:</a:t>
            </a:r>
          </a:p>
          <a:p>
            <a:pPr marL="514350" indent="-514350">
              <a:buFont typeface="+mj-lt"/>
              <a:buAutoNum type="arabicParenR"/>
            </a:pPr>
            <a:r>
              <a:rPr lang="en-US" sz="2400" dirty="0">
                <a:latin typeface="Times New Roman"/>
                <a:cs typeface="Times New Roman"/>
              </a:rPr>
              <a:t>Large Scale (long term) fading</a:t>
            </a:r>
          </a:p>
          <a:p>
            <a:pPr marL="514350" indent="-514350">
              <a:buFont typeface="+mj-lt"/>
              <a:buAutoNum type="arabicParenR"/>
            </a:pPr>
            <a:r>
              <a:rPr lang="en-US" sz="2400" dirty="0">
                <a:latin typeface="Times New Roman"/>
                <a:cs typeface="Times New Roman"/>
              </a:rPr>
              <a:t>Small Scale (short term) fading</a:t>
            </a:r>
          </a:p>
          <a:p>
            <a:endParaRPr lang="en-US" sz="2400" dirty="0">
              <a:latin typeface="Times New Roman"/>
              <a:cs typeface="Times New Roman"/>
            </a:endParaRPr>
          </a:p>
        </p:txBody>
      </p:sp>
      <p:pic>
        <p:nvPicPr>
          <p:cNvPr id="4" name="Picture 3" descr="multichannel-fading-7-638.jpg"/>
          <p:cNvPicPr>
            <a:picLocks noChangeAspect="1"/>
          </p:cNvPicPr>
          <p:nvPr/>
        </p:nvPicPr>
        <p:blipFill rotWithShape="1">
          <a:blip r:embed="rId2">
            <a:extLst>
              <a:ext uri="{28A0092B-C50C-407E-A947-70E740481C1C}">
                <a14:useLocalDpi xmlns:a14="http://schemas.microsoft.com/office/drawing/2010/main" val="0"/>
              </a:ext>
            </a:extLst>
          </a:blip>
          <a:srcRect l="4591" t="42934" r="5251" b="5559"/>
          <a:stretch/>
        </p:blipFill>
        <p:spPr>
          <a:xfrm>
            <a:off x="1848289" y="4086821"/>
            <a:ext cx="5997508" cy="2278264"/>
          </a:xfrm>
          <a:prstGeom prst="rect">
            <a:avLst/>
          </a:prstGeom>
        </p:spPr>
      </p:pic>
    </p:spTree>
    <p:extLst>
      <p:ext uri="{BB962C8B-B14F-4D97-AF65-F5344CB8AC3E}">
        <p14:creationId xmlns:p14="http://schemas.microsoft.com/office/powerpoint/2010/main" val="488271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fading-and-large-scale-fading-3-638 (1).jpg"/>
          <p:cNvPicPr>
            <a:picLocks noGrp="1" noChangeAspect="1"/>
          </p:cNvPicPr>
          <p:nvPr>
            <p:ph idx="1"/>
          </p:nvPr>
        </p:nvPicPr>
        <p:blipFill>
          <a:blip r:embed="rId2">
            <a:extLst>
              <a:ext uri="{28A0092B-C50C-407E-A947-70E740481C1C}">
                <a14:useLocalDpi xmlns:a14="http://schemas.microsoft.com/office/drawing/2010/main" val="0"/>
              </a:ext>
            </a:extLst>
          </a:blip>
          <a:srcRect t="1132" b="1132"/>
          <a:stretch>
            <a:fillRect/>
          </a:stretch>
        </p:blipFill>
        <p:spPr>
          <a:xfrm>
            <a:off x="457200" y="628742"/>
            <a:ext cx="8229600" cy="5497421"/>
          </a:xfrm>
        </p:spPr>
      </p:pic>
    </p:spTree>
    <p:extLst>
      <p:ext uri="{BB962C8B-B14F-4D97-AF65-F5344CB8AC3E}">
        <p14:creationId xmlns:p14="http://schemas.microsoft.com/office/powerpoint/2010/main" val="2299540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69064"/>
            <a:ext cx="8229600" cy="5693203"/>
          </a:xfrm>
        </p:spPr>
        <p:txBody>
          <a:bodyPr>
            <a:normAutofit/>
          </a:bodyPr>
          <a:lstStyle/>
          <a:p>
            <a:r>
              <a:rPr lang="en-US" dirty="0"/>
              <a:t>Fading is the most important thing when you design any RF(radio frequency) Design.</a:t>
            </a:r>
          </a:p>
          <a:p>
            <a:r>
              <a:rPr lang="en-US" dirty="0"/>
              <a:t>The communication between the base station and mobile station in mobile system is mostly non-LOS (line of sight)</a:t>
            </a:r>
          </a:p>
          <a:p>
            <a:r>
              <a:rPr lang="en-US" dirty="0"/>
              <a:t>The LOS path between transmitter and the receiver is affected by terrain(natural terrain; mountains) and obstructed by buildings and other objects.</a:t>
            </a:r>
          </a:p>
          <a:p>
            <a:r>
              <a:rPr lang="en-US" dirty="0"/>
              <a:t>The mobile station is also moving in different direction at different speed.</a:t>
            </a:r>
          </a:p>
          <a:p>
            <a:r>
              <a:rPr lang="en-US" dirty="0"/>
              <a:t>The RF signal from the transmitter is scattered by reflection and diffraction and reaches the receiver through many non-LOS paths.</a:t>
            </a:r>
          </a:p>
          <a:p>
            <a:r>
              <a:rPr lang="en-US" dirty="0"/>
              <a:t>This non-LOS path causes long term and short term fluctuation in the form of log normal fading and </a:t>
            </a:r>
            <a:r>
              <a:rPr lang="en-US" dirty="0" err="1"/>
              <a:t>rayleigh</a:t>
            </a:r>
            <a:r>
              <a:rPr lang="en-US" dirty="0"/>
              <a:t> and </a:t>
            </a:r>
            <a:r>
              <a:rPr lang="en-US" dirty="0" err="1"/>
              <a:t>rician</a:t>
            </a:r>
            <a:r>
              <a:rPr lang="en-US" dirty="0"/>
              <a:t> fading, which degrades the performance of RF channel.</a:t>
            </a:r>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857090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creenshot 2020-09-07 at 5.02.56 PM.png"/>
          <p:cNvPicPr>
            <a:picLocks noGrp="1" noChangeAspect="1"/>
          </p:cNvPicPr>
          <p:nvPr>
            <p:ph idx="1"/>
          </p:nvPr>
        </p:nvPicPr>
        <p:blipFill rotWithShape="1">
          <a:blip r:embed="rId2">
            <a:extLst>
              <a:ext uri="{28A0092B-C50C-407E-A947-70E740481C1C}">
                <a14:useLocalDpi xmlns:a14="http://schemas.microsoft.com/office/drawing/2010/main" val="0"/>
              </a:ext>
            </a:extLst>
          </a:blip>
          <a:srcRect l="5240" t="29794" r="36151" b="28557"/>
          <a:stretch/>
        </p:blipFill>
        <p:spPr>
          <a:xfrm>
            <a:off x="1093885" y="1835925"/>
            <a:ext cx="6022655" cy="3370057"/>
          </a:xfrm>
        </p:spPr>
      </p:pic>
    </p:spTree>
    <p:extLst>
      <p:ext uri="{BB962C8B-B14F-4D97-AF65-F5344CB8AC3E}">
        <p14:creationId xmlns:p14="http://schemas.microsoft.com/office/powerpoint/2010/main" val="3839989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mall-scale-fading-23-638.jpg"/>
          <p:cNvPicPr>
            <a:picLocks noGrp="1" noChangeAspect="1"/>
          </p:cNvPicPr>
          <p:nvPr>
            <p:ph idx="1"/>
          </p:nvPr>
        </p:nvPicPr>
        <p:blipFill>
          <a:blip r:embed="rId2">
            <a:extLst>
              <a:ext uri="{28A0092B-C50C-407E-A947-70E740481C1C}">
                <a14:useLocalDpi xmlns:a14="http://schemas.microsoft.com/office/drawing/2010/main" val="0"/>
              </a:ext>
            </a:extLst>
          </a:blip>
          <a:srcRect t="13374" b="13374"/>
          <a:stretch>
            <a:fillRect/>
          </a:stretch>
        </p:blipFill>
        <p:spPr>
          <a:xfrm>
            <a:off x="658374" y="477844"/>
            <a:ext cx="8229600" cy="5231131"/>
          </a:xfrm>
        </p:spPr>
      </p:pic>
    </p:spTree>
    <p:extLst>
      <p:ext uri="{BB962C8B-B14F-4D97-AF65-F5344CB8AC3E}">
        <p14:creationId xmlns:p14="http://schemas.microsoft.com/office/powerpoint/2010/main" val="144511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9819"/>
            <a:ext cx="8229600" cy="6015615"/>
          </a:xfrm>
        </p:spPr>
        <p:txBody>
          <a:bodyPr>
            <a:normAutofit fontScale="92500" lnSpcReduction="10000"/>
          </a:bodyPr>
          <a:lstStyle/>
          <a:p>
            <a:pPr marL="514350" indent="-514350">
              <a:buFont typeface="+mj-lt"/>
              <a:buAutoNum type="arabicParenR"/>
            </a:pPr>
            <a:r>
              <a:rPr lang="en-US" sz="2700" b="1" dirty="0">
                <a:latin typeface="Times New Roman"/>
                <a:cs typeface="Times New Roman"/>
              </a:rPr>
              <a:t>Large Scale Fading</a:t>
            </a:r>
            <a:r>
              <a:rPr lang="en-US" sz="2700" dirty="0">
                <a:latin typeface="Times New Roman"/>
                <a:cs typeface="Times New Roman"/>
              </a:rPr>
              <a:t>: </a:t>
            </a:r>
          </a:p>
          <a:p>
            <a:pPr>
              <a:buFont typeface="Wingdings" charset="2"/>
              <a:buChar char="Ø"/>
            </a:pPr>
            <a:r>
              <a:rPr lang="en-US" sz="2700" dirty="0">
                <a:latin typeface="Times New Roman"/>
                <a:cs typeface="Times New Roman"/>
              </a:rPr>
              <a:t>The local mean (average) power over time duration is known as long term fading. Fading duration is very long as well as signal attenuation(effect)  is large due to path loss and shadowing.</a:t>
            </a:r>
          </a:p>
          <a:p>
            <a:pPr>
              <a:buFont typeface="Wingdings" charset="2"/>
              <a:buChar char="Ø"/>
            </a:pPr>
            <a:r>
              <a:rPr lang="en-US" sz="2700" dirty="0">
                <a:latin typeface="Times New Roman"/>
                <a:cs typeface="Times New Roman"/>
              </a:rPr>
              <a:t>Long term fading is sometimes called ‘shadowing’. It changes over relatively long periods often  due to more distant objects.</a:t>
            </a:r>
          </a:p>
          <a:p>
            <a:pPr>
              <a:buFont typeface="Wingdings" charset="2"/>
              <a:buChar char="Ø"/>
            </a:pPr>
            <a:r>
              <a:rPr lang="en-US" sz="2700" dirty="0">
                <a:latin typeface="Times New Roman"/>
                <a:cs typeface="Times New Roman"/>
              </a:rPr>
              <a:t> Large scale fading occurs when an obstacle gets positioned between the wireless device and the signal transmitter. The interference causes significant reduction in signal strength because the wave is shadowed or blocked by the obstacles.</a:t>
            </a:r>
          </a:p>
          <a:p>
            <a:pPr>
              <a:buFont typeface="Wingdings" charset="2"/>
              <a:buChar char="Ø"/>
            </a:pPr>
            <a:r>
              <a:rPr lang="en-US" sz="2700" dirty="0">
                <a:latin typeface="Times New Roman"/>
                <a:cs typeface="Times New Roman"/>
              </a:rPr>
              <a:t>   Path Loss : Degradation of signal due to dissipation in path because of propagation effects.</a:t>
            </a:r>
          </a:p>
          <a:p>
            <a:pPr>
              <a:buFont typeface="Wingdings" charset="2"/>
              <a:buChar char="Ø"/>
            </a:pPr>
            <a:r>
              <a:rPr lang="en-US" sz="2700" dirty="0">
                <a:latin typeface="Times New Roman"/>
                <a:cs typeface="Times New Roman"/>
              </a:rPr>
              <a:t>Shadowing: Caused by obstacles that absorbs power.</a:t>
            </a:r>
          </a:p>
          <a:p>
            <a:pPr marL="514350" indent="-514350">
              <a:buFont typeface="+mj-lt"/>
              <a:buAutoNum type="arabicParenR"/>
            </a:pPr>
            <a:endParaRPr lang="en-US" dirty="0">
              <a:latin typeface="Times New Roman"/>
              <a:cs typeface="Times New Roman"/>
            </a:endParaRPr>
          </a:p>
        </p:txBody>
      </p:sp>
    </p:spTree>
    <p:extLst>
      <p:ext uri="{BB962C8B-B14F-4D97-AF65-F5344CB8AC3E}">
        <p14:creationId xmlns:p14="http://schemas.microsoft.com/office/powerpoint/2010/main" val="16996146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1796"/>
            <a:ext cx="8229600" cy="5824367"/>
          </a:xfrm>
        </p:spPr>
        <p:txBody>
          <a:bodyPr>
            <a:normAutofit fontScale="92500" lnSpcReduction="20000"/>
          </a:bodyPr>
          <a:lstStyle/>
          <a:p>
            <a:pPr marL="0" indent="0">
              <a:buNone/>
            </a:pPr>
            <a:r>
              <a:rPr lang="en-US" sz="2700" b="0" i="0" dirty="0">
                <a:solidFill>
                  <a:srgbClr val="444444"/>
                </a:solidFill>
                <a:effectLst/>
                <a:latin typeface="Times New Roman"/>
                <a:cs typeface="Times New Roman"/>
              </a:rPr>
              <a:t>2) </a:t>
            </a:r>
            <a:r>
              <a:rPr lang="en-US" sz="2700" b="1" i="0" dirty="0">
                <a:solidFill>
                  <a:srgbClr val="444444"/>
                </a:solidFill>
                <a:effectLst/>
                <a:latin typeface="Times New Roman"/>
                <a:cs typeface="Times New Roman"/>
              </a:rPr>
              <a:t>Small Scale Fading: </a:t>
            </a:r>
            <a:endParaRPr lang="en-US" sz="2700" b="0" i="0" dirty="0">
              <a:solidFill>
                <a:srgbClr val="444444"/>
              </a:solidFill>
              <a:effectLst/>
              <a:latin typeface="Times New Roman"/>
              <a:cs typeface="Times New Roman"/>
            </a:endParaRPr>
          </a:p>
          <a:p>
            <a:pPr>
              <a:buFont typeface="Wingdings" panose="05000000000000000000" pitchFamily="2" charset="2"/>
              <a:buChar char="Ø"/>
            </a:pPr>
            <a:r>
              <a:rPr lang="en-US" sz="2600" b="0" i="0" dirty="0">
                <a:solidFill>
                  <a:srgbClr val="444444"/>
                </a:solidFill>
                <a:effectLst/>
                <a:latin typeface="Times New Roman"/>
                <a:cs typeface="Times New Roman"/>
              </a:rPr>
              <a:t>This refers to the fluctuations in signal strength and phase over short distance and small duration of time. It is also called </a:t>
            </a:r>
            <a:r>
              <a:rPr lang="en-US" sz="2600" b="1" i="0" dirty="0">
                <a:solidFill>
                  <a:srgbClr val="444444"/>
                </a:solidFill>
                <a:effectLst/>
                <a:latin typeface="Times New Roman"/>
                <a:cs typeface="Times New Roman"/>
              </a:rPr>
              <a:t>Rayleigh Fading</a:t>
            </a:r>
            <a:r>
              <a:rPr lang="en-US" sz="2600" b="0" i="0" dirty="0">
                <a:solidFill>
                  <a:srgbClr val="444444"/>
                </a:solidFill>
                <a:effectLst/>
                <a:latin typeface="Times New Roman"/>
                <a:cs typeface="Times New Roman"/>
              </a:rPr>
              <a:t>. Small Scale Fading affects almost all forms of wireless communication and overcoming them is a necessity to increase efficiency and decrease error.</a:t>
            </a:r>
          </a:p>
          <a:p>
            <a:pPr marL="114300" indent="0">
              <a:buNone/>
            </a:pPr>
            <a:endParaRPr lang="en-US" sz="2600" dirty="0">
              <a:solidFill>
                <a:srgbClr val="444444"/>
              </a:solidFill>
              <a:latin typeface="Times New Roman"/>
              <a:cs typeface="Times New Roman"/>
            </a:endParaRPr>
          </a:p>
          <a:p>
            <a:pPr>
              <a:buFont typeface="Wingdings" panose="05000000000000000000" pitchFamily="2" charset="2"/>
              <a:buChar char="Ø"/>
            </a:pPr>
            <a:r>
              <a:rPr lang="en-US" sz="2600" dirty="0">
                <a:solidFill>
                  <a:srgbClr val="444444"/>
                </a:solidFill>
                <a:latin typeface="Times New Roman"/>
                <a:cs typeface="Times New Roman"/>
              </a:rPr>
              <a:t>Reasons of small scale fading:</a:t>
            </a:r>
          </a:p>
          <a:p>
            <a:pPr marL="514350" indent="-514350">
              <a:buFont typeface="+mj-lt"/>
              <a:buAutoNum type="romanLcPeriod"/>
            </a:pPr>
            <a:r>
              <a:rPr lang="en-US" sz="2600" b="0" i="0" dirty="0">
                <a:solidFill>
                  <a:srgbClr val="444444"/>
                </a:solidFill>
                <a:effectLst/>
                <a:latin typeface="Times New Roman"/>
                <a:cs typeface="Times New Roman"/>
              </a:rPr>
              <a:t>Rapid change in signal strength over small distance.</a:t>
            </a:r>
          </a:p>
          <a:p>
            <a:pPr marL="514350" indent="-514350">
              <a:buFont typeface="+mj-lt"/>
              <a:buAutoNum type="romanLcPeriod"/>
            </a:pPr>
            <a:r>
              <a:rPr lang="en-US" sz="2600" dirty="0">
                <a:solidFill>
                  <a:srgbClr val="444444"/>
                </a:solidFill>
                <a:latin typeface="Times New Roman"/>
                <a:cs typeface="Times New Roman"/>
              </a:rPr>
              <a:t>Time dispersion due to multipath delays.</a:t>
            </a:r>
          </a:p>
          <a:p>
            <a:pPr marL="514350" indent="-514350">
              <a:buFont typeface="+mj-lt"/>
              <a:buAutoNum type="romanLcPeriod"/>
            </a:pPr>
            <a:r>
              <a:rPr lang="en-US" sz="2600" b="0" i="0" dirty="0">
                <a:solidFill>
                  <a:srgbClr val="444444"/>
                </a:solidFill>
                <a:effectLst/>
                <a:latin typeface="Times New Roman"/>
                <a:cs typeface="Times New Roman"/>
              </a:rPr>
              <a:t>Here loss is caused due to  multipath delays and </a:t>
            </a:r>
            <a:r>
              <a:rPr lang="en-US" sz="2600" dirty="0">
                <a:solidFill>
                  <a:srgbClr val="444444"/>
                </a:solidFill>
                <a:latin typeface="Times New Roman"/>
                <a:cs typeface="Times New Roman"/>
              </a:rPr>
              <a:t>D</a:t>
            </a:r>
            <a:r>
              <a:rPr lang="en-US" sz="2600" b="0" i="0" dirty="0">
                <a:solidFill>
                  <a:srgbClr val="444444"/>
                </a:solidFill>
                <a:effectLst/>
                <a:latin typeface="Times New Roman"/>
                <a:cs typeface="Times New Roman"/>
              </a:rPr>
              <a:t>oppler’s spreading.</a:t>
            </a:r>
          </a:p>
          <a:p>
            <a:pPr marL="0" indent="0">
              <a:buNone/>
            </a:pPr>
            <a:endParaRPr lang="en-US" sz="2600" b="0" i="0" dirty="0">
              <a:solidFill>
                <a:srgbClr val="444444"/>
              </a:solidFill>
              <a:effectLst/>
              <a:latin typeface="Times New Roman"/>
              <a:cs typeface="Times New Roman"/>
            </a:endParaRPr>
          </a:p>
          <a:p>
            <a:pPr marL="0" indent="0">
              <a:buNone/>
            </a:pPr>
            <a:r>
              <a:rPr lang="en-US" sz="2600" dirty="0">
                <a:solidFill>
                  <a:srgbClr val="444444"/>
                </a:solidFill>
                <a:latin typeface="Times New Roman"/>
                <a:cs typeface="Times New Roman"/>
              </a:rPr>
              <a:t>When mobile it is worse as the multi-path effects are continuously changing. Also get Doppler effects </a:t>
            </a:r>
            <a:r>
              <a:rPr lang="mr-IN" sz="2600" dirty="0">
                <a:solidFill>
                  <a:srgbClr val="444444"/>
                </a:solidFill>
                <a:latin typeface="Times New Roman"/>
                <a:cs typeface="Times New Roman"/>
              </a:rPr>
              <a:t>–</a:t>
            </a:r>
            <a:r>
              <a:rPr lang="en-US" sz="2600" dirty="0">
                <a:solidFill>
                  <a:srgbClr val="444444"/>
                </a:solidFill>
                <a:latin typeface="Times New Roman"/>
                <a:cs typeface="Times New Roman"/>
              </a:rPr>
              <a:t> the frequency changes due to movement of objects in the environment including the user.</a:t>
            </a:r>
            <a:endParaRPr lang="en-US" sz="2600" b="0" i="0" dirty="0">
              <a:solidFill>
                <a:srgbClr val="444444"/>
              </a:solidFill>
              <a:effectLst/>
              <a:latin typeface="Times New Roman"/>
              <a:cs typeface="Times New Roman"/>
            </a:endParaRPr>
          </a:p>
          <a:p>
            <a:pPr marL="0" indent="0">
              <a:buNone/>
            </a:pPr>
            <a:endParaRPr lang="en-US" sz="2600" dirty="0">
              <a:latin typeface="Times New Roman"/>
              <a:cs typeface="Times New Roman"/>
            </a:endParaRPr>
          </a:p>
        </p:txBody>
      </p:sp>
    </p:spTree>
    <p:extLst>
      <p:ext uri="{BB962C8B-B14F-4D97-AF65-F5344CB8AC3E}">
        <p14:creationId xmlns:p14="http://schemas.microsoft.com/office/powerpoint/2010/main" val="1022724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3592"/>
            <a:ext cx="8229600" cy="5522571"/>
          </a:xfrm>
        </p:spPr>
        <p:txBody>
          <a:bodyPr>
            <a:normAutofit/>
          </a:bodyPr>
          <a:lstStyle/>
          <a:p>
            <a:r>
              <a:rPr lang="en-US" sz="2700" dirty="0">
                <a:latin typeface="Times New Roman"/>
                <a:cs typeface="Times New Roman"/>
              </a:rPr>
              <a:t>Multipath Propagation: Addition of constructive and deconstructive signal components while propagating.</a:t>
            </a:r>
          </a:p>
          <a:p>
            <a:r>
              <a:rPr lang="en-US" sz="2700" dirty="0">
                <a:latin typeface="Times New Roman"/>
                <a:cs typeface="Times New Roman"/>
              </a:rPr>
              <a:t>Doppler’s spreading: Change in frequency due to relative motion of RX with respect to TX.</a:t>
            </a:r>
          </a:p>
          <a:p>
            <a:endParaRPr lang="en-US" sz="2700" dirty="0">
              <a:latin typeface="Times New Roman"/>
              <a:cs typeface="Times New Roman"/>
            </a:endParaRPr>
          </a:p>
        </p:txBody>
      </p:sp>
      <p:pic>
        <p:nvPicPr>
          <p:cNvPr id="4" name="Picture 3" descr="path loss.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4697" y="2705807"/>
            <a:ext cx="4249808" cy="3420356"/>
          </a:xfrm>
          <a:prstGeom prst="rect">
            <a:avLst/>
          </a:prstGeom>
        </p:spPr>
      </p:pic>
      <p:pic>
        <p:nvPicPr>
          <p:cNvPr id="5" name="Picture 4" descr="Screenshot 2020-08-30 at 11.16.51 PM.png"/>
          <p:cNvPicPr>
            <a:picLocks noChangeAspect="1"/>
          </p:cNvPicPr>
          <p:nvPr/>
        </p:nvPicPr>
        <p:blipFill rotWithShape="1">
          <a:blip r:embed="rId3">
            <a:extLst>
              <a:ext uri="{28A0092B-C50C-407E-A947-70E740481C1C}">
                <a14:useLocalDpi xmlns:a14="http://schemas.microsoft.com/office/drawing/2010/main" val="0"/>
              </a:ext>
            </a:extLst>
          </a:blip>
          <a:srcRect l="17051" t="21464" r="50497" b="50592"/>
          <a:stretch/>
        </p:blipFill>
        <p:spPr>
          <a:xfrm>
            <a:off x="5243106" y="2705807"/>
            <a:ext cx="3331948" cy="3317538"/>
          </a:xfrm>
          <a:prstGeom prst="rect">
            <a:avLst/>
          </a:prstGeom>
        </p:spPr>
      </p:pic>
    </p:spTree>
    <p:extLst>
      <p:ext uri="{BB962C8B-B14F-4D97-AF65-F5344CB8AC3E}">
        <p14:creationId xmlns:p14="http://schemas.microsoft.com/office/powerpoint/2010/main" val="3254378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B688C14-D8D5-49AA-9348-E49CFE11350E}"/>
              </a:ext>
            </a:extLst>
          </p:cNvPr>
          <p:cNvPicPr>
            <a:picLocks noGrp="1" noChangeAspect="1"/>
          </p:cNvPicPr>
          <p:nvPr>
            <p:ph idx="1"/>
          </p:nvPr>
        </p:nvPicPr>
        <p:blipFill rotWithShape="1">
          <a:blip r:embed="rId2"/>
          <a:srcRect t="5785" b="8000"/>
          <a:stretch/>
        </p:blipFill>
        <p:spPr>
          <a:xfrm>
            <a:off x="457200" y="2403796"/>
            <a:ext cx="7620000" cy="4117949"/>
          </a:xfrm>
          <a:prstGeom prst="rect">
            <a:avLst/>
          </a:prstGeom>
        </p:spPr>
      </p:pic>
      <p:sp>
        <p:nvSpPr>
          <p:cNvPr id="5" name="Rectangle 4"/>
          <p:cNvSpPr/>
          <p:nvPr/>
        </p:nvSpPr>
        <p:spPr>
          <a:xfrm>
            <a:off x="331467" y="590692"/>
            <a:ext cx="8419614" cy="830997"/>
          </a:xfrm>
          <a:prstGeom prst="rect">
            <a:avLst/>
          </a:prstGeom>
        </p:spPr>
        <p:txBody>
          <a:bodyPr wrap="square">
            <a:spAutoFit/>
          </a:bodyPr>
          <a:lstStyle/>
          <a:p>
            <a:pPr marL="342900" indent="-342900">
              <a:buFont typeface="Arial"/>
              <a:buChar char="•"/>
            </a:pPr>
            <a:r>
              <a:rPr lang="en-US" sz="2400" dirty="0">
                <a:latin typeface="Times New Roman"/>
                <a:cs typeface="Times New Roman"/>
              </a:rPr>
              <a:t>Types of fading experienced by </a:t>
            </a:r>
            <a:r>
              <a:rPr lang="en-US" sz="2400" dirty="0" err="1">
                <a:latin typeface="Times New Roman"/>
                <a:cs typeface="Times New Roman"/>
              </a:rPr>
              <a:t>Tx</a:t>
            </a:r>
            <a:r>
              <a:rPr lang="en-US" sz="2400" dirty="0">
                <a:latin typeface="Times New Roman"/>
                <a:cs typeface="Times New Roman"/>
              </a:rPr>
              <a:t> signal depends on the nature of </a:t>
            </a:r>
            <a:r>
              <a:rPr lang="en-US" sz="2400" dirty="0" err="1">
                <a:latin typeface="Times New Roman"/>
                <a:cs typeface="Times New Roman"/>
              </a:rPr>
              <a:t>Tx</a:t>
            </a:r>
            <a:r>
              <a:rPr lang="en-US" sz="2400" dirty="0">
                <a:latin typeface="Times New Roman"/>
                <a:cs typeface="Times New Roman"/>
              </a:rPr>
              <a:t> signal with respect to characteristics of channel.</a:t>
            </a:r>
            <a:endParaRPr lang="en-IN" sz="2400" dirty="0">
              <a:latin typeface="Times New Roman"/>
              <a:cs typeface="Times New Roman"/>
            </a:endParaRPr>
          </a:p>
        </p:txBody>
      </p:sp>
    </p:spTree>
    <p:extLst>
      <p:ext uri="{BB962C8B-B14F-4D97-AF65-F5344CB8AC3E}">
        <p14:creationId xmlns:p14="http://schemas.microsoft.com/office/powerpoint/2010/main" val="3928333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65269"/>
            <a:ext cx="8229600" cy="5660895"/>
          </a:xfrm>
        </p:spPr>
        <p:txBody>
          <a:bodyPr>
            <a:normAutofit/>
          </a:bodyPr>
          <a:lstStyle/>
          <a:p>
            <a:pPr marL="0" indent="0">
              <a:buNone/>
            </a:pPr>
            <a:r>
              <a:rPr lang="en-US" b="1" dirty="0">
                <a:latin typeface="Times New Roman"/>
                <a:cs typeface="Times New Roman"/>
              </a:rPr>
              <a:t> Based on Doppler Spread:</a:t>
            </a:r>
          </a:p>
          <a:p>
            <a:pPr marL="0" indent="0">
              <a:buNone/>
            </a:pPr>
            <a:r>
              <a:rPr lang="en-US" b="1" dirty="0">
                <a:latin typeface="Times New Roman"/>
                <a:cs typeface="Times New Roman"/>
              </a:rPr>
              <a:t>1.   Fast Fading Channel</a:t>
            </a:r>
            <a:r>
              <a:rPr lang="en-US" dirty="0">
                <a:latin typeface="Times New Roman"/>
                <a:cs typeface="Times New Roman"/>
              </a:rPr>
              <a:t>: </a:t>
            </a:r>
          </a:p>
          <a:p>
            <a:pPr marL="571500" indent="-571500">
              <a:buFont typeface="+mj-lt"/>
              <a:buAutoNum type="romanLcPeriod"/>
            </a:pPr>
            <a:r>
              <a:rPr lang="en-US" b="0" i="0" dirty="0">
                <a:solidFill>
                  <a:srgbClr val="444444"/>
                </a:solidFill>
                <a:effectLst/>
                <a:latin typeface="Times New Roman"/>
                <a:cs typeface="Times New Roman"/>
              </a:rPr>
              <a:t> High </a:t>
            </a:r>
            <a:r>
              <a:rPr lang="en-US" b="0" i="0" u="none" strike="noStrike" dirty="0">
                <a:solidFill>
                  <a:srgbClr val="007EB0"/>
                </a:solidFill>
                <a:effectLst/>
                <a:latin typeface="Times New Roman"/>
                <a:cs typeface="Times New Roman"/>
                <a:hlinkClick r:id="rId2"/>
              </a:rPr>
              <a:t>doppler spread</a:t>
            </a:r>
            <a:r>
              <a:rPr lang="en-US" b="0" i="0" dirty="0">
                <a:solidFill>
                  <a:srgbClr val="444444"/>
                </a:solidFill>
                <a:effectLst/>
                <a:latin typeface="Times New Roman"/>
                <a:cs typeface="Times New Roman"/>
              </a:rPr>
              <a:t> is observed in the fast fading with Doppler bandwidth comparable to or greater than the bandwidth of the signal and the channel variations are as fast or faster than the signal variations</a:t>
            </a:r>
          </a:p>
          <a:p>
            <a:pPr marL="571500" indent="-571500">
              <a:buFont typeface="+mj-lt"/>
              <a:buAutoNum type="romanLcPeriod"/>
            </a:pPr>
            <a:r>
              <a:rPr lang="en-US" dirty="0">
                <a:latin typeface="Times New Roman"/>
                <a:cs typeface="Times New Roman"/>
              </a:rPr>
              <a:t>It is caused due to frequency dispersion due to Doppler’s spreading.</a:t>
            </a:r>
          </a:p>
          <a:p>
            <a:pPr marL="571500" indent="-571500">
              <a:buFont typeface="+mj-lt"/>
              <a:buAutoNum type="romanLcPeriod"/>
            </a:pPr>
            <a:r>
              <a:rPr lang="en-US" dirty="0">
                <a:latin typeface="Times New Roman"/>
                <a:cs typeface="Times New Roman"/>
              </a:rPr>
              <a:t>In Fast fading, the </a:t>
            </a:r>
            <a:r>
              <a:rPr lang="en-US" dirty="0">
                <a:solidFill>
                  <a:srgbClr val="444444"/>
                </a:solidFill>
                <a:latin typeface="Times New Roman"/>
                <a:cs typeface="Times New Roman"/>
              </a:rPr>
              <a:t>rate of change of channel is faster than rate of change of </a:t>
            </a:r>
            <a:r>
              <a:rPr lang="en-US" dirty="0" err="1">
                <a:solidFill>
                  <a:srgbClr val="444444"/>
                </a:solidFill>
                <a:latin typeface="Times New Roman"/>
                <a:cs typeface="Times New Roman"/>
              </a:rPr>
              <a:t>Tx</a:t>
            </a:r>
            <a:r>
              <a:rPr lang="en-US" dirty="0">
                <a:solidFill>
                  <a:srgbClr val="444444"/>
                </a:solidFill>
                <a:latin typeface="Times New Roman"/>
                <a:cs typeface="Times New Roman"/>
              </a:rPr>
              <a:t> signal.</a:t>
            </a:r>
          </a:p>
          <a:p>
            <a:pPr marL="571500" indent="-571500">
              <a:buFont typeface="+mj-lt"/>
              <a:buAutoNum type="romanLcPeriod"/>
            </a:pPr>
            <a:r>
              <a:rPr lang="en-US" dirty="0" err="1">
                <a:solidFill>
                  <a:srgbClr val="444444"/>
                </a:solidFill>
                <a:latin typeface="Times New Roman"/>
                <a:cs typeface="Times New Roman"/>
              </a:rPr>
              <a:t>Tc</a:t>
            </a:r>
            <a:r>
              <a:rPr lang="en-US" dirty="0">
                <a:solidFill>
                  <a:srgbClr val="444444"/>
                </a:solidFill>
                <a:latin typeface="Times New Roman"/>
                <a:cs typeface="Times New Roman"/>
              </a:rPr>
              <a:t> &lt; </a:t>
            </a:r>
            <a:r>
              <a:rPr lang="en-US" dirty="0" err="1">
                <a:solidFill>
                  <a:srgbClr val="444444"/>
                </a:solidFill>
                <a:latin typeface="Times New Roman"/>
                <a:cs typeface="Times New Roman"/>
              </a:rPr>
              <a:t>Ts</a:t>
            </a:r>
            <a:r>
              <a:rPr lang="en-US" dirty="0">
                <a:solidFill>
                  <a:srgbClr val="444444"/>
                </a:solidFill>
                <a:latin typeface="Times New Roman"/>
                <a:cs typeface="Times New Roman"/>
              </a:rPr>
              <a:t> (Coherence time is less than symbol time)</a:t>
            </a:r>
          </a:p>
          <a:p>
            <a:pPr marL="571500" indent="-571500">
              <a:buFont typeface="+mj-lt"/>
              <a:buAutoNum type="romanLcPeriod"/>
            </a:pPr>
            <a:r>
              <a:rPr lang="en-US" dirty="0">
                <a:latin typeface="Times New Roman"/>
                <a:cs typeface="Times New Roman"/>
              </a:rPr>
              <a:t> </a:t>
            </a:r>
            <a:r>
              <a:rPr lang="en-US" b="0" i="0" dirty="0">
                <a:solidFill>
                  <a:srgbClr val="444444"/>
                </a:solidFill>
                <a:effectLst/>
                <a:latin typeface="Times New Roman"/>
                <a:cs typeface="Times New Roman"/>
              </a:rPr>
              <a:t>Doppler spread is greater than Transmitted (</a:t>
            </a:r>
            <a:r>
              <a:rPr lang="en-US" b="0" i="0" dirty="0" err="1">
                <a:solidFill>
                  <a:srgbClr val="444444"/>
                </a:solidFill>
                <a:effectLst/>
                <a:latin typeface="Times New Roman"/>
                <a:cs typeface="Times New Roman"/>
              </a:rPr>
              <a:t>Tx</a:t>
            </a:r>
            <a:r>
              <a:rPr lang="en-US" b="0" i="0" dirty="0">
                <a:solidFill>
                  <a:srgbClr val="444444"/>
                </a:solidFill>
                <a:effectLst/>
                <a:latin typeface="Times New Roman"/>
                <a:cs typeface="Times New Roman"/>
              </a:rPr>
              <a:t>) signal Bandwidth. </a:t>
            </a:r>
          </a:p>
          <a:p>
            <a:pPr marL="571500" indent="-571500">
              <a:buFont typeface="+mj-lt"/>
              <a:buAutoNum type="romanLcPeriod"/>
            </a:pPr>
            <a:r>
              <a:rPr lang="en-US" b="0" i="0" dirty="0">
                <a:solidFill>
                  <a:srgbClr val="444444"/>
                </a:solidFill>
                <a:effectLst/>
                <a:latin typeface="Times New Roman"/>
                <a:cs typeface="Times New Roman"/>
              </a:rPr>
              <a:t>Bsignal &lt; </a:t>
            </a:r>
            <a:r>
              <a:rPr lang="en-US" b="0" i="0" dirty="0" err="1">
                <a:solidFill>
                  <a:srgbClr val="444444"/>
                </a:solidFill>
                <a:effectLst/>
                <a:latin typeface="Times New Roman"/>
                <a:cs typeface="Times New Roman"/>
              </a:rPr>
              <a:t>Bdoppler</a:t>
            </a:r>
            <a:r>
              <a:rPr lang="en-US" b="0" i="0" dirty="0">
                <a:solidFill>
                  <a:srgbClr val="444444"/>
                </a:solidFill>
                <a:effectLst/>
                <a:latin typeface="Times New Roman"/>
                <a:cs typeface="Times New Roman"/>
              </a:rPr>
              <a:t> spread.</a:t>
            </a:r>
          </a:p>
          <a:p>
            <a:endParaRPr lang="en-US" dirty="0">
              <a:latin typeface="Times New Roman"/>
              <a:cs typeface="Times New Roman"/>
            </a:endParaRPr>
          </a:p>
          <a:p>
            <a:pPr marL="571500" indent="-571500">
              <a:buFont typeface="+mj-lt"/>
              <a:buAutoNum type="romanLcPeriod"/>
            </a:pPr>
            <a:endParaRPr lang="en-US" b="0" i="0" dirty="0">
              <a:solidFill>
                <a:srgbClr val="444444"/>
              </a:solidFill>
              <a:effectLst/>
              <a:latin typeface="Arial" panose="020B0604020202020204" pitchFamily="34" charset="0"/>
            </a:endParaRPr>
          </a:p>
          <a:p>
            <a:pPr marL="571500" indent="-571500">
              <a:buFont typeface="+mj-lt"/>
              <a:buAutoNum type="romanLcPeriod"/>
            </a:pPr>
            <a:endParaRPr lang="en-US" dirty="0"/>
          </a:p>
          <a:p>
            <a:pPr marL="571500" indent="-571500">
              <a:buFont typeface="+mj-lt"/>
              <a:buAutoNum type="romanLcPeriod"/>
            </a:pPr>
            <a:endParaRPr lang="en-US" dirty="0"/>
          </a:p>
        </p:txBody>
      </p:sp>
    </p:spTree>
    <p:extLst>
      <p:ext uri="{BB962C8B-B14F-4D97-AF65-F5344CB8AC3E}">
        <p14:creationId xmlns:p14="http://schemas.microsoft.com/office/powerpoint/2010/main" val="16249434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64670"/>
            <a:ext cx="8229600" cy="5761493"/>
          </a:xfrm>
        </p:spPr>
        <p:txBody>
          <a:bodyPr>
            <a:normAutofit/>
          </a:bodyPr>
          <a:lstStyle/>
          <a:p>
            <a:pPr marL="0" indent="0">
              <a:buNone/>
            </a:pPr>
            <a:r>
              <a:rPr lang="en-US" sz="2700" b="1" dirty="0"/>
              <a:t>2. </a:t>
            </a:r>
            <a:r>
              <a:rPr lang="en-US" sz="2700" b="1" dirty="0">
                <a:latin typeface="Times New Roman"/>
                <a:cs typeface="Times New Roman"/>
              </a:rPr>
              <a:t>Slow Fading</a:t>
            </a:r>
            <a:r>
              <a:rPr lang="en-US" sz="2700" dirty="0">
                <a:latin typeface="Times New Roman"/>
                <a:cs typeface="Times New Roman"/>
              </a:rPr>
              <a:t>:</a:t>
            </a:r>
          </a:p>
          <a:p>
            <a:pPr marL="571500" indent="-571500">
              <a:buFont typeface="+mj-lt"/>
              <a:buAutoNum type="romanLcPeriod"/>
            </a:pPr>
            <a:r>
              <a:rPr lang="en-US" sz="2700" b="0" i="0" dirty="0">
                <a:solidFill>
                  <a:srgbClr val="444444"/>
                </a:solidFill>
                <a:effectLst/>
                <a:latin typeface="Times New Roman"/>
                <a:cs typeface="Times New Roman"/>
              </a:rPr>
              <a:t> </a:t>
            </a:r>
            <a:r>
              <a:rPr lang="en-US" sz="2500" b="0" i="0" dirty="0">
                <a:solidFill>
                  <a:srgbClr val="444444"/>
                </a:solidFill>
                <a:effectLst/>
                <a:latin typeface="Times New Roman"/>
                <a:cs typeface="Times New Roman"/>
              </a:rPr>
              <a:t>Low Doppler spread is observed in Slow Fading with the Doppler bandwidth being smaller compared to the bandwidth of the signal and the channel variations are slow relative to the signal variations.</a:t>
            </a:r>
          </a:p>
          <a:p>
            <a:pPr marL="571500" indent="-571500">
              <a:buFont typeface="+mj-lt"/>
              <a:buAutoNum type="romanLcPeriod"/>
            </a:pPr>
            <a:r>
              <a:rPr lang="en-US" sz="2500" dirty="0">
                <a:solidFill>
                  <a:srgbClr val="444444"/>
                </a:solidFill>
                <a:latin typeface="Times New Roman"/>
                <a:cs typeface="Times New Roman"/>
              </a:rPr>
              <a:t>It is caused due to frequency dispersion due to Doppler spreading.</a:t>
            </a:r>
          </a:p>
          <a:p>
            <a:pPr marL="571500" indent="-571500">
              <a:buFont typeface="+mj-lt"/>
              <a:buAutoNum type="romanLcPeriod"/>
            </a:pPr>
            <a:r>
              <a:rPr lang="en-US" sz="2500" dirty="0">
                <a:solidFill>
                  <a:srgbClr val="444444"/>
                </a:solidFill>
                <a:latin typeface="Times New Roman"/>
                <a:cs typeface="Times New Roman"/>
              </a:rPr>
              <a:t>In slow fading, the rate of  change of channel is slower than rate of change of TX signal.</a:t>
            </a:r>
          </a:p>
          <a:p>
            <a:pPr marL="571500" indent="-571500">
              <a:buFont typeface="+mj-lt"/>
              <a:buAutoNum type="romanLcPeriod"/>
            </a:pPr>
            <a:r>
              <a:rPr lang="en-US" sz="2500" dirty="0" err="1">
                <a:solidFill>
                  <a:srgbClr val="444444"/>
                </a:solidFill>
                <a:latin typeface="Times New Roman"/>
                <a:cs typeface="Times New Roman"/>
              </a:rPr>
              <a:t>Ts</a:t>
            </a:r>
            <a:r>
              <a:rPr lang="en-US" sz="2500" dirty="0">
                <a:solidFill>
                  <a:srgbClr val="444444"/>
                </a:solidFill>
                <a:latin typeface="Times New Roman"/>
                <a:cs typeface="Times New Roman"/>
              </a:rPr>
              <a:t>&lt;&lt;</a:t>
            </a:r>
            <a:r>
              <a:rPr lang="en-US" sz="2500" dirty="0" err="1">
                <a:solidFill>
                  <a:srgbClr val="444444"/>
                </a:solidFill>
                <a:latin typeface="Times New Roman"/>
                <a:cs typeface="Times New Roman"/>
              </a:rPr>
              <a:t>Tc</a:t>
            </a:r>
            <a:endParaRPr lang="en-US" sz="2500" dirty="0">
              <a:solidFill>
                <a:srgbClr val="444444"/>
              </a:solidFill>
              <a:latin typeface="Times New Roman"/>
              <a:cs typeface="Times New Roman"/>
            </a:endParaRPr>
          </a:p>
          <a:p>
            <a:pPr marL="571500" indent="-571500">
              <a:buFont typeface="+mj-lt"/>
              <a:buAutoNum type="romanLcPeriod"/>
            </a:pPr>
            <a:r>
              <a:rPr lang="en-US" sz="2500" dirty="0">
                <a:solidFill>
                  <a:srgbClr val="444444"/>
                </a:solidFill>
                <a:latin typeface="Times New Roman"/>
                <a:cs typeface="Times New Roman"/>
              </a:rPr>
              <a:t>Doppler Spread is smaller than transmitted signal (</a:t>
            </a:r>
            <a:r>
              <a:rPr lang="en-US" sz="2500" dirty="0" err="1">
                <a:solidFill>
                  <a:srgbClr val="444444"/>
                </a:solidFill>
                <a:latin typeface="Times New Roman"/>
                <a:cs typeface="Times New Roman"/>
              </a:rPr>
              <a:t>Tx</a:t>
            </a:r>
            <a:r>
              <a:rPr lang="en-US" sz="2500" dirty="0">
                <a:solidFill>
                  <a:srgbClr val="444444"/>
                </a:solidFill>
                <a:latin typeface="Times New Roman"/>
                <a:cs typeface="Times New Roman"/>
              </a:rPr>
              <a:t>) bandwidth</a:t>
            </a:r>
          </a:p>
          <a:p>
            <a:pPr marL="571500" indent="-571500">
              <a:buFont typeface="+mj-lt"/>
              <a:buAutoNum type="romanLcPeriod"/>
            </a:pPr>
            <a:r>
              <a:rPr lang="en-US" sz="2500" dirty="0">
                <a:solidFill>
                  <a:srgbClr val="444444"/>
                </a:solidFill>
                <a:latin typeface="Times New Roman"/>
                <a:cs typeface="Times New Roman"/>
              </a:rPr>
              <a:t>Bsignal&gt;&gt;</a:t>
            </a:r>
            <a:r>
              <a:rPr lang="en-US" sz="2500" dirty="0" err="1">
                <a:solidFill>
                  <a:srgbClr val="444444"/>
                </a:solidFill>
                <a:latin typeface="Times New Roman"/>
                <a:cs typeface="Times New Roman"/>
              </a:rPr>
              <a:t>Bdoppler</a:t>
            </a:r>
            <a:r>
              <a:rPr lang="en-US" sz="2500" dirty="0">
                <a:solidFill>
                  <a:srgbClr val="444444"/>
                </a:solidFill>
                <a:latin typeface="Times New Roman"/>
                <a:cs typeface="Times New Roman"/>
              </a:rPr>
              <a:t> </a:t>
            </a:r>
          </a:p>
          <a:p>
            <a:pPr marL="571500" indent="-571500">
              <a:buFont typeface="+mj-lt"/>
              <a:buAutoNum type="romanLcPeriod"/>
            </a:pPr>
            <a:endParaRPr lang="en-US" sz="2700" dirty="0">
              <a:solidFill>
                <a:srgbClr val="444444"/>
              </a:solidFill>
              <a:latin typeface="Times New Roman"/>
              <a:cs typeface="Times New Roman"/>
            </a:endParaRPr>
          </a:p>
          <a:p>
            <a:pPr marL="571500" indent="-571500">
              <a:buFont typeface="+mj-lt"/>
              <a:buAutoNum type="romanLcPeriod"/>
            </a:pPr>
            <a:endParaRPr lang="en-US" sz="2700" b="0" i="0" dirty="0">
              <a:solidFill>
                <a:srgbClr val="444444"/>
              </a:solidFill>
              <a:effectLst/>
              <a:latin typeface="Times New Roman"/>
              <a:cs typeface="Times New Roman"/>
            </a:endParaRPr>
          </a:p>
          <a:p>
            <a:pPr marL="571500" indent="-571500">
              <a:buFont typeface="+mj-lt"/>
              <a:buAutoNum type="romanLcPeriod"/>
            </a:pPr>
            <a:endParaRPr lang="en-US" dirty="0"/>
          </a:p>
          <a:p>
            <a:pPr marL="571500" indent="-571500">
              <a:buFont typeface="+mj-lt"/>
              <a:buAutoNum type="romanLcPeriod"/>
            </a:pPr>
            <a:endParaRPr lang="en-US" dirty="0"/>
          </a:p>
        </p:txBody>
      </p:sp>
    </p:spTree>
    <p:extLst>
      <p:ext uri="{BB962C8B-B14F-4D97-AF65-F5344CB8AC3E}">
        <p14:creationId xmlns:p14="http://schemas.microsoft.com/office/powerpoint/2010/main" val="4977209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53294"/>
            <a:ext cx="8229600" cy="5572870"/>
          </a:xfrm>
        </p:spPr>
        <p:txBody>
          <a:bodyPr>
            <a:normAutofit/>
          </a:bodyPr>
          <a:lstStyle/>
          <a:p>
            <a:r>
              <a:rPr lang="en-US" sz="2900" b="1" dirty="0">
                <a:latin typeface="Times New Roman"/>
                <a:cs typeface="Times New Roman"/>
              </a:rPr>
              <a:t>Based on Multipath Propagation:</a:t>
            </a:r>
          </a:p>
          <a:p>
            <a:pPr marL="514350" indent="-514350">
              <a:buFont typeface="+mj-lt"/>
              <a:buAutoNum type="arabicPeriod"/>
            </a:pPr>
            <a:r>
              <a:rPr lang="en-US" sz="2900" b="1" dirty="0">
                <a:latin typeface="Times New Roman"/>
                <a:cs typeface="Times New Roman"/>
              </a:rPr>
              <a:t>Flat Fading:</a:t>
            </a:r>
          </a:p>
          <a:p>
            <a:pPr marL="571500" indent="-571500">
              <a:buFont typeface="+mj-lt"/>
              <a:buAutoNum type="romanLcPeriod"/>
            </a:pPr>
            <a:r>
              <a:rPr lang="en-US" sz="2900" b="0" i="0" dirty="0">
                <a:solidFill>
                  <a:srgbClr val="444444"/>
                </a:solidFill>
                <a:effectLst/>
                <a:latin typeface="Times New Roman"/>
                <a:cs typeface="Times New Roman"/>
              </a:rPr>
              <a:t>In flat fading, all frequency components get affected almost equally. Flat multipath fading causes the amplitude to fluctuate over a period of time.</a:t>
            </a:r>
          </a:p>
          <a:p>
            <a:pPr marL="571500" indent="-571500">
              <a:buFont typeface="+mj-lt"/>
              <a:buAutoNum type="romanLcPeriod"/>
            </a:pPr>
            <a:r>
              <a:rPr lang="en-US" sz="2900" dirty="0">
                <a:latin typeface="Times New Roman"/>
                <a:cs typeface="Times New Roman"/>
              </a:rPr>
              <a:t>It is caused</a:t>
            </a:r>
            <a:r>
              <a:rPr lang="en-US" sz="2900" b="1" dirty="0">
                <a:latin typeface="Times New Roman"/>
                <a:cs typeface="Times New Roman"/>
              </a:rPr>
              <a:t> </a:t>
            </a:r>
            <a:r>
              <a:rPr lang="en-US" sz="2900" dirty="0">
                <a:latin typeface="Times New Roman"/>
                <a:cs typeface="Times New Roman"/>
              </a:rPr>
              <a:t>by time dispersion due to multipath components.</a:t>
            </a:r>
          </a:p>
          <a:p>
            <a:pPr marL="571500" indent="-571500">
              <a:buFont typeface="+mj-lt"/>
              <a:buAutoNum type="romanLcPeriod"/>
            </a:pPr>
            <a:r>
              <a:rPr lang="en-US" sz="2900" dirty="0">
                <a:latin typeface="Times New Roman"/>
                <a:cs typeface="Times New Roman"/>
              </a:rPr>
              <a:t> </a:t>
            </a:r>
            <a:r>
              <a:rPr lang="en-US" sz="2900" dirty="0">
                <a:solidFill>
                  <a:srgbClr val="444444"/>
                </a:solidFill>
                <a:latin typeface="Times New Roman"/>
                <a:cs typeface="Times New Roman"/>
              </a:rPr>
              <a:t>Occurs in </a:t>
            </a:r>
            <a:r>
              <a:rPr lang="en-US" sz="2900" dirty="0" err="1">
                <a:solidFill>
                  <a:srgbClr val="444444"/>
                </a:solidFill>
                <a:latin typeface="Times New Roman"/>
                <a:cs typeface="Times New Roman"/>
              </a:rPr>
              <a:t>rx</a:t>
            </a:r>
            <a:r>
              <a:rPr lang="en-US" sz="2900" dirty="0">
                <a:solidFill>
                  <a:srgbClr val="444444"/>
                </a:solidFill>
                <a:latin typeface="Times New Roman"/>
                <a:cs typeface="Times New Roman"/>
              </a:rPr>
              <a:t> signal if channel has constant gain and linear phase response over </a:t>
            </a:r>
            <a:r>
              <a:rPr lang="en-US" sz="2900" dirty="0" err="1">
                <a:solidFill>
                  <a:srgbClr val="444444"/>
                </a:solidFill>
                <a:latin typeface="Times New Roman"/>
                <a:cs typeface="Times New Roman"/>
              </a:rPr>
              <a:t>Bchannel</a:t>
            </a:r>
            <a:r>
              <a:rPr lang="en-US" sz="2900" dirty="0">
                <a:solidFill>
                  <a:srgbClr val="444444"/>
                </a:solidFill>
                <a:latin typeface="Times New Roman"/>
                <a:cs typeface="Times New Roman"/>
              </a:rPr>
              <a:t>&gt;</a:t>
            </a:r>
            <a:r>
              <a:rPr lang="en-US" sz="2900" dirty="0" err="1">
                <a:solidFill>
                  <a:srgbClr val="444444"/>
                </a:solidFill>
                <a:latin typeface="Times New Roman"/>
                <a:cs typeface="Times New Roman"/>
              </a:rPr>
              <a:t>Btransmitted</a:t>
            </a:r>
            <a:r>
              <a:rPr lang="en-US" sz="2900" dirty="0">
                <a:solidFill>
                  <a:srgbClr val="444444"/>
                </a:solidFill>
                <a:latin typeface="Times New Roman"/>
                <a:cs typeface="Times New Roman"/>
              </a:rPr>
              <a:t> signal.</a:t>
            </a:r>
          </a:p>
          <a:p>
            <a:pPr marL="571500" indent="-571500">
              <a:buFont typeface="+mj-lt"/>
              <a:buAutoNum type="romanLcPeriod"/>
            </a:pPr>
            <a:endParaRPr lang="en-US" dirty="0">
              <a:solidFill>
                <a:srgbClr val="444444"/>
              </a:solidFill>
              <a:latin typeface="Arial" panose="020B0604020202020204" pitchFamily="34" charset="0"/>
            </a:endParaRPr>
          </a:p>
          <a:p>
            <a:pPr marL="571500" indent="-571500">
              <a:buFont typeface="+mj-lt"/>
              <a:buAutoNum type="romanLcPeriod"/>
            </a:pPr>
            <a:endParaRPr lang="en-US" dirty="0"/>
          </a:p>
          <a:p>
            <a:pPr marL="571500" indent="-571500">
              <a:buFont typeface="+mj-lt"/>
              <a:buAutoNum type="romanLcPeriod"/>
            </a:pPr>
            <a:endParaRPr lang="en-US" dirty="0"/>
          </a:p>
          <a:p>
            <a:pPr marL="571500" indent="-571500">
              <a:buFont typeface="+mj-lt"/>
              <a:buAutoNum type="romanLcPeriod"/>
            </a:pPr>
            <a:endParaRPr lang="en-US" b="1" dirty="0"/>
          </a:p>
          <a:p>
            <a:pPr marL="571500" indent="-571500">
              <a:buFont typeface="+mj-lt"/>
              <a:buAutoNum type="romanLcPeriod"/>
            </a:pPr>
            <a:endParaRPr lang="en-US" dirty="0"/>
          </a:p>
        </p:txBody>
      </p:sp>
    </p:spTree>
    <p:extLst>
      <p:ext uri="{BB962C8B-B14F-4D97-AF65-F5344CB8AC3E}">
        <p14:creationId xmlns:p14="http://schemas.microsoft.com/office/powerpoint/2010/main" val="1968300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91017"/>
            <a:ext cx="8229600" cy="5535146"/>
          </a:xfrm>
        </p:spPr>
        <p:txBody>
          <a:bodyPr>
            <a:normAutofit fontScale="92500"/>
          </a:bodyPr>
          <a:lstStyle/>
          <a:p>
            <a:pPr marL="514350" indent="-514350">
              <a:buAutoNum type="arabicPeriod" startAt="2"/>
            </a:pPr>
            <a:r>
              <a:rPr lang="en-US" sz="2900" b="1" dirty="0">
                <a:latin typeface="Times New Roman"/>
                <a:cs typeface="Times New Roman"/>
              </a:rPr>
              <a:t>Frequency Selective Fading:</a:t>
            </a:r>
          </a:p>
          <a:p>
            <a:pPr marL="571500" indent="-571500">
              <a:buFont typeface="+mj-lt"/>
              <a:buAutoNum type="romanLcPeriod"/>
            </a:pPr>
            <a:r>
              <a:rPr lang="en-US" b="0" i="0" dirty="0">
                <a:solidFill>
                  <a:srgbClr val="444444"/>
                </a:solidFill>
                <a:effectLst/>
                <a:latin typeface="Arial" panose="020B0604020202020204" pitchFamily="34" charset="0"/>
              </a:rPr>
              <a:t> </a:t>
            </a:r>
            <a:r>
              <a:rPr lang="en-US" sz="3100" b="0" i="0" dirty="0">
                <a:solidFill>
                  <a:srgbClr val="444444"/>
                </a:solidFill>
                <a:effectLst/>
                <a:latin typeface="Times New Roman"/>
                <a:cs typeface="Times New Roman"/>
              </a:rPr>
              <a:t>FSF refers to multipath fading when the selected frequency component of the signal is affected.</a:t>
            </a:r>
          </a:p>
          <a:p>
            <a:pPr marL="571500" indent="-571500">
              <a:buFont typeface="+mj-lt"/>
              <a:buAutoNum type="romanLcPeriod"/>
            </a:pPr>
            <a:r>
              <a:rPr lang="en-US" sz="3100" b="0" i="0" dirty="0">
                <a:solidFill>
                  <a:srgbClr val="444444"/>
                </a:solidFill>
                <a:effectLst/>
                <a:latin typeface="Times New Roman"/>
                <a:cs typeface="Times New Roman"/>
              </a:rPr>
              <a:t>It means selected frequencies will have increased error and attenuation as compared to other frequency components of the same signal. </a:t>
            </a:r>
          </a:p>
          <a:p>
            <a:pPr marL="571500" indent="-571500">
              <a:buFont typeface="+mj-lt"/>
              <a:buAutoNum type="romanLcPeriod"/>
            </a:pPr>
            <a:r>
              <a:rPr lang="en-US" sz="3100" dirty="0">
                <a:solidFill>
                  <a:srgbClr val="444444"/>
                </a:solidFill>
                <a:latin typeface="Times New Roman"/>
                <a:cs typeface="Times New Roman"/>
              </a:rPr>
              <a:t>Caused due to time dispersion due to delayed multipath components.</a:t>
            </a:r>
          </a:p>
          <a:p>
            <a:pPr marL="571500" indent="-571500">
              <a:buFont typeface="+mj-lt"/>
              <a:buAutoNum type="romanLcPeriod"/>
            </a:pPr>
            <a:r>
              <a:rPr lang="en-US" sz="3100" b="0" i="0" dirty="0">
                <a:solidFill>
                  <a:srgbClr val="444444"/>
                </a:solidFill>
                <a:effectLst/>
                <a:latin typeface="Times New Roman"/>
                <a:cs typeface="Times New Roman"/>
              </a:rPr>
              <a:t>Occurs in </a:t>
            </a:r>
            <a:r>
              <a:rPr lang="en-US" sz="3100" b="0" i="0" dirty="0" err="1">
                <a:solidFill>
                  <a:srgbClr val="444444"/>
                </a:solidFill>
                <a:effectLst/>
                <a:latin typeface="Times New Roman"/>
                <a:cs typeface="Times New Roman"/>
              </a:rPr>
              <a:t>rx</a:t>
            </a:r>
            <a:r>
              <a:rPr lang="en-US" sz="3100" b="0" i="0" dirty="0">
                <a:solidFill>
                  <a:srgbClr val="444444"/>
                </a:solidFill>
                <a:effectLst/>
                <a:latin typeface="Times New Roman"/>
                <a:cs typeface="Times New Roman"/>
              </a:rPr>
              <a:t> signal if channel has constant gain and linear phased respon</a:t>
            </a:r>
            <a:r>
              <a:rPr lang="en-US" sz="3100" dirty="0">
                <a:solidFill>
                  <a:srgbClr val="444444"/>
                </a:solidFill>
                <a:latin typeface="Times New Roman"/>
                <a:cs typeface="Times New Roman"/>
              </a:rPr>
              <a:t>se over </a:t>
            </a:r>
            <a:r>
              <a:rPr lang="en-US" sz="3100" dirty="0" err="1">
                <a:solidFill>
                  <a:srgbClr val="444444"/>
                </a:solidFill>
                <a:latin typeface="Times New Roman"/>
                <a:cs typeface="Times New Roman"/>
              </a:rPr>
              <a:t>Bchannel</a:t>
            </a:r>
            <a:r>
              <a:rPr lang="en-US" sz="3100" dirty="0">
                <a:solidFill>
                  <a:srgbClr val="444444"/>
                </a:solidFill>
                <a:latin typeface="Times New Roman"/>
                <a:cs typeface="Times New Roman"/>
              </a:rPr>
              <a:t>&lt;Bsignal</a:t>
            </a:r>
            <a:endParaRPr lang="en-US" sz="3100" b="0" i="0" dirty="0">
              <a:solidFill>
                <a:srgbClr val="444444"/>
              </a:solidFill>
              <a:effectLst/>
              <a:latin typeface="Times New Roman"/>
              <a:cs typeface="Times New Roman"/>
            </a:endParaRPr>
          </a:p>
          <a:p>
            <a:pPr marL="571500" indent="-571500">
              <a:buFont typeface="+mj-lt"/>
              <a:buAutoNum type="romanLcPeriod"/>
            </a:pPr>
            <a:endParaRPr lang="en-US" b="1" dirty="0"/>
          </a:p>
        </p:txBody>
      </p:sp>
    </p:spTree>
    <p:extLst>
      <p:ext uri="{BB962C8B-B14F-4D97-AF65-F5344CB8AC3E}">
        <p14:creationId xmlns:p14="http://schemas.microsoft.com/office/powerpoint/2010/main" val="4125846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19847"/>
            <a:ext cx="7620000" cy="5780953"/>
          </a:xfrm>
        </p:spPr>
        <p:txBody>
          <a:bodyPr>
            <a:normAutofit fontScale="92500" lnSpcReduction="20000"/>
          </a:bodyPr>
          <a:lstStyle/>
          <a:p>
            <a:r>
              <a:rPr lang="en-IN" sz="2600" b="1" dirty="0">
                <a:latin typeface="Times New Roman" panose="02020603050405020304" pitchFamily="18" charset="0"/>
                <a:cs typeface="Times New Roman" panose="02020603050405020304" pitchFamily="18" charset="0"/>
              </a:rPr>
              <a:t>Rayleigh &amp; Rician Fading Channels: </a:t>
            </a:r>
            <a:r>
              <a:rPr lang="en-IN" sz="2600" dirty="0">
                <a:latin typeface="Times New Roman" panose="02020603050405020304" pitchFamily="18" charset="0"/>
                <a:cs typeface="Times New Roman" panose="02020603050405020304" pitchFamily="18" charset="0"/>
              </a:rPr>
              <a:t>These </a:t>
            </a:r>
            <a:r>
              <a:rPr lang="en-IN" sz="2600" dirty="0" err="1">
                <a:latin typeface="Times New Roman" panose="02020603050405020304" pitchFamily="18" charset="0"/>
                <a:cs typeface="Times New Roman" panose="02020603050405020304" pitchFamily="18" charset="0"/>
              </a:rPr>
              <a:t>fadings</a:t>
            </a:r>
            <a:r>
              <a:rPr lang="en-IN" sz="2600" dirty="0">
                <a:latin typeface="Times New Roman" panose="02020603050405020304" pitchFamily="18" charset="0"/>
                <a:cs typeface="Times New Roman" panose="02020603050405020304" pitchFamily="18" charset="0"/>
              </a:rPr>
              <a:t> occur to a signal as a result of effect of propagation channel.</a:t>
            </a:r>
          </a:p>
          <a:p>
            <a:r>
              <a:rPr lang="en-IN" sz="2600" b="1" dirty="0">
                <a:latin typeface="Times New Roman" panose="02020603050405020304" pitchFamily="18" charset="0"/>
                <a:cs typeface="Times New Roman" panose="02020603050405020304" pitchFamily="18" charset="0"/>
              </a:rPr>
              <a:t>Rayleigh Fading Channel: </a:t>
            </a:r>
            <a:endParaRPr lang="en-IN" sz="2600" dirty="0">
              <a:latin typeface="Times New Roman" panose="02020603050405020304" pitchFamily="18" charset="0"/>
              <a:cs typeface="Times New Roman" panose="02020603050405020304" pitchFamily="18" charset="0"/>
            </a:endParaRPr>
          </a:p>
          <a:p>
            <a:r>
              <a:rPr lang="en-IN" sz="2600" dirty="0">
                <a:latin typeface="Times New Roman" panose="02020603050405020304" pitchFamily="18" charset="0"/>
                <a:cs typeface="Times New Roman" panose="02020603050405020304" pitchFamily="18" charset="0"/>
              </a:rPr>
              <a:t>The phenomenon is due to multipath propagation of the signal.</a:t>
            </a:r>
          </a:p>
          <a:p>
            <a:r>
              <a:rPr lang="en-IN" sz="2600" dirty="0">
                <a:latin typeface="Times New Roman" panose="02020603050405020304" pitchFamily="18" charset="0"/>
                <a:cs typeface="Times New Roman" panose="02020603050405020304" pitchFamily="18" charset="0"/>
              </a:rPr>
              <a:t>All the signals are NLOS signals  and there is no dominant direct path.</a:t>
            </a:r>
          </a:p>
          <a:p>
            <a:r>
              <a:rPr lang="en-IN" sz="2600" dirty="0">
                <a:latin typeface="Times New Roman" panose="02020603050405020304" pitchFamily="18" charset="0"/>
                <a:cs typeface="Times New Roman" panose="02020603050405020304" pitchFamily="18" charset="0"/>
              </a:rPr>
              <a:t>Signals from all the paths have comparable signal strengths.</a:t>
            </a:r>
          </a:p>
          <a:p>
            <a:r>
              <a:rPr lang="en-IN" sz="2600" dirty="0">
                <a:latin typeface="Times New Roman" panose="02020603050405020304" pitchFamily="18" charset="0"/>
                <a:cs typeface="Times New Roman" panose="02020603050405020304" pitchFamily="18" charset="0"/>
              </a:rPr>
              <a:t>The instantaneous received power seen by a moving antenna becomes a random variable depending on the location of the antenna. </a:t>
            </a:r>
          </a:p>
          <a:p>
            <a:r>
              <a:rPr lang="en-IN" sz="2600" dirty="0">
                <a:latin typeface="Times New Roman" panose="02020603050405020304" pitchFamily="18" charset="0"/>
                <a:cs typeface="Times New Roman" panose="02020603050405020304" pitchFamily="18" charset="0"/>
              </a:rPr>
              <a:t>It is assumed that variation in signal passed through Rayleigh fading channel would follow Rayleigh distribution.</a:t>
            </a:r>
          </a:p>
          <a:p>
            <a:pPr marL="628650" indent="-514350">
              <a:buFont typeface="+mj-lt"/>
              <a:buAutoNum type="romanLcPeriod"/>
            </a:pPr>
            <a:endParaRPr lang="en-US" sz="2600" dirty="0">
              <a:latin typeface="Times New Roman"/>
              <a:cs typeface="Times New Roman"/>
            </a:endParaRPr>
          </a:p>
          <a:p>
            <a:pPr marL="628650" indent="-514350">
              <a:buFont typeface="+mj-lt"/>
              <a:buAutoNum type="romanLcPeriod"/>
            </a:pPr>
            <a:endParaRPr lang="en-US" dirty="0">
              <a:latin typeface="Times New Roman"/>
              <a:cs typeface="Times New Roman"/>
            </a:endParaRPr>
          </a:p>
          <a:p>
            <a:pPr>
              <a:buFont typeface="Wingdings" charset="2"/>
              <a:buChar char="Ø"/>
            </a:pPr>
            <a:endParaRPr lang="en-US" b="1" dirty="0">
              <a:latin typeface="Times New Roman"/>
              <a:cs typeface="Times New Roman"/>
            </a:endParaRPr>
          </a:p>
        </p:txBody>
      </p:sp>
    </p:spTree>
    <p:extLst>
      <p:ext uri="{BB962C8B-B14F-4D97-AF65-F5344CB8AC3E}">
        <p14:creationId xmlns:p14="http://schemas.microsoft.com/office/powerpoint/2010/main" val="27104774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14019"/>
            <a:ext cx="7620000" cy="5886781"/>
          </a:xfrm>
        </p:spPr>
        <p:txBody>
          <a:bodyPr>
            <a:normAutofit/>
          </a:bodyPr>
          <a:lstStyle/>
          <a:p>
            <a:r>
              <a:rPr lang="en-IN" sz="2000" dirty="0">
                <a:latin typeface="Times New Roman" panose="02020603050405020304" pitchFamily="18" charset="0"/>
                <a:cs typeface="Times New Roman" panose="02020603050405020304" pitchFamily="18" charset="0"/>
              </a:rPr>
              <a:t>vi.  Signal passing through this channel follows Rayleigh distribution.</a:t>
            </a:r>
          </a:p>
          <a:p>
            <a:r>
              <a:rPr lang="en-IN" sz="2000" dirty="0">
                <a:latin typeface="Times New Roman" panose="02020603050405020304" pitchFamily="18" charset="0"/>
                <a:cs typeface="Times New Roman" panose="02020603050405020304" pitchFamily="18" charset="0"/>
              </a:rPr>
              <a:t>vii.   It is caused due to reflected and scattered waves.</a:t>
            </a:r>
          </a:p>
          <a:p>
            <a:r>
              <a:rPr lang="en-IN" sz="2000" dirty="0">
                <a:latin typeface="Times New Roman" panose="02020603050405020304" pitchFamily="18" charset="0"/>
                <a:cs typeface="Times New Roman" panose="02020603050405020304" pitchFamily="18" charset="0"/>
              </a:rPr>
              <a:t>viii.  When there is no LOS (line of sight) path available between transmitter and receiver, received signal obey Rayleigh Distribution. It is assumed that the magnitude of a signal that has passed through a Tx (transmitter medium) will vary randomly or fade according to Rayleigh Distribution.</a:t>
            </a:r>
          </a:p>
          <a:p>
            <a:r>
              <a:rPr lang="en-IN" sz="2000" dirty="0">
                <a:latin typeface="Times New Roman" panose="02020603050405020304" pitchFamily="18" charset="0"/>
                <a:cs typeface="Times New Roman" panose="02020603050405020304" pitchFamily="18" charset="0"/>
              </a:rPr>
              <a:t>Graphical representation of Rayleigh Probability Density function (P.D.F). : </a:t>
            </a:r>
          </a:p>
          <a:p>
            <a:pPr marL="114300" indent="0">
              <a:buNone/>
            </a:pPr>
            <a:endParaRPr lang="en-US" sz="2000" dirty="0">
              <a:latin typeface="Times New Roman" panose="02020603050405020304" pitchFamily="18" charset="0"/>
              <a:cs typeface="Times New Roman" panose="02020603050405020304" pitchFamily="18" charset="0"/>
            </a:endParaRPr>
          </a:p>
        </p:txBody>
      </p:sp>
      <p:pic>
        <p:nvPicPr>
          <p:cNvPr id="4" name="Picture 3" descr="Image_005.gi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8813" y="3474478"/>
            <a:ext cx="4629150" cy="2648399"/>
          </a:xfrm>
          <a:prstGeom prst="rect">
            <a:avLst/>
          </a:prstGeom>
        </p:spPr>
      </p:pic>
    </p:spTree>
    <p:extLst>
      <p:ext uri="{BB962C8B-B14F-4D97-AF65-F5344CB8AC3E}">
        <p14:creationId xmlns:p14="http://schemas.microsoft.com/office/powerpoint/2010/main" val="25454541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introduction-to-wireless-fading-channels-18-728.jpg"/>
          <p:cNvPicPr>
            <a:picLocks noGrp="1" noChangeAspect="1"/>
          </p:cNvPicPr>
          <p:nvPr>
            <p:ph idx="1"/>
          </p:nvPr>
        </p:nvPicPr>
        <p:blipFill rotWithShape="1">
          <a:blip r:embed="rId2">
            <a:extLst>
              <a:ext uri="{28A0092B-C50C-407E-A947-70E740481C1C}">
                <a14:useLocalDpi xmlns:a14="http://schemas.microsoft.com/office/drawing/2010/main" val="0"/>
              </a:ext>
            </a:extLst>
          </a:blip>
          <a:srcRect t="4558" b="17766"/>
          <a:stretch/>
        </p:blipFill>
        <p:spPr>
          <a:xfrm>
            <a:off x="457200" y="634966"/>
            <a:ext cx="7620000" cy="5457674"/>
          </a:xfrm>
        </p:spPr>
      </p:pic>
    </p:spTree>
    <p:extLst>
      <p:ext uri="{BB962C8B-B14F-4D97-AF65-F5344CB8AC3E}">
        <p14:creationId xmlns:p14="http://schemas.microsoft.com/office/powerpoint/2010/main" val="32969838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61738"/>
            <a:ext cx="7620000" cy="5539063"/>
          </a:xfrm>
        </p:spPr>
        <p:txBody>
          <a:bodyPr/>
          <a:lstStyle/>
          <a:p>
            <a:pPr>
              <a:buFont typeface="Wingdings" charset="2"/>
              <a:buChar char="Ø"/>
            </a:pPr>
            <a:r>
              <a:rPr lang="en-US" sz="2700" dirty="0">
                <a:latin typeface="Times New Roman"/>
                <a:cs typeface="Times New Roman"/>
              </a:rPr>
              <a:t> </a:t>
            </a:r>
            <a:r>
              <a:rPr lang="en-US" sz="2700" b="1" dirty="0" err="1">
                <a:latin typeface="Times New Roman"/>
                <a:cs typeface="Times New Roman"/>
              </a:rPr>
              <a:t>Rician</a:t>
            </a:r>
            <a:r>
              <a:rPr lang="en-US" sz="2700" b="1" dirty="0">
                <a:latin typeface="Times New Roman"/>
                <a:cs typeface="Times New Roman"/>
              </a:rPr>
              <a:t> Fading Channel: </a:t>
            </a:r>
          </a:p>
          <a:p>
            <a:r>
              <a:rPr lang="en-IN" sz="2300" dirty="0">
                <a:latin typeface="Times New Roman" panose="02020603050405020304" pitchFamily="18" charset="0"/>
                <a:cs typeface="Times New Roman" panose="02020603050405020304" pitchFamily="18" charset="0"/>
              </a:rPr>
              <a:t>This phenomenon is  due to multipath propagation of the signal.</a:t>
            </a:r>
          </a:p>
          <a:p>
            <a:r>
              <a:rPr lang="en-IN" sz="2300" dirty="0">
                <a:latin typeface="Times New Roman" panose="02020603050405020304" pitchFamily="18" charset="0"/>
                <a:cs typeface="Times New Roman" panose="02020603050405020304" pitchFamily="18" charset="0"/>
              </a:rPr>
              <a:t>In this case there is partially scattered field.</a:t>
            </a:r>
          </a:p>
          <a:p>
            <a:r>
              <a:rPr lang="en-IN" sz="2300" dirty="0">
                <a:latin typeface="Times New Roman" panose="02020603050405020304" pitchFamily="18" charset="0"/>
                <a:cs typeface="Times New Roman" panose="02020603050405020304" pitchFamily="18" charset="0"/>
              </a:rPr>
              <a:t>One dominant signal, others are  weaker.</a:t>
            </a:r>
          </a:p>
          <a:p>
            <a:r>
              <a:rPr lang="en-IN" sz="2300" dirty="0">
                <a:latin typeface="Times New Roman" panose="02020603050405020304" pitchFamily="18" charset="0"/>
                <a:cs typeface="Times New Roman" panose="02020603050405020304" pitchFamily="18" charset="0"/>
              </a:rPr>
              <a:t>When direct LOS path is available between transmitter and receiver, the received signal obey Rician Distribution. </a:t>
            </a:r>
          </a:p>
          <a:p>
            <a:pPr marL="628650" indent="-514350">
              <a:buFont typeface="+mj-lt"/>
              <a:buAutoNum type="romanLcPeriod"/>
            </a:pPr>
            <a:endParaRPr lang="en-US" sz="2300" b="1" dirty="0">
              <a:latin typeface="Times New Roman" panose="02020603050405020304" pitchFamily="18" charset="0"/>
              <a:cs typeface="Times New Roman" panose="02020603050405020304" pitchFamily="18" charset="0"/>
            </a:endParaRPr>
          </a:p>
        </p:txBody>
      </p:sp>
      <p:pic>
        <p:nvPicPr>
          <p:cNvPr id="6" name="Picture 5" descr="6-Figure6-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3013" y="4129088"/>
            <a:ext cx="5702070" cy="2033588"/>
          </a:xfrm>
          <a:prstGeom prst="rect">
            <a:avLst/>
          </a:prstGeom>
        </p:spPr>
      </p:pic>
    </p:spTree>
    <p:extLst>
      <p:ext uri="{BB962C8B-B14F-4D97-AF65-F5344CB8AC3E}">
        <p14:creationId xmlns:p14="http://schemas.microsoft.com/office/powerpoint/2010/main" val="37705746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ician+fading+If+number+of+such+stochastic+component+large&amp;+none+are+dominant.+The+variables+xr+(t)+and+yr(t)+resulting+from+their+addition..jpg"/>
          <p:cNvPicPr>
            <a:picLocks noGrp="1" noChangeAspect="1"/>
          </p:cNvPicPr>
          <p:nvPr>
            <p:ph idx="1"/>
          </p:nvPr>
        </p:nvPicPr>
        <p:blipFill rotWithShape="1">
          <a:blip r:embed="rId2">
            <a:extLst>
              <a:ext uri="{28A0092B-C50C-407E-A947-70E740481C1C}">
                <a14:useLocalDpi xmlns:a14="http://schemas.microsoft.com/office/drawing/2010/main" val="0"/>
              </a:ext>
            </a:extLst>
          </a:blip>
          <a:srcRect t="3718" b="8000"/>
          <a:stretch/>
        </p:blipFill>
        <p:spPr>
          <a:xfrm>
            <a:off x="457200" y="166301"/>
            <a:ext cx="7620000" cy="6234500"/>
          </a:xfrm>
        </p:spPr>
      </p:pic>
    </p:spTree>
    <p:extLst>
      <p:ext uri="{BB962C8B-B14F-4D97-AF65-F5344CB8AC3E}">
        <p14:creationId xmlns:p14="http://schemas.microsoft.com/office/powerpoint/2010/main" val="23849326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500" b="1" dirty="0">
                <a:latin typeface="Times New Roman"/>
                <a:cs typeface="Times New Roman"/>
              </a:rPr>
              <a:t>BER performance in fading Channels:</a:t>
            </a:r>
          </a:p>
        </p:txBody>
      </p:sp>
      <p:sp>
        <p:nvSpPr>
          <p:cNvPr id="3" name="Content Placeholder 2"/>
          <p:cNvSpPr>
            <a:spLocks noGrp="1"/>
          </p:cNvSpPr>
          <p:nvPr>
            <p:ph idx="1"/>
          </p:nvPr>
        </p:nvSpPr>
        <p:spPr/>
        <p:txBody>
          <a:bodyPr/>
          <a:lstStyle/>
          <a:p>
            <a:r>
              <a:rPr lang="en-US" dirty="0"/>
              <a:t>BER stands for Bit Error Rate per bit transferred.</a:t>
            </a:r>
          </a:p>
          <a:p>
            <a:r>
              <a:rPr lang="en-US" dirty="0"/>
              <a:t>BER is a function of </a:t>
            </a:r>
            <a:r>
              <a:rPr lang="en-US" dirty="0" err="1"/>
              <a:t>Eb</a:t>
            </a:r>
            <a:r>
              <a:rPr lang="en-US" dirty="0"/>
              <a:t>/No and is plotted for various fading channel.</a:t>
            </a:r>
          </a:p>
          <a:p>
            <a:r>
              <a:rPr lang="en-US" dirty="0" err="1"/>
              <a:t>Eb</a:t>
            </a:r>
            <a:r>
              <a:rPr lang="en-US" dirty="0"/>
              <a:t> is average energy per bit, No is noise power density.</a:t>
            </a:r>
          </a:p>
          <a:p>
            <a:r>
              <a:rPr lang="en-US" dirty="0"/>
              <a:t>As BER decreases ,</a:t>
            </a:r>
            <a:r>
              <a:rPr lang="en-US" dirty="0" err="1"/>
              <a:t>Eb</a:t>
            </a:r>
            <a:r>
              <a:rPr lang="en-US" dirty="0"/>
              <a:t>/No increases</a:t>
            </a:r>
          </a:p>
          <a:p>
            <a:endParaRPr lang="en-US" dirty="0"/>
          </a:p>
        </p:txBody>
      </p:sp>
      <p:pic>
        <p:nvPicPr>
          <p:cNvPr id="8" name="Picture 7" descr="Screenshot 2020-08-31 at 8.07.23 PM.png"/>
          <p:cNvPicPr>
            <a:picLocks noChangeAspect="1"/>
          </p:cNvPicPr>
          <p:nvPr/>
        </p:nvPicPr>
        <p:blipFill rotWithShape="1">
          <a:blip r:embed="rId2">
            <a:extLst>
              <a:ext uri="{28A0092B-C50C-407E-A947-70E740481C1C}">
                <a14:useLocalDpi xmlns:a14="http://schemas.microsoft.com/office/drawing/2010/main" val="0"/>
              </a:ext>
            </a:extLst>
          </a:blip>
          <a:srcRect l="58536" t="39468" r="19140" b="30904"/>
          <a:stretch/>
        </p:blipFill>
        <p:spPr>
          <a:xfrm>
            <a:off x="1708594" y="4021444"/>
            <a:ext cx="5231623" cy="2379355"/>
          </a:xfrm>
          <a:prstGeom prst="rect">
            <a:avLst/>
          </a:prstGeom>
        </p:spPr>
      </p:pic>
    </p:spTree>
    <p:extLst>
      <p:ext uri="{BB962C8B-B14F-4D97-AF65-F5344CB8AC3E}">
        <p14:creationId xmlns:p14="http://schemas.microsoft.com/office/powerpoint/2010/main" val="35259194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16384"/>
            <a:ext cx="7620000" cy="5584416"/>
          </a:xfrm>
        </p:spPr>
        <p:txBody>
          <a:bodyPr/>
          <a:lstStyle/>
          <a:p>
            <a:r>
              <a:rPr lang="en-US" sz="3000" b="1" dirty="0">
                <a:latin typeface="Times New Roman"/>
                <a:cs typeface="Times New Roman"/>
              </a:rPr>
              <a:t>Conclusion:</a:t>
            </a:r>
            <a:endParaRPr lang="en-US" dirty="0">
              <a:latin typeface="Times New Roman"/>
              <a:cs typeface="Times New Roman"/>
            </a:endParaRPr>
          </a:p>
          <a:p>
            <a:pPr marL="628650" indent="-514350">
              <a:buFont typeface="+mj-lt"/>
              <a:buAutoNum type="romanLcPeriod"/>
            </a:pPr>
            <a:r>
              <a:rPr lang="en-US" dirty="0">
                <a:latin typeface="Times New Roman"/>
                <a:cs typeface="Times New Roman"/>
              </a:rPr>
              <a:t>AWGN exhibit good performance. (Additive White Gaussian  Noise channel)</a:t>
            </a:r>
          </a:p>
          <a:p>
            <a:pPr marL="628650" indent="-514350">
              <a:buFont typeface="+mj-lt"/>
              <a:buAutoNum type="romanLcPeriod"/>
            </a:pPr>
            <a:r>
              <a:rPr lang="en-US" dirty="0" err="1">
                <a:latin typeface="Times New Roman"/>
                <a:cs typeface="Times New Roman"/>
              </a:rPr>
              <a:t>Rician</a:t>
            </a:r>
            <a:r>
              <a:rPr lang="en-US" dirty="0">
                <a:latin typeface="Times New Roman"/>
                <a:cs typeface="Times New Roman"/>
              </a:rPr>
              <a:t> fading good performance.</a:t>
            </a:r>
          </a:p>
          <a:p>
            <a:pPr marL="628650" indent="-514350">
              <a:buFont typeface="+mj-lt"/>
              <a:buAutoNum type="romanLcPeriod"/>
            </a:pPr>
            <a:r>
              <a:rPr lang="en-US" dirty="0">
                <a:latin typeface="Times New Roman"/>
                <a:cs typeface="Times New Roman"/>
              </a:rPr>
              <a:t>Rayleigh fading bad performance.</a:t>
            </a:r>
          </a:p>
          <a:p>
            <a:pPr marL="628650" indent="-514350">
              <a:buFont typeface="+mj-lt"/>
              <a:buAutoNum type="romanLcPeriod"/>
            </a:pPr>
            <a:r>
              <a:rPr lang="en-US" dirty="0">
                <a:latin typeface="Times New Roman"/>
                <a:cs typeface="Times New Roman"/>
              </a:rPr>
              <a:t>Flat fading poor performance.</a:t>
            </a:r>
          </a:p>
          <a:p>
            <a:pPr marL="628650" indent="-514350">
              <a:buFont typeface="+mj-lt"/>
              <a:buAutoNum type="romanLcPeriod"/>
            </a:pPr>
            <a:endParaRPr lang="en-US" dirty="0"/>
          </a:p>
        </p:txBody>
      </p:sp>
    </p:spTree>
    <p:extLst>
      <p:ext uri="{BB962C8B-B14F-4D97-AF65-F5344CB8AC3E}">
        <p14:creationId xmlns:p14="http://schemas.microsoft.com/office/powerpoint/2010/main" val="31283799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6048"/>
            <a:ext cx="8229600" cy="578442"/>
          </a:xfrm>
        </p:spPr>
        <p:txBody>
          <a:bodyPr>
            <a:normAutofit fontScale="90000"/>
          </a:bodyPr>
          <a:lstStyle/>
          <a:p>
            <a:r>
              <a:rPr lang="en-US" dirty="0"/>
              <a:t>Diversity Modeling</a:t>
            </a:r>
          </a:p>
        </p:txBody>
      </p:sp>
      <p:sp>
        <p:nvSpPr>
          <p:cNvPr id="3" name="Content Placeholder 2"/>
          <p:cNvSpPr>
            <a:spLocks noGrp="1"/>
          </p:cNvSpPr>
          <p:nvPr>
            <p:ph idx="1"/>
          </p:nvPr>
        </p:nvSpPr>
        <p:spPr>
          <a:xfrm>
            <a:off x="457200" y="917963"/>
            <a:ext cx="8229600" cy="5369453"/>
          </a:xfrm>
        </p:spPr>
        <p:txBody>
          <a:bodyPr>
            <a:noAutofit/>
          </a:bodyPr>
          <a:lstStyle/>
          <a:p>
            <a:r>
              <a:rPr lang="en-US" sz="2800" dirty="0">
                <a:latin typeface="Times New Roman"/>
                <a:cs typeface="Times New Roman"/>
              </a:rPr>
              <a:t>This was introduced to compare and overcome deep fading.</a:t>
            </a:r>
          </a:p>
          <a:p>
            <a:r>
              <a:rPr lang="en-US" sz="2800" dirty="0">
                <a:latin typeface="Times New Roman"/>
                <a:cs typeface="Times New Roman"/>
              </a:rPr>
              <a:t>As in deep fading if we have single channel  the connection will get interrupted or link will failed  due to fading. Hence, to remove this problem.</a:t>
            </a:r>
          </a:p>
          <a:p>
            <a:r>
              <a:rPr lang="en-US" sz="2800" dirty="0">
                <a:latin typeface="Times New Roman"/>
                <a:cs typeface="Times New Roman"/>
              </a:rPr>
              <a:t>Multiple links are applied between transmitter and receiver which not affect communication even after fading.</a:t>
            </a:r>
          </a:p>
          <a:p>
            <a:r>
              <a:rPr lang="en-US" sz="2800" dirty="0">
                <a:latin typeface="Times New Roman"/>
                <a:cs typeface="Times New Roman"/>
              </a:rPr>
              <a:t>Diversity is divided into two parts:</a:t>
            </a:r>
          </a:p>
          <a:p>
            <a:pPr marL="514350" indent="-514350">
              <a:buFont typeface="+mj-lt"/>
              <a:buAutoNum type="alphaLcParenR"/>
            </a:pPr>
            <a:r>
              <a:rPr lang="en-US" sz="2800" dirty="0">
                <a:latin typeface="Times New Roman"/>
                <a:cs typeface="Times New Roman"/>
              </a:rPr>
              <a:t>Microscopic Diversity</a:t>
            </a:r>
          </a:p>
          <a:p>
            <a:pPr marL="514350" indent="-514350">
              <a:buFont typeface="+mj-lt"/>
              <a:buAutoNum type="alphaLcParenR"/>
            </a:pPr>
            <a:r>
              <a:rPr lang="en-US" sz="2800" dirty="0">
                <a:latin typeface="Times New Roman"/>
                <a:cs typeface="Times New Roman"/>
              </a:rPr>
              <a:t>Macroscopic Diversity</a:t>
            </a:r>
          </a:p>
          <a:p>
            <a:endParaRPr lang="en-US" sz="2800" dirty="0">
              <a:latin typeface="Times New Roman"/>
              <a:cs typeface="Times New Roman"/>
            </a:endParaRPr>
          </a:p>
        </p:txBody>
      </p:sp>
    </p:spTree>
    <p:extLst>
      <p:ext uri="{BB962C8B-B14F-4D97-AF65-F5344CB8AC3E}">
        <p14:creationId xmlns:p14="http://schemas.microsoft.com/office/powerpoint/2010/main" val="25176154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66466"/>
            <a:ext cx="8229600" cy="5658675"/>
          </a:xfrm>
        </p:spPr>
        <p:txBody>
          <a:bodyPr>
            <a:noAutofit/>
          </a:bodyPr>
          <a:lstStyle/>
          <a:p>
            <a:pPr marL="514350" indent="-514350">
              <a:buFont typeface="+mj-lt"/>
              <a:buAutoNum type="alphaLcParenR"/>
            </a:pPr>
            <a:r>
              <a:rPr lang="en-US" sz="2400" b="1" dirty="0">
                <a:latin typeface="Times New Roman"/>
                <a:cs typeface="Times New Roman"/>
              </a:rPr>
              <a:t>Microscopic:</a:t>
            </a:r>
            <a:r>
              <a:rPr lang="en-US" sz="2400" dirty="0">
                <a:latin typeface="Times New Roman"/>
                <a:cs typeface="Times New Roman"/>
              </a:rPr>
              <a:t> </a:t>
            </a:r>
          </a:p>
          <a:p>
            <a:r>
              <a:rPr lang="en-US" sz="2400" dirty="0">
                <a:latin typeface="Times New Roman"/>
                <a:cs typeface="Times New Roman"/>
              </a:rPr>
              <a:t>Small signal fading can be minimized by this technique.</a:t>
            </a:r>
          </a:p>
          <a:p>
            <a:r>
              <a:rPr lang="en-US" sz="2400" dirty="0">
                <a:latin typeface="Times New Roman"/>
                <a:cs typeface="Times New Roman"/>
              </a:rPr>
              <a:t>It can prevent small scale fading by using two antennas separated  by small distance.</a:t>
            </a:r>
          </a:p>
          <a:p>
            <a:r>
              <a:rPr lang="en-US" sz="2400" dirty="0">
                <a:latin typeface="Times New Roman"/>
                <a:cs typeface="Times New Roman"/>
              </a:rPr>
              <a:t>By selecting strong signal at all time a receiver can mitigate small scale fading.</a:t>
            </a:r>
          </a:p>
          <a:p>
            <a:pPr marL="514350" indent="-514350">
              <a:buAutoNum type="alphaLcParenR" startAt="2"/>
            </a:pPr>
            <a:r>
              <a:rPr lang="en-US" sz="2400" b="1" dirty="0">
                <a:latin typeface="Times New Roman"/>
                <a:cs typeface="Times New Roman"/>
              </a:rPr>
              <a:t>Macroscopic:</a:t>
            </a:r>
          </a:p>
          <a:p>
            <a:r>
              <a:rPr lang="en-US" sz="2400" dirty="0">
                <a:latin typeface="Times New Roman"/>
                <a:cs typeface="Times New Roman"/>
              </a:rPr>
              <a:t>In large scale fading , the signal strength reduces because of shadowing process.</a:t>
            </a:r>
          </a:p>
          <a:p>
            <a:r>
              <a:rPr lang="en-US" sz="2400" dirty="0">
                <a:latin typeface="Times New Roman"/>
                <a:cs typeface="Times New Roman"/>
              </a:rPr>
              <a:t>In this Base station separated by long distance by choosing Base station that is not shadowed (less deep fade) when compare to others the mobile unit can acquire a better signal to noise ratio in its forward path. Such contacting reduces large scale fading.</a:t>
            </a:r>
          </a:p>
        </p:txBody>
      </p:sp>
    </p:spTree>
    <p:extLst>
      <p:ext uri="{BB962C8B-B14F-4D97-AF65-F5344CB8AC3E}">
        <p14:creationId xmlns:p14="http://schemas.microsoft.com/office/powerpoint/2010/main" val="24945361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79042"/>
            <a:ext cx="8229600" cy="5447122"/>
          </a:xfrm>
        </p:spPr>
        <p:txBody>
          <a:bodyPr>
            <a:normAutofit/>
          </a:bodyPr>
          <a:lstStyle/>
          <a:p>
            <a:r>
              <a:rPr lang="en-US" sz="3000" b="1" dirty="0">
                <a:latin typeface="Times New Roman"/>
                <a:cs typeface="Times New Roman"/>
              </a:rPr>
              <a:t>Types of Diversity</a:t>
            </a:r>
            <a:r>
              <a:rPr lang="en-US" sz="3000" dirty="0">
                <a:latin typeface="Times New Roman"/>
                <a:cs typeface="Times New Roman"/>
              </a:rPr>
              <a:t>:</a:t>
            </a:r>
          </a:p>
          <a:p>
            <a:pPr marL="514350" indent="-514350">
              <a:buFont typeface="+mj-lt"/>
              <a:buAutoNum type="arabicPeriod"/>
            </a:pPr>
            <a:r>
              <a:rPr lang="en-US" sz="3000" dirty="0">
                <a:latin typeface="Times New Roman"/>
                <a:cs typeface="Times New Roman"/>
              </a:rPr>
              <a:t>Space Diversity Technique</a:t>
            </a:r>
          </a:p>
          <a:p>
            <a:pPr marL="514350" indent="-514350">
              <a:buFont typeface="+mj-lt"/>
              <a:buAutoNum type="arabicPeriod"/>
            </a:pPr>
            <a:r>
              <a:rPr lang="en-US" sz="3000" dirty="0">
                <a:latin typeface="Times New Roman"/>
                <a:cs typeface="Times New Roman"/>
              </a:rPr>
              <a:t>Polarization Diversity</a:t>
            </a:r>
          </a:p>
          <a:p>
            <a:pPr marL="514350" indent="-514350">
              <a:buFont typeface="+mj-lt"/>
              <a:buAutoNum type="arabicPeriod"/>
            </a:pPr>
            <a:r>
              <a:rPr lang="en-US" sz="3000" dirty="0">
                <a:latin typeface="Times New Roman"/>
                <a:cs typeface="Times New Roman"/>
              </a:rPr>
              <a:t>Frequency diversity</a:t>
            </a:r>
          </a:p>
          <a:p>
            <a:pPr marL="514350" indent="-514350">
              <a:buFont typeface="+mj-lt"/>
              <a:buAutoNum type="arabicPeriod"/>
            </a:pPr>
            <a:r>
              <a:rPr lang="en-US" sz="3000" dirty="0">
                <a:latin typeface="Times New Roman"/>
                <a:cs typeface="Times New Roman"/>
              </a:rPr>
              <a:t>Time Diversity</a:t>
            </a:r>
          </a:p>
        </p:txBody>
      </p:sp>
    </p:spTree>
    <p:extLst>
      <p:ext uri="{BB962C8B-B14F-4D97-AF65-F5344CB8AC3E}">
        <p14:creationId xmlns:p14="http://schemas.microsoft.com/office/powerpoint/2010/main" val="18126712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2694"/>
            <a:ext cx="8229600" cy="5673469"/>
          </a:xfrm>
        </p:spPr>
        <p:txBody>
          <a:bodyPr>
            <a:normAutofit/>
          </a:bodyPr>
          <a:lstStyle/>
          <a:p>
            <a:pPr marL="514350" indent="-514350">
              <a:buFont typeface="+mj-lt"/>
              <a:buAutoNum type="arabicPeriod"/>
            </a:pPr>
            <a:r>
              <a:rPr lang="en-US" sz="2400" b="1" dirty="0">
                <a:latin typeface="Times New Roman"/>
                <a:cs typeface="Times New Roman"/>
              </a:rPr>
              <a:t>Space Diversity</a:t>
            </a:r>
            <a:r>
              <a:rPr lang="en-US" sz="2400" dirty="0">
                <a:latin typeface="Times New Roman"/>
                <a:cs typeface="Times New Roman"/>
              </a:rPr>
              <a:t>: This is most conventional method in which we have several antennas which are separated  by different frequency band  and they reach to receiver. Even if one got </a:t>
            </a:r>
            <a:r>
              <a:rPr lang="en-US" sz="2400" dirty="0" err="1">
                <a:latin typeface="Times New Roman"/>
                <a:cs typeface="Times New Roman"/>
              </a:rPr>
              <a:t>defade</a:t>
            </a:r>
            <a:r>
              <a:rPr lang="en-US" sz="2400" dirty="0">
                <a:latin typeface="Times New Roman"/>
                <a:cs typeface="Times New Roman"/>
              </a:rPr>
              <a:t> rest will reach to receiver. There are 4 types of subdivision: </a:t>
            </a:r>
          </a:p>
          <a:p>
            <a:pPr marL="457200" indent="-457200">
              <a:buFont typeface="+mj-lt"/>
              <a:buAutoNum type="alphaLcPeriod"/>
            </a:pPr>
            <a:r>
              <a:rPr lang="en-US" sz="2400" dirty="0">
                <a:latin typeface="Times New Roman"/>
                <a:cs typeface="Times New Roman"/>
              </a:rPr>
              <a:t>Selection Diversity</a:t>
            </a:r>
          </a:p>
          <a:p>
            <a:pPr marL="457200" indent="-457200">
              <a:buFont typeface="+mj-lt"/>
              <a:buAutoNum type="alphaLcPeriod"/>
            </a:pPr>
            <a:r>
              <a:rPr lang="en-US" sz="2400" dirty="0">
                <a:latin typeface="Times New Roman"/>
                <a:cs typeface="Times New Roman"/>
              </a:rPr>
              <a:t>Feedback Diversity</a:t>
            </a:r>
          </a:p>
          <a:p>
            <a:pPr marL="457200" indent="-457200">
              <a:buFont typeface="+mj-lt"/>
              <a:buAutoNum type="alphaLcPeriod"/>
            </a:pPr>
            <a:r>
              <a:rPr lang="en-US" sz="2400" dirty="0">
                <a:latin typeface="Times New Roman"/>
                <a:cs typeface="Times New Roman"/>
              </a:rPr>
              <a:t>Maximal Diversity</a:t>
            </a:r>
          </a:p>
          <a:p>
            <a:pPr marL="457200" indent="-457200">
              <a:buFont typeface="+mj-lt"/>
              <a:buAutoNum type="alphaLcPeriod"/>
            </a:pPr>
            <a:r>
              <a:rPr lang="en-US" sz="2400" dirty="0">
                <a:latin typeface="Times New Roman"/>
                <a:cs typeface="Times New Roman"/>
              </a:rPr>
              <a:t>Equal Gain Diversity</a:t>
            </a:r>
          </a:p>
          <a:p>
            <a:pPr marL="514350" indent="-514350">
              <a:buFont typeface="+mj-lt"/>
              <a:buAutoNum type="arabicPeriod"/>
            </a:pPr>
            <a:endParaRPr lang="en-US" sz="2400" dirty="0">
              <a:latin typeface="Times New Roman"/>
              <a:cs typeface="Times New Roman"/>
            </a:endParaRPr>
          </a:p>
        </p:txBody>
      </p:sp>
      <p:pic>
        <p:nvPicPr>
          <p:cNvPr id="4" name="Picture 3" descr="Screenshot 2020-08-30 at 1.15.47 AM.png"/>
          <p:cNvPicPr>
            <a:picLocks noChangeAspect="1"/>
          </p:cNvPicPr>
          <p:nvPr/>
        </p:nvPicPr>
        <p:blipFill rotWithShape="1">
          <a:blip r:embed="rId2">
            <a:extLst>
              <a:ext uri="{28A0092B-C50C-407E-A947-70E740481C1C}">
                <a14:useLocalDpi xmlns:a14="http://schemas.microsoft.com/office/drawing/2010/main" val="0"/>
              </a:ext>
            </a:extLst>
          </a:blip>
          <a:srcRect l="29426" t="32246" r="15022" b="33869"/>
          <a:stretch/>
        </p:blipFill>
        <p:spPr>
          <a:xfrm>
            <a:off x="3696578" y="3432931"/>
            <a:ext cx="4990222" cy="2592634"/>
          </a:xfrm>
          <a:prstGeom prst="rect">
            <a:avLst/>
          </a:prstGeom>
        </p:spPr>
      </p:pic>
    </p:spTree>
    <p:extLst>
      <p:ext uri="{BB962C8B-B14F-4D97-AF65-F5344CB8AC3E}">
        <p14:creationId xmlns:p14="http://schemas.microsoft.com/office/powerpoint/2010/main" val="38591287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02994"/>
            <a:ext cx="8229600" cy="5623170"/>
          </a:xfrm>
        </p:spPr>
        <p:txBody>
          <a:bodyPr>
            <a:noAutofit/>
          </a:bodyPr>
          <a:lstStyle/>
          <a:p>
            <a:pPr marL="0" indent="0">
              <a:buNone/>
            </a:pPr>
            <a:r>
              <a:rPr lang="en-US" sz="2800" b="1" dirty="0">
                <a:latin typeface="Times New Roman"/>
                <a:cs typeface="Times New Roman"/>
              </a:rPr>
              <a:t>2. Polarization Diversity</a:t>
            </a:r>
            <a:r>
              <a:rPr lang="en-US" sz="2800" dirty="0">
                <a:latin typeface="Times New Roman"/>
                <a:cs typeface="Times New Roman"/>
              </a:rPr>
              <a:t>: This is used where signal is transmitted using pair  of polarized antenna and receiver by another pair of antennas then fading channel can be receiver. Hence this diversity is used. Circular and linear antenna are used.</a:t>
            </a:r>
          </a:p>
          <a:p>
            <a:pPr marL="0" indent="0">
              <a:buNone/>
            </a:pPr>
            <a:r>
              <a:rPr lang="en-US" sz="2800" b="1" dirty="0">
                <a:latin typeface="Times New Roman"/>
                <a:cs typeface="Times New Roman"/>
              </a:rPr>
              <a:t>3. Frequency Diversity</a:t>
            </a:r>
            <a:r>
              <a:rPr lang="en-US" sz="2800" dirty="0">
                <a:latin typeface="Times New Roman"/>
                <a:cs typeface="Times New Roman"/>
              </a:rPr>
              <a:t>: In this information is transferred/carried by many carrier frequency. Info is sent on carrier from transmitter end to receiver end.</a:t>
            </a:r>
          </a:p>
          <a:p>
            <a:pPr marL="0" indent="0">
              <a:buNone/>
            </a:pPr>
            <a:r>
              <a:rPr lang="en-US" sz="2800" b="1" dirty="0">
                <a:latin typeface="Times New Roman"/>
                <a:cs typeface="Times New Roman"/>
              </a:rPr>
              <a:t>4. Time Frequency</a:t>
            </a:r>
            <a:r>
              <a:rPr lang="en-US" sz="2800" dirty="0">
                <a:latin typeface="Times New Roman"/>
                <a:cs typeface="Times New Roman"/>
              </a:rPr>
              <a:t>: In time diversity information is transmitted  repeatedly after a specific time. It leads to repetition of signal also.</a:t>
            </a:r>
          </a:p>
        </p:txBody>
      </p:sp>
    </p:spTree>
    <p:extLst>
      <p:ext uri="{BB962C8B-B14F-4D97-AF65-F5344CB8AC3E}">
        <p14:creationId xmlns:p14="http://schemas.microsoft.com/office/powerpoint/2010/main" val="11383071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Adjacency">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Adjacency.thmx</Template>
  <TotalTime>7824</TotalTime>
  <Words>1717</Words>
  <Application>Microsoft Office PowerPoint</Application>
  <PresentationFormat>On-screen Show (4:3)</PresentationFormat>
  <Paragraphs>139</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Cambria</vt:lpstr>
      <vt:lpstr>Times New Roman</vt:lpstr>
      <vt:lpstr>Wingdings</vt:lpstr>
      <vt:lpstr>Adjacency</vt:lpstr>
      <vt:lpstr>Wireless Channel and Diversity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BER performance in fading Channels:</vt:lpstr>
      <vt:lpstr>PowerPoint Presentation</vt:lpstr>
      <vt:lpstr>Diversity Modeling</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Wireless Channel and Diversity</dc:title>
  <dc:creator>Prabhjeet Singh</dc:creator>
  <cp:lastModifiedBy>jaspinder singh</cp:lastModifiedBy>
  <cp:revision>70</cp:revision>
  <dcterms:created xsi:type="dcterms:W3CDTF">2020-08-28T14:45:01Z</dcterms:created>
  <dcterms:modified xsi:type="dcterms:W3CDTF">2020-10-07T15:51:46Z</dcterms:modified>
</cp:coreProperties>
</file>