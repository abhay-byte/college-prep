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10/5/2020</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10/5/2020</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10/5/2020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10/5/2020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10/5/2020</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F5B6-3AF8-41B2-9D4E-AD01907C6F07}"/>
              </a:ext>
            </a:extLst>
          </p:cNvPr>
          <p:cNvSpPr>
            <a:spLocks noGrp="1"/>
          </p:cNvSpPr>
          <p:nvPr>
            <p:ph type="ctrTitle"/>
          </p:nvPr>
        </p:nvSpPr>
        <p:spPr>
          <a:xfrm>
            <a:off x="1171852" y="1127464"/>
            <a:ext cx="9854214" cy="2301536"/>
          </a:xfrm>
        </p:spPr>
        <p:txBody>
          <a:bodyPr/>
          <a:lstStyle/>
          <a:p>
            <a:r>
              <a:rPr lang="en-US" dirty="0"/>
              <a:t>ADVANCED DATABASE ADMINISTRATION</a:t>
            </a:r>
            <a:endParaRPr lang="en-IN" dirty="0"/>
          </a:p>
        </p:txBody>
      </p:sp>
      <p:sp>
        <p:nvSpPr>
          <p:cNvPr id="3" name="Subtitle 2">
            <a:extLst>
              <a:ext uri="{FF2B5EF4-FFF2-40B4-BE49-F238E27FC236}">
                <a16:creationId xmlns:a16="http://schemas.microsoft.com/office/drawing/2014/main" id="{A85905C0-C90C-4664-97CE-3C92DF120DBB}"/>
              </a:ext>
            </a:extLst>
          </p:cNvPr>
          <p:cNvSpPr>
            <a:spLocks noGrp="1"/>
          </p:cNvSpPr>
          <p:nvPr>
            <p:ph type="subTitle" idx="1"/>
          </p:nvPr>
        </p:nvSpPr>
        <p:spPr>
          <a:xfrm>
            <a:off x="1168893" y="3213718"/>
            <a:ext cx="9854214" cy="2450236"/>
          </a:xfrm>
        </p:spPr>
        <p:txBody>
          <a:bodyPr>
            <a:normAutofit fontScale="92500" lnSpcReduction="10000"/>
          </a:bodyPr>
          <a:lstStyle/>
          <a:p>
            <a:pPr algn="r">
              <a:buFont typeface="Wingdings" charset="2"/>
              <a:buChar char="Ø"/>
            </a:pPr>
            <a:r>
              <a:rPr lang="en-US" dirty="0"/>
              <a:t>Database User Security </a:t>
            </a:r>
          </a:p>
          <a:p>
            <a:pPr algn="r">
              <a:buFont typeface="Wingdings" charset="2"/>
              <a:buChar char="Ø"/>
            </a:pPr>
            <a:r>
              <a:rPr lang="en-US" dirty="0"/>
              <a:t>Managing Schema Objects</a:t>
            </a:r>
          </a:p>
          <a:p>
            <a:pPr algn="r">
              <a:buFont typeface="Wingdings" charset="2"/>
              <a:buChar char="Ø"/>
            </a:pPr>
            <a:r>
              <a:rPr lang="en-US" dirty="0"/>
              <a:t>Managing Data And Concurrency</a:t>
            </a:r>
          </a:p>
          <a:p>
            <a:pPr marL="0" indent="0">
              <a:buNone/>
            </a:pPr>
            <a:r>
              <a:rPr lang="en-US" b="1"/>
              <a:t>UNIT-2</a:t>
            </a:r>
            <a:endParaRPr lang="en-US" b="1" dirty="0"/>
          </a:p>
          <a:p>
            <a:pPr marL="0" indent="0" algn="l">
              <a:buNone/>
            </a:pPr>
            <a:endParaRPr lang="en-US" dirty="0"/>
          </a:p>
          <a:p>
            <a:pPr marL="0" indent="0" algn="l">
              <a:buNone/>
            </a:pPr>
            <a:r>
              <a:rPr lang="en-US" dirty="0"/>
              <a:t>By Jasleen Kaur</a:t>
            </a:r>
          </a:p>
          <a:p>
            <a:pPr marL="0" indent="0" algn="l">
              <a:buNone/>
            </a:pPr>
            <a:r>
              <a:rPr lang="en-US" dirty="0"/>
              <a:t>GTBIT (IT Dept.)</a:t>
            </a:r>
            <a:endParaRPr lang="en-IN" dirty="0"/>
          </a:p>
          <a:p>
            <a:endParaRPr lang="en-IN" dirty="0"/>
          </a:p>
        </p:txBody>
      </p:sp>
    </p:spTree>
    <p:extLst>
      <p:ext uri="{BB962C8B-B14F-4D97-AF65-F5344CB8AC3E}">
        <p14:creationId xmlns:p14="http://schemas.microsoft.com/office/powerpoint/2010/main" val="2318127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F10F-22D6-46BA-A01C-1AAB80EDB235}"/>
              </a:ext>
            </a:extLst>
          </p:cNvPr>
          <p:cNvSpPr>
            <a:spLocks noGrp="1"/>
          </p:cNvSpPr>
          <p:nvPr>
            <p:ph type="title"/>
          </p:nvPr>
        </p:nvSpPr>
        <p:spPr>
          <a:xfrm>
            <a:off x="727969" y="0"/>
            <a:ext cx="11464031" cy="1485900"/>
          </a:xfrm>
        </p:spPr>
        <p:txBody>
          <a:bodyPr/>
          <a:lstStyle/>
          <a:p>
            <a:r>
              <a:rPr lang="en-IN" dirty="0"/>
              <a:t>DATABASE USER SECURITY</a:t>
            </a:r>
          </a:p>
        </p:txBody>
      </p:sp>
      <p:sp>
        <p:nvSpPr>
          <p:cNvPr id="3" name="Content Placeholder 2">
            <a:extLst>
              <a:ext uri="{FF2B5EF4-FFF2-40B4-BE49-F238E27FC236}">
                <a16:creationId xmlns:a16="http://schemas.microsoft.com/office/drawing/2014/main" id="{98915592-2A4D-4B77-ABD3-61FA70A6A988}"/>
              </a:ext>
            </a:extLst>
          </p:cNvPr>
          <p:cNvSpPr>
            <a:spLocks noGrp="1"/>
          </p:cNvSpPr>
          <p:nvPr>
            <p:ph idx="1"/>
          </p:nvPr>
        </p:nvSpPr>
        <p:spPr>
          <a:xfrm>
            <a:off x="727969" y="772357"/>
            <a:ext cx="11464031" cy="6085643"/>
          </a:xfrm>
        </p:spPr>
        <p:txBody>
          <a:bodyPr/>
          <a:lstStyle/>
          <a:p>
            <a:r>
              <a:rPr lang="en-IN" b="1" dirty="0"/>
              <a:t>Creating a New User Account- </a:t>
            </a:r>
            <a:r>
              <a:rPr lang="en-IN" dirty="0"/>
              <a:t>You create a database user with the CREATE USER statement</a:t>
            </a:r>
          </a:p>
          <a:p>
            <a:pPr>
              <a:buFont typeface="Wingdings" panose="05000000000000000000" pitchFamily="2" charset="2"/>
              <a:buChar char="Ø"/>
            </a:pPr>
            <a:r>
              <a:rPr lang="en-IN" dirty="0"/>
              <a:t>Because it is a powerful privilege, a database administrator or security administrator is usually the only user who has the CREATE USER system privilege.</a:t>
            </a:r>
          </a:p>
          <a:p>
            <a:pPr>
              <a:buFont typeface="Wingdings" panose="05000000000000000000" pitchFamily="2" charset="2"/>
              <a:buChar char="Ø"/>
            </a:pPr>
            <a:r>
              <a:rPr lang="en-IN" dirty="0"/>
              <a:t>Creates a user and specifies the user password, default tablespace, temporary tablespace where temporary segments are created, tablespace quotas, and profile</a:t>
            </a:r>
          </a:p>
          <a:p>
            <a:pPr>
              <a:buFont typeface="Wingdings" panose="05000000000000000000" pitchFamily="2" charset="2"/>
              <a:buChar char="Ø"/>
            </a:pPr>
            <a:endParaRPr lang="en-IN" dirty="0"/>
          </a:p>
          <a:p>
            <a:pPr>
              <a:buFont typeface="Wingdings" panose="05000000000000000000" pitchFamily="2" charset="2"/>
              <a:buChar char="Ø"/>
            </a:pPr>
            <a:endParaRPr lang="en-IN" b="1" dirty="0"/>
          </a:p>
        </p:txBody>
      </p:sp>
      <p:pic>
        <p:nvPicPr>
          <p:cNvPr id="4" name="Picture 3">
            <a:extLst>
              <a:ext uri="{FF2B5EF4-FFF2-40B4-BE49-F238E27FC236}">
                <a16:creationId xmlns:a16="http://schemas.microsoft.com/office/drawing/2014/main" id="{59526466-EAD9-4D77-9A7A-3A59B92F5C3F}"/>
              </a:ext>
            </a:extLst>
          </p:cNvPr>
          <p:cNvPicPr>
            <a:picLocks noChangeAspect="1"/>
          </p:cNvPicPr>
          <p:nvPr/>
        </p:nvPicPr>
        <p:blipFill>
          <a:blip r:embed="rId2"/>
          <a:stretch>
            <a:fillRect/>
          </a:stretch>
        </p:blipFill>
        <p:spPr>
          <a:xfrm>
            <a:off x="3658667" y="3428999"/>
            <a:ext cx="8533333" cy="3440097"/>
          </a:xfrm>
          <a:prstGeom prst="rect">
            <a:avLst/>
          </a:prstGeom>
        </p:spPr>
      </p:pic>
    </p:spTree>
    <p:extLst>
      <p:ext uri="{BB962C8B-B14F-4D97-AF65-F5344CB8AC3E}">
        <p14:creationId xmlns:p14="http://schemas.microsoft.com/office/powerpoint/2010/main" val="92413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BB28D-5B99-48AF-956C-315E3A5CCA40}"/>
              </a:ext>
            </a:extLst>
          </p:cNvPr>
          <p:cNvSpPr>
            <a:spLocks noGrp="1"/>
          </p:cNvSpPr>
          <p:nvPr>
            <p:ph type="title"/>
          </p:nvPr>
        </p:nvSpPr>
        <p:spPr>
          <a:xfrm>
            <a:off x="692458" y="0"/>
            <a:ext cx="11499542" cy="816746"/>
          </a:xfrm>
        </p:spPr>
        <p:txBody>
          <a:bodyPr/>
          <a:lstStyle/>
          <a:p>
            <a:r>
              <a:rPr lang="en-IN" dirty="0"/>
              <a:t>Authenticating User</a:t>
            </a:r>
          </a:p>
        </p:txBody>
      </p:sp>
      <p:sp>
        <p:nvSpPr>
          <p:cNvPr id="3" name="Content Placeholder 2">
            <a:extLst>
              <a:ext uri="{FF2B5EF4-FFF2-40B4-BE49-F238E27FC236}">
                <a16:creationId xmlns:a16="http://schemas.microsoft.com/office/drawing/2014/main" id="{E8A6EB08-A8DF-492C-9973-B7FC0F10462B}"/>
              </a:ext>
            </a:extLst>
          </p:cNvPr>
          <p:cNvSpPr>
            <a:spLocks noGrp="1"/>
          </p:cNvSpPr>
          <p:nvPr>
            <p:ph idx="1"/>
          </p:nvPr>
        </p:nvSpPr>
        <p:spPr>
          <a:xfrm>
            <a:off x="692457" y="710214"/>
            <a:ext cx="11499541" cy="6147786"/>
          </a:xfrm>
        </p:spPr>
        <p:txBody>
          <a:bodyPr/>
          <a:lstStyle/>
          <a:p>
            <a:pPr>
              <a:buFont typeface="Wingdings" panose="05000000000000000000" pitchFamily="2" charset="2"/>
              <a:buChar char="Ø"/>
            </a:pPr>
            <a:r>
              <a:rPr lang="en-IN" dirty="0"/>
              <a:t>Authentication means verifying the identity of someone (a user, device, or other entity) who wants to use data, resources, or applications.</a:t>
            </a:r>
          </a:p>
          <a:p>
            <a:pPr>
              <a:buFont typeface="Wingdings" panose="05000000000000000000" pitchFamily="2" charset="2"/>
              <a:buChar char="Ø"/>
            </a:pPr>
            <a:r>
              <a:rPr lang="en-IN" dirty="0"/>
              <a:t>Validating that identity establishes a trust relationship for further interactions</a:t>
            </a:r>
          </a:p>
          <a:p>
            <a:pPr>
              <a:buFont typeface="Wingdings" panose="05000000000000000000" pitchFamily="2" charset="2"/>
              <a:buChar char="Ø"/>
            </a:pPr>
            <a:r>
              <a:rPr lang="en-IN" dirty="0"/>
              <a:t>Authentication also enables accountability by making it possible to link access and actions to specific identities.</a:t>
            </a:r>
          </a:p>
          <a:p>
            <a:pPr>
              <a:buFont typeface="Wingdings" panose="05000000000000000000" pitchFamily="2" charset="2"/>
              <a:buChar char="Ø"/>
            </a:pPr>
            <a:r>
              <a:rPr lang="en-IN" dirty="0"/>
              <a:t>After authentication, authorization processes can allow or limit the levels of access and action permitted to that entity.</a:t>
            </a:r>
          </a:p>
          <a:p>
            <a:pPr>
              <a:buFont typeface="Wingdings" panose="05000000000000000000" pitchFamily="2" charset="2"/>
              <a:buChar char="Ø"/>
            </a:pPr>
            <a:r>
              <a:rPr lang="en-IN" dirty="0"/>
              <a:t>Oracle Database requires special authentication procedures for database administrators, because they perform special database operations.</a:t>
            </a:r>
          </a:p>
          <a:p>
            <a:pPr>
              <a:buFont typeface="Wingdings" panose="05000000000000000000" pitchFamily="2" charset="2"/>
              <a:buChar char="Ø"/>
            </a:pPr>
            <a:r>
              <a:rPr lang="en-IN" dirty="0"/>
              <a:t>Oracle Database also encrypts passwords</a:t>
            </a:r>
          </a:p>
          <a:p>
            <a:pPr marL="0" indent="0">
              <a:buNone/>
            </a:pPr>
            <a:r>
              <a:rPr lang="en-IN" dirty="0"/>
              <a:t>       during transmission to ensure the security </a:t>
            </a:r>
          </a:p>
          <a:p>
            <a:pPr marL="0" indent="0">
              <a:buNone/>
            </a:pPr>
            <a:r>
              <a:rPr lang="en-IN" dirty="0"/>
              <a:t>       of network authentication. </a:t>
            </a:r>
          </a:p>
        </p:txBody>
      </p:sp>
      <p:pic>
        <p:nvPicPr>
          <p:cNvPr id="5" name="Picture 4">
            <a:extLst>
              <a:ext uri="{FF2B5EF4-FFF2-40B4-BE49-F238E27FC236}">
                <a16:creationId xmlns:a16="http://schemas.microsoft.com/office/drawing/2014/main" id="{3C5BC606-0980-41F2-8674-7CB4B5B95D42}"/>
              </a:ext>
            </a:extLst>
          </p:cNvPr>
          <p:cNvPicPr>
            <a:picLocks noChangeAspect="1"/>
          </p:cNvPicPr>
          <p:nvPr/>
        </p:nvPicPr>
        <p:blipFill>
          <a:blip r:embed="rId2"/>
          <a:stretch>
            <a:fillRect/>
          </a:stretch>
        </p:blipFill>
        <p:spPr>
          <a:xfrm>
            <a:off x="6096000" y="3657600"/>
            <a:ext cx="6210300" cy="3276091"/>
          </a:xfrm>
          <a:prstGeom prst="rect">
            <a:avLst/>
          </a:prstGeom>
        </p:spPr>
      </p:pic>
    </p:spTree>
    <p:extLst>
      <p:ext uri="{BB962C8B-B14F-4D97-AF65-F5344CB8AC3E}">
        <p14:creationId xmlns:p14="http://schemas.microsoft.com/office/powerpoint/2010/main" val="3666704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039C8-2861-4F6F-8B6B-91987E5F38E8}"/>
              </a:ext>
            </a:extLst>
          </p:cNvPr>
          <p:cNvSpPr>
            <a:spLocks noGrp="1"/>
          </p:cNvSpPr>
          <p:nvPr>
            <p:ph type="title"/>
          </p:nvPr>
        </p:nvSpPr>
        <p:spPr>
          <a:xfrm>
            <a:off x="727969" y="0"/>
            <a:ext cx="11464031" cy="923278"/>
          </a:xfrm>
        </p:spPr>
        <p:txBody>
          <a:bodyPr>
            <a:normAutofit fontScale="90000"/>
          </a:bodyPr>
          <a:lstStyle/>
          <a:p>
            <a:r>
              <a:rPr lang="en-IN" b="0" i="0" dirty="0">
                <a:solidFill>
                  <a:srgbClr val="3A3A3A"/>
                </a:solidFill>
                <a:effectLst/>
                <a:latin typeface="Rubik"/>
              </a:rPr>
              <a:t>How user authentication works</a:t>
            </a:r>
            <a:br>
              <a:rPr lang="en-IN" b="0" i="0" dirty="0">
                <a:solidFill>
                  <a:srgbClr val="3A3A3A"/>
                </a:solidFill>
                <a:effectLst/>
                <a:latin typeface="Rubik"/>
              </a:rPr>
            </a:br>
            <a:endParaRPr lang="en-IN" dirty="0"/>
          </a:p>
        </p:txBody>
      </p:sp>
      <p:sp>
        <p:nvSpPr>
          <p:cNvPr id="3" name="Content Placeholder 2">
            <a:extLst>
              <a:ext uri="{FF2B5EF4-FFF2-40B4-BE49-F238E27FC236}">
                <a16:creationId xmlns:a16="http://schemas.microsoft.com/office/drawing/2014/main" id="{3F7B1EC4-321E-4454-BD72-14613B4EFFDE}"/>
              </a:ext>
            </a:extLst>
          </p:cNvPr>
          <p:cNvSpPr>
            <a:spLocks noGrp="1"/>
          </p:cNvSpPr>
          <p:nvPr>
            <p:ph idx="1"/>
          </p:nvPr>
        </p:nvSpPr>
        <p:spPr>
          <a:xfrm>
            <a:off x="727969" y="772357"/>
            <a:ext cx="11464031" cy="6085643"/>
          </a:xfrm>
        </p:spPr>
        <p:txBody>
          <a:bodyPr/>
          <a:lstStyle/>
          <a:p>
            <a:pPr>
              <a:buFont typeface="Wingdings" panose="05000000000000000000" pitchFamily="2" charset="2"/>
              <a:buChar char="Ø"/>
            </a:pPr>
            <a:r>
              <a:rPr lang="en-US" dirty="0"/>
              <a:t>I</a:t>
            </a:r>
            <a:r>
              <a:rPr lang="en-US" b="0" i="0" dirty="0">
                <a:solidFill>
                  <a:srgbClr val="3A3A3A"/>
                </a:solidFill>
                <a:effectLst/>
                <a:latin typeface="Lato"/>
              </a:rPr>
              <a:t>n order to gain access, users must prove to the website that they are who they say they are. </a:t>
            </a:r>
          </a:p>
          <a:p>
            <a:pPr>
              <a:buFont typeface="Wingdings" panose="05000000000000000000" pitchFamily="2" charset="2"/>
              <a:buChar char="Ø"/>
            </a:pPr>
            <a:r>
              <a:rPr lang="en-US" b="0" i="0" dirty="0">
                <a:solidFill>
                  <a:srgbClr val="3A3A3A"/>
                </a:solidFill>
                <a:effectLst/>
                <a:latin typeface="Lato"/>
              </a:rPr>
              <a:t>The ID and key are enough to confirm the user’s identity, which will allow the system to authorize the user.</a:t>
            </a:r>
          </a:p>
          <a:p>
            <a:pPr algn="l">
              <a:buFont typeface="Wingdings" panose="05000000000000000000" pitchFamily="2" charset="2"/>
              <a:buChar char="Ø"/>
            </a:pPr>
            <a:r>
              <a:rPr lang="en-US" b="0" i="0" dirty="0">
                <a:solidFill>
                  <a:srgbClr val="3A3A3A"/>
                </a:solidFill>
                <a:effectLst/>
                <a:latin typeface="Lato"/>
              </a:rPr>
              <a:t>It’s important to note that authorization, on the other hand, is what dictates what users are able to see and do when they log in. </a:t>
            </a:r>
          </a:p>
          <a:p>
            <a:pPr algn="l">
              <a:buFont typeface="Wingdings" panose="05000000000000000000" pitchFamily="2" charset="2"/>
              <a:buChar char="Ø"/>
            </a:pPr>
            <a:r>
              <a:rPr lang="en-US" b="0" i="0" dirty="0">
                <a:solidFill>
                  <a:srgbClr val="3A3A3A"/>
                </a:solidFill>
                <a:effectLst/>
                <a:latin typeface="Lato"/>
              </a:rPr>
              <a:t>While authorization and authentication are often used interchangeably, the two </a:t>
            </a:r>
            <a:r>
              <a:rPr lang="en-US" b="0" i="1" dirty="0">
                <a:solidFill>
                  <a:srgbClr val="3A3A3A"/>
                </a:solidFill>
                <a:effectLst/>
                <a:latin typeface="Lato"/>
              </a:rPr>
              <a:t>different </a:t>
            </a:r>
            <a:r>
              <a:rPr lang="en-US" b="0" i="0" dirty="0">
                <a:solidFill>
                  <a:srgbClr val="3A3A3A"/>
                </a:solidFill>
                <a:effectLst/>
                <a:latin typeface="Lato"/>
              </a:rPr>
              <a:t>terms work together to create a secure login process.</a:t>
            </a:r>
          </a:p>
          <a:p>
            <a:pPr algn="l"/>
            <a:r>
              <a:rPr lang="en-US" b="1" i="0" dirty="0">
                <a:solidFill>
                  <a:srgbClr val="3A3A3A"/>
                </a:solidFill>
                <a:effectLst/>
                <a:latin typeface="Lato"/>
              </a:rPr>
              <a:t>To put it simply, user authentication has three tasks:</a:t>
            </a:r>
          </a:p>
          <a:p>
            <a:pPr algn="l">
              <a:buFont typeface="+mj-lt"/>
              <a:buAutoNum type="arabicPeriod"/>
            </a:pPr>
            <a:r>
              <a:rPr lang="en-US" b="0" i="0" dirty="0">
                <a:solidFill>
                  <a:srgbClr val="3A3A3A"/>
                </a:solidFill>
                <a:effectLst/>
                <a:latin typeface="Lato"/>
              </a:rPr>
              <a:t>Manage the connection between the human (user) and the website’s server (computer).</a:t>
            </a:r>
          </a:p>
          <a:p>
            <a:pPr algn="l">
              <a:buFont typeface="+mj-lt"/>
              <a:buAutoNum type="arabicPeriod"/>
            </a:pPr>
            <a:r>
              <a:rPr lang="en-US" b="0" i="0" dirty="0">
                <a:solidFill>
                  <a:srgbClr val="3A3A3A"/>
                </a:solidFill>
                <a:effectLst/>
                <a:latin typeface="Lato"/>
              </a:rPr>
              <a:t>Verify users’ identities.</a:t>
            </a:r>
          </a:p>
          <a:p>
            <a:pPr algn="l">
              <a:buFont typeface="+mj-lt"/>
              <a:buAutoNum type="arabicPeriod"/>
            </a:pPr>
            <a:r>
              <a:rPr lang="en-US" b="0" i="0" dirty="0">
                <a:solidFill>
                  <a:srgbClr val="3A3A3A"/>
                </a:solidFill>
                <a:effectLst/>
                <a:latin typeface="Lato"/>
              </a:rPr>
              <a:t>Approve (or decline) the authentication so the system can move to authorizing the user.</a:t>
            </a:r>
          </a:p>
          <a:p>
            <a:pPr algn="l">
              <a:buFont typeface="Wingdings" panose="05000000000000000000" pitchFamily="2" charset="2"/>
              <a:buChar char="Ø"/>
            </a:pPr>
            <a:r>
              <a:rPr lang="en-US" b="0" i="0" dirty="0">
                <a:solidFill>
                  <a:srgbClr val="3A3A3A"/>
                </a:solidFill>
                <a:effectLst/>
                <a:latin typeface="Lato"/>
              </a:rPr>
              <a:t>The process is fairly simple; users input their credentials on the website’s login form. That information is then sent to the authentication server where the information is compared with all the user credentials on file.</a:t>
            </a:r>
            <a:endParaRPr lang="en-US" b="1" dirty="0">
              <a:solidFill>
                <a:srgbClr val="3A3A3A"/>
              </a:solidFill>
              <a:latin typeface="Lato"/>
            </a:endParaRPr>
          </a:p>
          <a:p>
            <a:pPr algn="l">
              <a:buFont typeface="Wingdings" panose="05000000000000000000" pitchFamily="2" charset="2"/>
              <a:buChar char="Ø"/>
            </a:pPr>
            <a:r>
              <a:rPr lang="en-US" b="0" i="0" dirty="0">
                <a:solidFill>
                  <a:srgbClr val="3A3A3A"/>
                </a:solidFill>
                <a:effectLst/>
                <a:latin typeface="Lato"/>
              </a:rPr>
              <a:t>When a match is found, the system will authenticate users and grant them access to their accounts.</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91257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EFAB1-49E9-451F-B98C-3775C3F59B6F}"/>
              </a:ext>
            </a:extLst>
          </p:cNvPr>
          <p:cNvSpPr>
            <a:spLocks noGrp="1"/>
          </p:cNvSpPr>
          <p:nvPr>
            <p:ph idx="1"/>
          </p:nvPr>
        </p:nvSpPr>
        <p:spPr>
          <a:xfrm>
            <a:off x="701336" y="0"/>
            <a:ext cx="11490664" cy="6858000"/>
          </a:xfrm>
        </p:spPr>
        <p:txBody>
          <a:bodyPr/>
          <a:lstStyle/>
          <a:p>
            <a:pPr>
              <a:buFont typeface="Wingdings" panose="05000000000000000000" pitchFamily="2" charset="2"/>
              <a:buChar char="Ø"/>
            </a:pPr>
            <a:endParaRPr lang="en-US" b="0" i="0" dirty="0">
              <a:solidFill>
                <a:srgbClr val="3A3A3A"/>
              </a:solidFill>
              <a:effectLst/>
              <a:latin typeface="Lato"/>
            </a:endParaRPr>
          </a:p>
          <a:p>
            <a:pPr>
              <a:buFont typeface="Wingdings" panose="05000000000000000000" pitchFamily="2" charset="2"/>
              <a:buChar char="Ø"/>
            </a:pPr>
            <a:r>
              <a:rPr lang="en-US" b="0" i="0" dirty="0">
                <a:solidFill>
                  <a:srgbClr val="3A3A3A"/>
                </a:solidFill>
                <a:effectLst/>
                <a:latin typeface="Lato"/>
              </a:rPr>
              <a:t>If a match isn’t found, users will be prompted to re-enter their credentials and try again.</a:t>
            </a:r>
          </a:p>
          <a:p>
            <a:pPr>
              <a:buFont typeface="Wingdings" panose="05000000000000000000" pitchFamily="2" charset="2"/>
              <a:buChar char="Ø"/>
            </a:pPr>
            <a:r>
              <a:rPr lang="en-US" b="0" i="0" dirty="0">
                <a:solidFill>
                  <a:srgbClr val="3A3A3A"/>
                </a:solidFill>
                <a:effectLst/>
                <a:latin typeface="Lato"/>
              </a:rPr>
              <a:t> After several unsuccessful attempts, the account may be flagged for suspicious activity or require alternative authentication methods such as a password reset or a one time password.</a:t>
            </a:r>
          </a:p>
          <a:p>
            <a:pPr>
              <a:buFont typeface="Wingdings" panose="05000000000000000000" pitchFamily="2" charset="2"/>
              <a:buChar char="Ø"/>
            </a:pPr>
            <a:endParaRPr lang="en-IN" dirty="0"/>
          </a:p>
        </p:txBody>
      </p:sp>
      <p:pic>
        <p:nvPicPr>
          <p:cNvPr id="5" name="Picture 4">
            <a:extLst>
              <a:ext uri="{FF2B5EF4-FFF2-40B4-BE49-F238E27FC236}">
                <a16:creationId xmlns:a16="http://schemas.microsoft.com/office/drawing/2014/main" id="{8A1C26AB-5070-40ED-87DB-1B41B56E0792}"/>
              </a:ext>
            </a:extLst>
          </p:cNvPr>
          <p:cNvPicPr>
            <a:picLocks noChangeAspect="1"/>
          </p:cNvPicPr>
          <p:nvPr/>
        </p:nvPicPr>
        <p:blipFill>
          <a:blip r:embed="rId2"/>
          <a:stretch>
            <a:fillRect/>
          </a:stretch>
        </p:blipFill>
        <p:spPr>
          <a:xfrm>
            <a:off x="2601157" y="2175029"/>
            <a:ext cx="5921406" cy="1973209"/>
          </a:xfrm>
          <a:prstGeom prst="rect">
            <a:avLst/>
          </a:prstGeom>
        </p:spPr>
      </p:pic>
    </p:spTree>
    <p:extLst>
      <p:ext uri="{BB962C8B-B14F-4D97-AF65-F5344CB8AC3E}">
        <p14:creationId xmlns:p14="http://schemas.microsoft.com/office/powerpoint/2010/main" val="607896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0F20-C123-4BE3-99BD-D223768FD57B}"/>
              </a:ext>
            </a:extLst>
          </p:cNvPr>
          <p:cNvSpPr>
            <a:spLocks noGrp="1"/>
          </p:cNvSpPr>
          <p:nvPr>
            <p:ph type="title"/>
          </p:nvPr>
        </p:nvSpPr>
        <p:spPr>
          <a:xfrm>
            <a:off x="710214" y="0"/>
            <a:ext cx="11481786" cy="754602"/>
          </a:xfrm>
        </p:spPr>
        <p:txBody>
          <a:bodyPr/>
          <a:lstStyle/>
          <a:p>
            <a:r>
              <a:rPr lang="en-IN" dirty="0"/>
              <a:t>Privileges and Roles</a:t>
            </a:r>
          </a:p>
        </p:txBody>
      </p:sp>
      <p:sp>
        <p:nvSpPr>
          <p:cNvPr id="3" name="Content Placeholder 2">
            <a:extLst>
              <a:ext uri="{FF2B5EF4-FFF2-40B4-BE49-F238E27FC236}">
                <a16:creationId xmlns:a16="http://schemas.microsoft.com/office/drawing/2014/main" id="{5F7B58AF-37F7-4D80-9003-80AAB542D99A}"/>
              </a:ext>
            </a:extLst>
          </p:cNvPr>
          <p:cNvSpPr>
            <a:spLocks noGrp="1"/>
          </p:cNvSpPr>
          <p:nvPr>
            <p:ph idx="1"/>
          </p:nvPr>
        </p:nvSpPr>
        <p:spPr>
          <a:xfrm>
            <a:off x="710213" y="754602"/>
            <a:ext cx="11481785" cy="6103398"/>
          </a:xfrm>
        </p:spPr>
        <p:txBody>
          <a:bodyPr>
            <a:normAutofit/>
          </a:bodyPr>
          <a:lstStyle/>
          <a:p>
            <a:pPr>
              <a:buFont typeface="Wingdings" panose="05000000000000000000" pitchFamily="2" charset="2"/>
              <a:buChar char="Ø"/>
            </a:pPr>
            <a:r>
              <a:rPr lang="en-IN" dirty="0"/>
              <a:t>Authorization includes primarily two processes:</a:t>
            </a:r>
          </a:p>
          <a:p>
            <a:pPr marL="0" indent="0">
              <a:buNone/>
            </a:pPr>
            <a:r>
              <a:rPr lang="en-IN" dirty="0"/>
              <a:t>  Permitting only certain users to access, process, or alter data.</a:t>
            </a:r>
          </a:p>
          <a:p>
            <a:pPr marL="0" indent="0">
              <a:buNone/>
            </a:pPr>
            <a:r>
              <a:rPr lang="en-IN" dirty="0"/>
              <a:t>  Applying varying limitations on user access or actions. The limitations placed on users can apply to           objects such as schemas, tables, or rows or to resources such as time.</a:t>
            </a:r>
          </a:p>
          <a:p>
            <a:pPr>
              <a:buFont typeface="Wingdings" panose="05000000000000000000" pitchFamily="2" charset="2"/>
              <a:buChar char="Ø"/>
            </a:pPr>
            <a:r>
              <a:rPr lang="en-IN" dirty="0"/>
              <a:t>A </a:t>
            </a:r>
            <a:r>
              <a:rPr lang="en-IN" b="1" dirty="0"/>
              <a:t>user privilege </a:t>
            </a:r>
            <a:r>
              <a:rPr lang="en-IN" dirty="0"/>
              <a:t>is the right to run a particular type of SQL statement, or the right to access an object that belongs to another user, run a PL/SQL package.</a:t>
            </a:r>
          </a:p>
          <a:p>
            <a:pPr>
              <a:buFont typeface="Wingdings" panose="05000000000000000000" pitchFamily="2" charset="2"/>
              <a:buChar char="Ø"/>
            </a:pPr>
            <a:r>
              <a:rPr lang="en-IN" b="1" dirty="0"/>
              <a:t>Roles</a:t>
            </a:r>
            <a:r>
              <a:rPr lang="en-IN" dirty="0"/>
              <a:t> are created by users (usually administrators) to group together privileges or other roles. They are a way to facilitate the granting of multiple privileges or roles to users. </a:t>
            </a:r>
          </a:p>
          <a:p>
            <a:pPr>
              <a:buFont typeface="Wingdings" panose="05000000000000000000" pitchFamily="2" charset="2"/>
              <a:buChar char="Ø"/>
            </a:pPr>
            <a:r>
              <a:rPr lang="en-IN" b="1" dirty="0"/>
              <a:t>User roles</a:t>
            </a:r>
            <a:r>
              <a:rPr lang="en-IN" dirty="0"/>
              <a:t> groups several privileges and roles, so that</a:t>
            </a:r>
          </a:p>
          <a:p>
            <a:pPr marL="0" indent="0">
              <a:buNone/>
            </a:pPr>
            <a:r>
              <a:rPr lang="en-IN" dirty="0"/>
              <a:t>      they can be granted to and revoked from users </a:t>
            </a:r>
          </a:p>
          <a:p>
            <a:pPr marL="0" indent="0">
              <a:buNone/>
            </a:pPr>
            <a:r>
              <a:rPr lang="en-IN" dirty="0"/>
              <a:t>      simultaneously. You must enable the role for a user</a:t>
            </a:r>
          </a:p>
          <a:p>
            <a:pPr marL="0" indent="0">
              <a:buNone/>
            </a:pPr>
            <a:r>
              <a:rPr lang="en-IN" dirty="0"/>
              <a:t>      before the user can use it.</a:t>
            </a:r>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marL="0" indent="0">
              <a:buNone/>
            </a:pPr>
            <a:r>
              <a:rPr lang="en-IN" dirty="0"/>
              <a:t> </a:t>
            </a:r>
          </a:p>
        </p:txBody>
      </p:sp>
      <p:pic>
        <p:nvPicPr>
          <p:cNvPr id="5" name="Picture 4">
            <a:extLst>
              <a:ext uri="{FF2B5EF4-FFF2-40B4-BE49-F238E27FC236}">
                <a16:creationId xmlns:a16="http://schemas.microsoft.com/office/drawing/2014/main" id="{3ABFA757-27B6-4F9A-98C2-315048F632A8}"/>
              </a:ext>
            </a:extLst>
          </p:cNvPr>
          <p:cNvPicPr>
            <a:picLocks noChangeAspect="1"/>
          </p:cNvPicPr>
          <p:nvPr/>
        </p:nvPicPr>
        <p:blipFill>
          <a:blip r:embed="rId2"/>
          <a:stretch>
            <a:fillRect/>
          </a:stretch>
        </p:blipFill>
        <p:spPr>
          <a:xfrm>
            <a:off x="7048870" y="3657600"/>
            <a:ext cx="5143128" cy="3200400"/>
          </a:xfrm>
          <a:prstGeom prst="rect">
            <a:avLst/>
          </a:prstGeom>
        </p:spPr>
      </p:pic>
    </p:spTree>
    <p:extLst>
      <p:ext uri="{BB962C8B-B14F-4D97-AF65-F5344CB8AC3E}">
        <p14:creationId xmlns:p14="http://schemas.microsoft.com/office/powerpoint/2010/main" val="2805851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DB632F8-CE7A-4602-B631-010BB4416DF1}"/>
              </a:ext>
            </a:extLst>
          </p:cNvPr>
          <p:cNvSpPr>
            <a:spLocks noGrp="1"/>
          </p:cNvSpPr>
          <p:nvPr>
            <p:ph idx="1"/>
          </p:nvPr>
        </p:nvSpPr>
        <p:spPr>
          <a:xfrm>
            <a:off x="701336" y="62144"/>
            <a:ext cx="11490664" cy="6795856"/>
          </a:xfrm>
        </p:spPr>
        <p:txBody>
          <a:bodyPr/>
          <a:lstStyle/>
          <a:p>
            <a:pPr>
              <a:buFont typeface="Wingdings" panose="05000000000000000000" pitchFamily="2" charset="2"/>
              <a:buChar char="Ø"/>
            </a:pPr>
            <a:r>
              <a:rPr lang="en-IN" dirty="0"/>
              <a:t>The types of privileges are defined by Oracle Database:</a:t>
            </a:r>
          </a:p>
          <a:p>
            <a:pPr>
              <a:buFont typeface="Wingdings" panose="05000000000000000000" pitchFamily="2" charset="2"/>
              <a:buChar char="§"/>
            </a:pPr>
            <a:r>
              <a:rPr lang="en-IN" b="1" dirty="0"/>
              <a:t>System privileges- </a:t>
            </a:r>
            <a:r>
              <a:rPr lang="en-IN" dirty="0"/>
              <a:t>These privileges allow to perform standard administrator tasks in the database. Restrict them only to trusted users. For example, the privileges to create tablespaces and to delete the rows of any table in a database are system privileges.</a:t>
            </a:r>
          </a:p>
          <a:p>
            <a:pPr>
              <a:buFont typeface="Wingdings" panose="05000000000000000000" pitchFamily="2" charset="2"/>
              <a:buChar char="Ø"/>
            </a:pPr>
            <a:r>
              <a:rPr lang="en-IN" dirty="0"/>
              <a:t>Because system privileges are so powerful, by default the data base is configured to prevent typical(non-administrative) users from exercising the ANY system privileges (such as UPDATE ANY TABLE) on the data dictionary</a:t>
            </a:r>
          </a:p>
          <a:p>
            <a:pPr>
              <a:buFont typeface="Wingdings" panose="05000000000000000000" pitchFamily="2" charset="2"/>
              <a:buChar char="§"/>
            </a:pPr>
            <a:r>
              <a:rPr lang="en-IN" b="1" dirty="0"/>
              <a:t>Object privileges- </a:t>
            </a:r>
            <a:r>
              <a:rPr lang="en-IN" dirty="0"/>
              <a:t>An object privilege is a right that you grant to a user on a database object. Each type of object has privileges associated with it.</a:t>
            </a:r>
          </a:p>
          <a:p>
            <a:pPr>
              <a:buFont typeface="Wingdings" panose="05000000000000000000" pitchFamily="2" charset="2"/>
              <a:buChar char="Ø"/>
            </a:pPr>
            <a:r>
              <a:rPr lang="en-IN" dirty="0"/>
              <a:t>An object privilege is a right that you grant to a user on a database object. Some examples of object privileges include the right to: </a:t>
            </a:r>
          </a:p>
          <a:p>
            <a:pPr>
              <a:buFont typeface="Arial" panose="020B0604020202020204" pitchFamily="34" charset="0"/>
              <a:buChar char="•"/>
            </a:pPr>
            <a:r>
              <a:rPr lang="en-IN" dirty="0"/>
              <a:t>Use an edition </a:t>
            </a:r>
          </a:p>
          <a:p>
            <a:pPr>
              <a:buFont typeface="Arial" panose="020B0604020202020204" pitchFamily="34" charset="0"/>
              <a:buChar char="•"/>
            </a:pPr>
            <a:r>
              <a:rPr lang="en-IN" dirty="0"/>
              <a:t>Update a table </a:t>
            </a:r>
          </a:p>
          <a:p>
            <a:pPr>
              <a:buFont typeface="Arial" panose="020B0604020202020204" pitchFamily="34" charset="0"/>
              <a:buChar char="•"/>
            </a:pPr>
            <a:r>
              <a:rPr lang="en-IN" dirty="0"/>
              <a:t>Select rows from another user’s table </a:t>
            </a:r>
          </a:p>
          <a:p>
            <a:pPr>
              <a:buFont typeface="Arial" panose="020B0604020202020204" pitchFamily="34" charset="0"/>
              <a:buChar char="•"/>
            </a:pPr>
            <a:r>
              <a:rPr lang="en-IN" dirty="0"/>
              <a:t>Execute a stored procedure of another user</a:t>
            </a:r>
          </a:p>
        </p:txBody>
      </p:sp>
      <p:pic>
        <p:nvPicPr>
          <p:cNvPr id="5" name="Content Placeholder 4">
            <a:extLst>
              <a:ext uri="{FF2B5EF4-FFF2-40B4-BE49-F238E27FC236}">
                <a16:creationId xmlns:a16="http://schemas.microsoft.com/office/drawing/2014/main" id="{6BB840FD-F1E3-4BF0-9D4D-043226BA9E7F}"/>
              </a:ext>
            </a:extLst>
          </p:cNvPr>
          <p:cNvPicPr>
            <a:picLocks noChangeAspect="1"/>
          </p:cNvPicPr>
          <p:nvPr/>
        </p:nvPicPr>
        <p:blipFill>
          <a:blip r:embed="rId2"/>
          <a:stretch>
            <a:fillRect/>
          </a:stretch>
        </p:blipFill>
        <p:spPr>
          <a:xfrm>
            <a:off x="5823751" y="3568823"/>
            <a:ext cx="6368249" cy="3089598"/>
          </a:xfrm>
          <a:prstGeom prst="rect">
            <a:avLst/>
          </a:prstGeom>
        </p:spPr>
      </p:pic>
    </p:spTree>
    <p:extLst>
      <p:ext uri="{BB962C8B-B14F-4D97-AF65-F5344CB8AC3E}">
        <p14:creationId xmlns:p14="http://schemas.microsoft.com/office/powerpoint/2010/main" val="1280180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06D6D19-B441-4208-8F42-932862B02B57}"/>
              </a:ext>
            </a:extLst>
          </p:cNvPr>
          <p:cNvSpPr>
            <a:spLocks noGrp="1"/>
          </p:cNvSpPr>
          <p:nvPr>
            <p:ph idx="1"/>
          </p:nvPr>
        </p:nvSpPr>
        <p:spPr>
          <a:xfrm>
            <a:off x="710214" y="0"/>
            <a:ext cx="11481786" cy="6858000"/>
          </a:xfrm>
        </p:spPr>
        <p:txBody>
          <a:bodyPr/>
          <a:lstStyle/>
          <a:p>
            <a:pPr marL="0" indent="0">
              <a:buNone/>
            </a:pPr>
            <a:r>
              <a:rPr lang="en-IN" b="1" dirty="0"/>
              <a:t>Granting Object Privileges</a:t>
            </a:r>
          </a:p>
          <a:p>
            <a:pPr marL="0" indent="0">
              <a:buNone/>
            </a:pPr>
            <a:r>
              <a:rPr lang="en-IN" dirty="0"/>
              <a:t>  Grants the SELECT, INSERT, and DELETE object privileges for all columns of the emp table to the user        </a:t>
            </a:r>
            <a:r>
              <a:rPr lang="en-IN" dirty="0" err="1"/>
              <a:t>jfee</a:t>
            </a:r>
            <a:r>
              <a:rPr lang="en-IN" dirty="0"/>
              <a:t>.  </a:t>
            </a:r>
          </a:p>
          <a:p>
            <a:pPr marL="0" indent="0">
              <a:buNone/>
            </a:pPr>
            <a:r>
              <a:rPr lang="en-IN" dirty="0"/>
              <a:t>      </a:t>
            </a:r>
            <a:r>
              <a:rPr lang="en-IN" dirty="0">
                <a:highlight>
                  <a:srgbClr val="C0C0C0"/>
                </a:highlight>
              </a:rPr>
              <a:t>GRANT SELECT, INSERT, DELETE ON emp TO </a:t>
            </a:r>
            <a:r>
              <a:rPr lang="en-IN" dirty="0" err="1">
                <a:highlight>
                  <a:srgbClr val="C0C0C0"/>
                </a:highlight>
              </a:rPr>
              <a:t>jfee</a:t>
            </a:r>
            <a:r>
              <a:rPr lang="en-IN" dirty="0">
                <a:highlight>
                  <a:srgbClr val="C0C0C0"/>
                </a:highlight>
              </a:rPr>
              <a:t>;</a:t>
            </a:r>
          </a:p>
          <a:p>
            <a:pPr marL="0" indent="0">
              <a:buNone/>
            </a:pPr>
            <a:r>
              <a:rPr lang="en-IN" dirty="0"/>
              <a:t>  Grant all object privileges on the salary view to user </a:t>
            </a:r>
            <a:r>
              <a:rPr lang="en-IN" dirty="0" err="1"/>
              <a:t>jfee</a:t>
            </a:r>
            <a:r>
              <a:rPr lang="en-IN" dirty="0"/>
              <a:t>, use the ALL keyword as shown in the following example:</a:t>
            </a:r>
          </a:p>
          <a:p>
            <a:pPr marL="0" indent="0">
              <a:buNone/>
            </a:pPr>
            <a:r>
              <a:rPr lang="en-IN" dirty="0"/>
              <a:t>      </a:t>
            </a:r>
            <a:r>
              <a:rPr lang="en-IN" dirty="0">
                <a:highlight>
                  <a:srgbClr val="C0C0C0"/>
                </a:highlight>
              </a:rPr>
              <a:t>GRANT ALL ON salary TO </a:t>
            </a:r>
            <a:r>
              <a:rPr lang="en-IN" dirty="0" err="1">
                <a:highlight>
                  <a:srgbClr val="C0C0C0"/>
                </a:highlight>
              </a:rPr>
              <a:t>jfee</a:t>
            </a:r>
            <a:r>
              <a:rPr lang="en-IN" dirty="0">
                <a:highlight>
                  <a:srgbClr val="C0C0C0"/>
                </a:highlight>
              </a:rPr>
              <a:t>;</a:t>
            </a:r>
          </a:p>
        </p:txBody>
      </p:sp>
    </p:spTree>
    <p:extLst>
      <p:ext uri="{BB962C8B-B14F-4D97-AF65-F5344CB8AC3E}">
        <p14:creationId xmlns:p14="http://schemas.microsoft.com/office/powerpoint/2010/main" val="3376402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D4910-2244-42CC-92FD-BAED245A059C}"/>
              </a:ext>
            </a:extLst>
          </p:cNvPr>
          <p:cNvSpPr>
            <a:spLocks noGrp="1"/>
          </p:cNvSpPr>
          <p:nvPr>
            <p:ph type="title"/>
          </p:nvPr>
        </p:nvSpPr>
        <p:spPr>
          <a:xfrm>
            <a:off x="710214" y="0"/>
            <a:ext cx="11481786" cy="1485900"/>
          </a:xfrm>
        </p:spPr>
        <p:txBody>
          <a:bodyPr/>
          <a:lstStyle/>
          <a:p>
            <a:r>
              <a:rPr lang="en-IN" dirty="0"/>
              <a:t>MANAGING SCHEMA OBJECT</a:t>
            </a:r>
          </a:p>
        </p:txBody>
      </p:sp>
      <p:sp>
        <p:nvSpPr>
          <p:cNvPr id="3" name="Content Placeholder 2">
            <a:extLst>
              <a:ext uri="{FF2B5EF4-FFF2-40B4-BE49-F238E27FC236}">
                <a16:creationId xmlns:a16="http://schemas.microsoft.com/office/drawing/2014/main" id="{533753CB-A524-45D8-8ECD-7B825C160368}"/>
              </a:ext>
            </a:extLst>
          </p:cNvPr>
          <p:cNvSpPr>
            <a:spLocks noGrp="1"/>
          </p:cNvSpPr>
          <p:nvPr>
            <p:ph idx="1"/>
          </p:nvPr>
        </p:nvSpPr>
        <p:spPr>
          <a:xfrm>
            <a:off x="710213" y="665825"/>
            <a:ext cx="11481785" cy="6192175"/>
          </a:xfrm>
        </p:spPr>
        <p:txBody>
          <a:bodyPr/>
          <a:lstStyle/>
          <a:p>
            <a:pPr marL="0" indent="0">
              <a:buNone/>
            </a:pPr>
            <a:r>
              <a:rPr lang="en-IN" dirty="0"/>
              <a:t>As a database administrator (DBA), you can create, modify, and delete schema objects in your own schema and in any other schema. A database administrator is defined as any user who is granted the DBA role.</a:t>
            </a:r>
          </a:p>
          <a:p>
            <a:pPr marL="0" indent="0">
              <a:buNone/>
            </a:pPr>
            <a:r>
              <a:rPr lang="en-IN" b="1" dirty="0"/>
              <a:t>Table Types</a:t>
            </a:r>
          </a:p>
          <a:p>
            <a:pPr>
              <a:buFont typeface="Wingdings" panose="05000000000000000000" pitchFamily="2" charset="2"/>
              <a:buChar char="Ø"/>
            </a:pPr>
            <a:r>
              <a:rPr lang="en-IN" dirty="0"/>
              <a:t>The table is the basic unit of data storage in an Oracle database. It holds all user accessible data. Each table is made up of columns and rows.</a:t>
            </a:r>
          </a:p>
          <a:p>
            <a:pPr>
              <a:buFont typeface="Wingdings" panose="05000000000000000000" pitchFamily="2" charset="2"/>
              <a:buChar char="Ø"/>
            </a:pPr>
            <a:r>
              <a:rPr lang="en-IN" dirty="0"/>
              <a:t>The most common type of table in an Oracle database is a </a:t>
            </a:r>
            <a:r>
              <a:rPr lang="en-IN" b="1" dirty="0"/>
              <a:t>RELATIONAL TABLE</a:t>
            </a:r>
            <a:r>
              <a:rPr lang="en-IN" dirty="0"/>
              <a:t>, which is structured with simple columns. Two other table types are supported: </a:t>
            </a:r>
            <a:r>
              <a:rPr lang="en-IN" b="1" dirty="0"/>
              <a:t>OBJECT TABLES </a:t>
            </a:r>
            <a:r>
              <a:rPr lang="en-IN" dirty="0"/>
              <a:t>and </a:t>
            </a:r>
            <a:r>
              <a:rPr lang="en-IN" b="1" dirty="0"/>
              <a:t>XML TYPE TABLES</a:t>
            </a:r>
            <a:r>
              <a:rPr lang="en-IN" dirty="0"/>
              <a:t>. Any of the three table types can be defined as </a:t>
            </a:r>
            <a:r>
              <a:rPr lang="en-IN" i="1" dirty="0"/>
              <a:t>permanent</a:t>
            </a:r>
            <a:r>
              <a:rPr lang="en-IN" dirty="0"/>
              <a:t> or </a:t>
            </a:r>
            <a:r>
              <a:rPr lang="en-IN" i="1" dirty="0"/>
              <a:t>temporary.</a:t>
            </a:r>
          </a:p>
          <a:p>
            <a:pPr>
              <a:buFont typeface="Wingdings" panose="05000000000000000000" pitchFamily="2" charset="2"/>
              <a:buChar char="Ø"/>
            </a:pPr>
            <a:r>
              <a:rPr lang="en-IN" dirty="0"/>
              <a:t>Temporary tables hold session-private data that exists only for the duration of a transaction or session. They are useful in applications where a results set must be held temporarily in memory</a:t>
            </a:r>
          </a:p>
          <a:p>
            <a:pPr>
              <a:buFont typeface="Wingdings" panose="05000000000000000000" pitchFamily="2" charset="2"/>
              <a:buChar char="Ø"/>
            </a:pPr>
            <a:r>
              <a:rPr lang="en-IN" dirty="0"/>
              <a:t>You can build relational tables in either </a:t>
            </a:r>
            <a:r>
              <a:rPr lang="en-IN" i="1" dirty="0"/>
              <a:t>heap</a:t>
            </a:r>
            <a:r>
              <a:rPr lang="en-IN" dirty="0"/>
              <a:t> or </a:t>
            </a:r>
            <a:r>
              <a:rPr lang="en-IN" i="1" dirty="0"/>
              <a:t>index-organized</a:t>
            </a:r>
            <a:r>
              <a:rPr lang="en-IN" dirty="0"/>
              <a:t> structures. </a:t>
            </a:r>
          </a:p>
          <a:p>
            <a:pPr>
              <a:buFont typeface="Wingdings" panose="05000000000000000000" pitchFamily="2" charset="2"/>
              <a:buChar char="Ø"/>
            </a:pPr>
            <a:r>
              <a:rPr lang="en-IN" dirty="0"/>
              <a:t>In heap structures, the rows are not stored in any particular order.</a:t>
            </a:r>
          </a:p>
          <a:p>
            <a:pPr>
              <a:buFont typeface="Wingdings" panose="05000000000000000000" pitchFamily="2" charset="2"/>
              <a:buChar char="Ø"/>
            </a:pPr>
            <a:r>
              <a:rPr lang="en-IN" dirty="0"/>
              <a:t> In index-organized tables, the row order is determined by the values in one or more selected columns</a:t>
            </a:r>
            <a:endParaRPr lang="en-IN" i="1" dirty="0"/>
          </a:p>
          <a:p>
            <a:pPr>
              <a:buFont typeface="Wingdings" panose="05000000000000000000" pitchFamily="2" charset="2"/>
              <a:buChar char="Ø"/>
            </a:pPr>
            <a:endParaRPr lang="en-IN" b="1" dirty="0"/>
          </a:p>
        </p:txBody>
      </p:sp>
    </p:spTree>
    <p:extLst>
      <p:ext uri="{BB962C8B-B14F-4D97-AF65-F5344CB8AC3E}">
        <p14:creationId xmlns:p14="http://schemas.microsoft.com/office/powerpoint/2010/main" val="2711419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C3E1-3218-4651-AF51-D4516BD63D27}"/>
              </a:ext>
            </a:extLst>
          </p:cNvPr>
          <p:cNvSpPr>
            <a:spLocks noGrp="1"/>
          </p:cNvSpPr>
          <p:nvPr>
            <p:ph type="title"/>
          </p:nvPr>
        </p:nvSpPr>
        <p:spPr>
          <a:xfrm>
            <a:off x="710214" y="0"/>
            <a:ext cx="11481786" cy="1485900"/>
          </a:xfrm>
        </p:spPr>
        <p:txBody>
          <a:bodyPr/>
          <a:lstStyle/>
          <a:p>
            <a:r>
              <a:rPr lang="en-IN" dirty="0"/>
              <a:t>Actions with Table</a:t>
            </a:r>
          </a:p>
        </p:txBody>
      </p:sp>
      <p:sp>
        <p:nvSpPr>
          <p:cNvPr id="3" name="Content Placeholder 2">
            <a:extLst>
              <a:ext uri="{FF2B5EF4-FFF2-40B4-BE49-F238E27FC236}">
                <a16:creationId xmlns:a16="http://schemas.microsoft.com/office/drawing/2014/main" id="{BB9508F8-3767-4D0F-B271-D045A2FB0BBF}"/>
              </a:ext>
            </a:extLst>
          </p:cNvPr>
          <p:cNvSpPr>
            <a:spLocks noGrp="1"/>
          </p:cNvSpPr>
          <p:nvPr>
            <p:ph idx="1"/>
          </p:nvPr>
        </p:nvSpPr>
        <p:spPr>
          <a:xfrm>
            <a:off x="710213" y="692458"/>
            <a:ext cx="11481785" cy="6165542"/>
          </a:xfrm>
        </p:spPr>
        <p:txBody>
          <a:bodyPr>
            <a:normAutofit lnSpcReduction="10000"/>
          </a:bodyPr>
          <a:lstStyle/>
          <a:p>
            <a:pPr>
              <a:buFont typeface="Wingdings" panose="05000000000000000000" pitchFamily="2" charset="2"/>
              <a:buChar char="§"/>
            </a:pPr>
            <a:r>
              <a:rPr lang="en-IN" b="1" u="sng" dirty="0"/>
              <a:t>Creating Tables</a:t>
            </a:r>
            <a:r>
              <a:rPr lang="en-IN" dirty="0"/>
              <a:t>: To create a new table in your schema, you must have the CREATE TABLE system privilege. To create a table in another user’s schema, you must have the CREATE ANY TABLE system privilege.</a:t>
            </a:r>
          </a:p>
          <a:p>
            <a:pPr marL="0" indent="0">
              <a:buNone/>
            </a:pPr>
            <a:r>
              <a:rPr lang="en-IN" dirty="0"/>
              <a:t>      CREATE TABLE </a:t>
            </a:r>
            <a:r>
              <a:rPr lang="en-IN" dirty="0" err="1"/>
              <a:t>hr.admin_emp</a:t>
            </a:r>
            <a:r>
              <a:rPr lang="en-IN" dirty="0"/>
              <a:t>( </a:t>
            </a:r>
          </a:p>
          <a:p>
            <a:pPr marL="0" indent="0">
              <a:buNone/>
            </a:pPr>
            <a:r>
              <a:rPr lang="en-IN" dirty="0"/>
              <a:t>      </a:t>
            </a:r>
            <a:r>
              <a:rPr lang="en-IN" dirty="0" err="1"/>
              <a:t>empno</a:t>
            </a:r>
            <a:r>
              <a:rPr lang="en-IN" dirty="0"/>
              <a:t> NUMBER(5) PRIMARY KEY, </a:t>
            </a:r>
          </a:p>
          <a:p>
            <a:pPr marL="0" indent="0">
              <a:buNone/>
            </a:pPr>
            <a:r>
              <a:rPr lang="en-IN" dirty="0"/>
              <a:t>      </a:t>
            </a:r>
            <a:r>
              <a:rPr lang="en-IN" dirty="0" err="1"/>
              <a:t>ename</a:t>
            </a:r>
            <a:r>
              <a:rPr lang="en-IN" dirty="0"/>
              <a:t> VARCHAR2(15) NOT NULL,</a:t>
            </a:r>
          </a:p>
          <a:p>
            <a:pPr>
              <a:buFont typeface="Wingdings" panose="05000000000000000000" pitchFamily="2" charset="2"/>
              <a:buChar char="§"/>
            </a:pPr>
            <a:r>
              <a:rPr lang="en-IN" b="1" u="sng" dirty="0"/>
              <a:t>Adding Table Columns</a:t>
            </a:r>
            <a:r>
              <a:rPr lang="en-IN" dirty="0"/>
              <a:t>:</a:t>
            </a:r>
          </a:p>
          <a:p>
            <a:pPr marL="0" indent="0">
              <a:buNone/>
            </a:pPr>
            <a:r>
              <a:rPr lang="en-IN" dirty="0"/>
              <a:t>      </a:t>
            </a:r>
            <a:r>
              <a:rPr lang="en-US" dirty="0"/>
              <a:t>ALTER TABLE </a:t>
            </a:r>
            <a:r>
              <a:rPr lang="en-US" dirty="0" err="1"/>
              <a:t>hr.admin_emp</a:t>
            </a:r>
            <a:endParaRPr lang="en-US" dirty="0"/>
          </a:p>
          <a:p>
            <a:pPr marL="0" indent="0">
              <a:buNone/>
            </a:pPr>
            <a:r>
              <a:rPr lang="en-US" dirty="0"/>
              <a:t>      ADD (bonus NUMBER(7,2));</a:t>
            </a:r>
          </a:p>
          <a:p>
            <a:pPr>
              <a:buFont typeface="Wingdings" panose="05000000000000000000" pitchFamily="2" charset="2"/>
              <a:buChar char="§"/>
            </a:pPr>
            <a:r>
              <a:rPr lang="en-IN" b="1" u="sng" dirty="0"/>
              <a:t>Renaming Table Columns</a:t>
            </a:r>
            <a:r>
              <a:rPr lang="en-IN" dirty="0"/>
              <a:t>:</a:t>
            </a:r>
          </a:p>
          <a:p>
            <a:pPr marL="0" indent="0">
              <a:buNone/>
            </a:pPr>
            <a:r>
              <a:rPr lang="en-IN" dirty="0"/>
              <a:t>      ALTER TABLE </a:t>
            </a:r>
            <a:r>
              <a:rPr lang="en-IN" dirty="0" err="1"/>
              <a:t>hr.admin_emp</a:t>
            </a:r>
            <a:r>
              <a:rPr lang="en-IN" dirty="0"/>
              <a:t> </a:t>
            </a:r>
          </a:p>
          <a:p>
            <a:pPr marL="0" indent="0">
              <a:buNone/>
            </a:pPr>
            <a:r>
              <a:rPr lang="en-IN" dirty="0"/>
              <a:t>      RENAME COLUMN comm TO commission;</a:t>
            </a:r>
          </a:p>
          <a:p>
            <a:pPr>
              <a:buFont typeface="Wingdings" panose="05000000000000000000" pitchFamily="2" charset="2"/>
              <a:buChar char="§"/>
            </a:pPr>
            <a:r>
              <a:rPr lang="en-IN" b="1" u="sng" dirty="0"/>
              <a:t>Dropping Table Columns:</a:t>
            </a:r>
          </a:p>
          <a:p>
            <a:pPr marL="0" indent="0">
              <a:buNone/>
            </a:pPr>
            <a:r>
              <a:rPr lang="en-IN" dirty="0"/>
              <a:t>      ALTER TABLE </a:t>
            </a:r>
            <a:r>
              <a:rPr lang="en-IN" dirty="0" err="1"/>
              <a:t>hr.admin_emp</a:t>
            </a:r>
            <a:r>
              <a:rPr lang="en-IN" dirty="0"/>
              <a:t> DROP COLUMN </a:t>
            </a:r>
            <a:r>
              <a:rPr lang="en-IN" dirty="0" err="1"/>
              <a:t>sal</a:t>
            </a:r>
            <a:r>
              <a:rPr lang="en-IN" dirty="0"/>
              <a:t>; </a:t>
            </a:r>
          </a:p>
          <a:p>
            <a:pPr marL="0" indent="0">
              <a:buNone/>
            </a:pPr>
            <a:r>
              <a:rPr lang="en-IN" dirty="0"/>
              <a:t>      ALTER TABLE </a:t>
            </a:r>
            <a:r>
              <a:rPr lang="en-IN" dirty="0" err="1"/>
              <a:t>hr.admin_emp</a:t>
            </a:r>
            <a:r>
              <a:rPr lang="en-IN" dirty="0"/>
              <a:t> DROP (bonus, commission);</a:t>
            </a:r>
            <a:endParaRPr lang="en-IN" b="1" u="sng" dirty="0"/>
          </a:p>
          <a:p>
            <a:pPr marL="0" indent="0">
              <a:buNone/>
            </a:pPr>
            <a:endParaRPr lang="en-IN" dirty="0"/>
          </a:p>
        </p:txBody>
      </p:sp>
    </p:spTree>
    <p:extLst>
      <p:ext uri="{BB962C8B-B14F-4D97-AF65-F5344CB8AC3E}">
        <p14:creationId xmlns:p14="http://schemas.microsoft.com/office/powerpoint/2010/main" val="3818956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74F3F-C7EE-47B2-8AEE-D3DF08608FDD}"/>
              </a:ext>
            </a:extLst>
          </p:cNvPr>
          <p:cNvSpPr>
            <a:spLocks noGrp="1"/>
          </p:cNvSpPr>
          <p:nvPr>
            <p:ph type="title"/>
          </p:nvPr>
        </p:nvSpPr>
        <p:spPr>
          <a:xfrm>
            <a:off x="719091" y="0"/>
            <a:ext cx="11472909" cy="1485900"/>
          </a:xfrm>
        </p:spPr>
        <p:txBody>
          <a:bodyPr/>
          <a:lstStyle/>
          <a:p>
            <a:r>
              <a:rPr lang="en-IN" dirty="0"/>
              <a:t>Views</a:t>
            </a:r>
          </a:p>
        </p:txBody>
      </p:sp>
      <p:sp>
        <p:nvSpPr>
          <p:cNvPr id="3" name="Content Placeholder 2">
            <a:extLst>
              <a:ext uri="{FF2B5EF4-FFF2-40B4-BE49-F238E27FC236}">
                <a16:creationId xmlns:a16="http://schemas.microsoft.com/office/drawing/2014/main" id="{4426CE1D-2437-4386-A023-E4A94111CDAD}"/>
              </a:ext>
            </a:extLst>
          </p:cNvPr>
          <p:cNvSpPr>
            <a:spLocks noGrp="1"/>
          </p:cNvSpPr>
          <p:nvPr>
            <p:ph idx="1"/>
          </p:nvPr>
        </p:nvSpPr>
        <p:spPr>
          <a:xfrm>
            <a:off x="719091" y="656948"/>
            <a:ext cx="11472909" cy="6201052"/>
          </a:xfrm>
        </p:spPr>
        <p:txBody>
          <a:bodyPr/>
          <a:lstStyle/>
          <a:p>
            <a:pPr>
              <a:buFont typeface="Wingdings" panose="05000000000000000000" pitchFamily="2" charset="2"/>
              <a:buChar char="Ø"/>
            </a:pPr>
            <a:r>
              <a:rPr lang="en-IN" dirty="0"/>
              <a:t>A view is a tailored presentation of the data contained in one or more tables or other views. A view takes the output of a query and treats it as a table.</a:t>
            </a:r>
          </a:p>
          <a:p>
            <a:pPr>
              <a:buFont typeface="Wingdings" panose="05000000000000000000" pitchFamily="2" charset="2"/>
              <a:buChar char="Ø"/>
            </a:pPr>
            <a:r>
              <a:rPr lang="en-IN" dirty="0"/>
              <a:t>Therefore, a view can be thought of as a </a:t>
            </a:r>
            <a:r>
              <a:rPr lang="en-IN" b="1" dirty="0"/>
              <a:t>stored query </a:t>
            </a:r>
            <a:r>
              <a:rPr lang="en-IN" dirty="0"/>
              <a:t>or a </a:t>
            </a:r>
            <a:r>
              <a:rPr lang="en-IN" b="1" dirty="0"/>
              <a:t>virtual table</a:t>
            </a:r>
            <a:r>
              <a:rPr lang="en-IN" dirty="0"/>
              <a:t>. You can use views in most places where a table can be used</a:t>
            </a:r>
          </a:p>
          <a:p>
            <a:pPr>
              <a:buFont typeface="Wingdings" panose="05000000000000000000" pitchFamily="2" charset="2"/>
              <a:buChar char="Ø"/>
            </a:pPr>
            <a:r>
              <a:rPr lang="en-IN" dirty="0"/>
              <a:t>For example, the employees table has several columns and numerous rows of information. If you want users to see only five of these columns or only specific rows, then you can create a view of that table for other users to access.</a:t>
            </a:r>
          </a:p>
          <a:p>
            <a:pPr marL="0" indent="0">
              <a:buNone/>
            </a:pPr>
            <a:endParaRPr lang="en-IN" dirty="0"/>
          </a:p>
        </p:txBody>
      </p:sp>
      <p:pic>
        <p:nvPicPr>
          <p:cNvPr id="7" name="Picture 6">
            <a:extLst>
              <a:ext uri="{FF2B5EF4-FFF2-40B4-BE49-F238E27FC236}">
                <a16:creationId xmlns:a16="http://schemas.microsoft.com/office/drawing/2014/main" id="{EA94CF43-9DAF-4AB2-96EE-E4A8979BA250}"/>
              </a:ext>
            </a:extLst>
          </p:cNvPr>
          <p:cNvPicPr>
            <a:picLocks noChangeAspect="1"/>
          </p:cNvPicPr>
          <p:nvPr/>
        </p:nvPicPr>
        <p:blipFill>
          <a:blip r:embed="rId2"/>
          <a:stretch>
            <a:fillRect/>
          </a:stretch>
        </p:blipFill>
        <p:spPr>
          <a:xfrm>
            <a:off x="3173476" y="3084380"/>
            <a:ext cx="6476551" cy="3773620"/>
          </a:xfrm>
          <a:prstGeom prst="rect">
            <a:avLst/>
          </a:prstGeom>
        </p:spPr>
      </p:pic>
    </p:spTree>
    <p:extLst>
      <p:ext uri="{BB962C8B-B14F-4D97-AF65-F5344CB8AC3E}">
        <p14:creationId xmlns:p14="http://schemas.microsoft.com/office/powerpoint/2010/main" val="1711895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22045-0FE0-4D47-A9A5-D146483F2C04}"/>
              </a:ext>
            </a:extLst>
          </p:cNvPr>
          <p:cNvSpPr>
            <a:spLocks noGrp="1"/>
          </p:cNvSpPr>
          <p:nvPr>
            <p:ph type="title"/>
          </p:nvPr>
        </p:nvSpPr>
        <p:spPr>
          <a:xfrm>
            <a:off x="710214" y="0"/>
            <a:ext cx="11481786" cy="1485900"/>
          </a:xfrm>
        </p:spPr>
        <p:txBody>
          <a:bodyPr/>
          <a:lstStyle/>
          <a:p>
            <a:r>
              <a:rPr lang="en-IN" dirty="0"/>
              <a:t>Sequence Generator</a:t>
            </a:r>
          </a:p>
        </p:txBody>
      </p:sp>
      <p:sp>
        <p:nvSpPr>
          <p:cNvPr id="3" name="Content Placeholder 2">
            <a:extLst>
              <a:ext uri="{FF2B5EF4-FFF2-40B4-BE49-F238E27FC236}">
                <a16:creationId xmlns:a16="http://schemas.microsoft.com/office/drawing/2014/main" id="{EFBEA353-A3E0-478B-AC3A-4926A4EC1FA4}"/>
              </a:ext>
            </a:extLst>
          </p:cNvPr>
          <p:cNvSpPr>
            <a:spLocks noGrp="1"/>
          </p:cNvSpPr>
          <p:nvPr>
            <p:ph idx="1"/>
          </p:nvPr>
        </p:nvSpPr>
        <p:spPr>
          <a:xfrm>
            <a:off x="710214" y="665825"/>
            <a:ext cx="11481786" cy="6192175"/>
          </a:xfrm>
        </p:spPr>
        <p:txBody>
          <a:bodyPr/>
          <a:lstStyle/>
          <a:p>
            <a:pPr>
              <a:buFont typeface="Wingdings" panose="05000000000000000000" pitchFamily="2" charset="2"/>
              <a:buChar char="Ø"/>
            </a:pPr>
            <a:r>
              <a:rPr lang="en-IN" dirty="0"/>
              <a:t>The sequence generator provides a sequential series of numbers. The sequence generator is especially useful in multiuser environments for generating unique sequential numbers</a:t>
            </a:r>
          </a:p>
          <a:p>
            <a:pPr>
              <a:buFont typeface="Wingdings" panose="05000000000000000000" pitchFamily="2" charset="2"/>
              <a:buChar char="Ø"/>
            </a:pPr>
            <a:r>
              <a:rPr lang="en-IN" dirty="0"/>
              <a:t>For example, assume two users are simultaneously inserting new employee rows into the employees table. By using a sequence to generate unique employee numbers for the </a:t>
            </a:r>
            <a:r>
              <a:rPr lang="en-IN" dirty="0" err="1"/>
              <a:t>employee_id</a:t>
            </a:r>
            <a:r>
              <a:rPr lang="en-IN" dirty="0"/>
              <a:t> column, neither user has to wait for the other to enter the next available employee number. The sequence automatically generates the correct values for each user.</a:t>
            </a:r>
          </a:p>
          <a:p>
            <a:pPr>
              <a:buFont typeface="Wingdings" panose="05000000000000000000" pitchFamily="2" charset="2"/>
              <a:buChar char="Ø"/>
            </a:pPr>
            <a:r>
              <a:rPr lang="en-IN" dirty="0"/>
              <a:t>A sequence definition indicates general information, such as the following: </a:t>
            </a:r>
          </a:p>
          <a:p>
            <a:pPr marL="0" indent="0">
              <a:buNone/>
            </a:pPr>
            <a:r>
              <a:rPr lang="en-IN"/>
              <a:t> </a:t>
            </a:r>
            <a:r>
              <a:rPr lang="en-IN" dirty="0"/>
              <a:t>The name of the sequence </a:t>
            </a:r>
          </a:p>
          <a:p>
            <a:pPr marL="0" indent="0">
              <a:buNone/>
            </a:pPr>
            <a:r>
              <a:rPr lang="en-IN" dirty="0"/>
              <a:t> Whether the sequence ascends or descends </a:t>
            </a:r>
          </a:p>
          <a:p>
            <a:pPr marL="0" indent="0">
              <a:buNone/>
            </a:pPr>
            <a:r>
              <a:rPr lang="en-IN" dirty="0"/>
              <a:t> The interval between numbers </a:t>
            </a:r>
          </a:p>
          <a:p>
            <a:pPr marL="0" indent="0">
              <a:buNone/>
            </a:pPr>
            <a:r>
              <a:rPr lang="en-IN" dirty="0"/>
              <a:t> Whether Oracle should cache sets of generated sequence numbers in memory</a:t>
            </a:r>
          </a:p>
        </p:txBody>
      </p:sp>
    </p:spTree>
    <p:extLst>
      <p:ext uri="{BB962C8B-B14F-4D97-AF65-F5344CB8AC3E}">
        <p14:creationId xmlns:p14="http://schemas.microsoft.com/office/powerpoint/2010/main" val="1081747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12F38-2053-4A55-9376-341EDEA18C2E}"/>
              </a:ext>
            </a:extLst>
          </p:cNvPr>
          <p:cNvSpPr>
            <a:spLocks noGrp="1"/>
          </p:cNvSpPr>
          <p:nvPr>
            <p:ph type="title"/>
          </p:nvPr>
        </p:nvSpPr>
        <p:spPr>
          <a:xfrm>
            <a:off x="727969" y="0"/>
            <a:ext cx="11464031" cy="1485900"/>
          </a:xfrm>
        </p:spPr>
        <p:txBody>
          <a:bodyPr/>
          <a:lstStyle/>
          <a:p>
            <a:r>
              <a:rPr lang="en-IN" dirty="0"/>
              <a:t>Partitioning</a:t>
            </a:r>
          </a:p>
        </p:txBody>
      </p:sp>
      <p:sp>
        <p:nvSpPr>
          <p:cNvPr id="3" name="Content Placeholder 2">
            <a:extLst>
              <a:ext uri="{FF2B5EF4-FFF2-40B4-BE49-F238E27FC236}">
                <a16:creationId xmlns:a16="http://schemas.microsoft.com/office/drawing/2014/main" id="{12682A0D-CEA9-4319-8BB9-BC355D5E90E5}"/>
              </a:ext>
            </a:extLst>
          </p:cNvPr>
          <p:cNvSpPr>
            <a:spLocks noGrp="1"/>
          </p:cNvSpPr>
          <p:nvPr>
            <p:ph idx="1"/>
          </p:nvPr>
        </p:nvSpPr>
        <p:spPr>
          <a:xfrm>
            <a:off x="727969" y="692458"/>
            <a:ext cx="11464031" cy="6165542"/>
          </a:xfrm>
        </p:spPr>
        <p:txBody>
          <a:bodyPr/>
          <a:lstStyle/>
          <a:p>
            <a:pPr>
              <a:buFont typeface="Wingdings" panose="05000000000000000000" pitchFamily="2" charset="2"/>
              <a:buChar char="Ø"/>
            </a:pPr>
            <a:r>
              <a:rPr lang="en-IN" dirty="0"/>
              <a:t>Partitioning enhances the performance, manageability, and availability of a wide variety of applications and helps reduce the total cost of ownership for storing large amounts of data.</a:t>
            </a:r>
          </a:p>
          <a:p>
            <a:pPr>
              <a:buFont typeface="Wingdings" panose="05000000000000000000" pitchFamily="2" charset="2"/>
              <a:buChar char="Ø"/>
            </a:pPr>
            <a:r>
              <a:rPr lang="en-IN" dirty="0"/>
              <a:t>Partitioning allows tables, indexes, and index-organized tables to be subdivided into smaller pieces, enabling these database objects to be managed and accessed at a finer level of granularity.</a:t>
            </a:r>
          </a:p>
          <a:p>
            <a:pPr>
              <a:buFont typeface="Wingdings" panose="05000000000000000000" pitchFamily="2" charset="2"/>
              <a:buChar char="Ø"/>
            </a:pPr>
            <a:r>
              <a:rPr lang="en-IN" dirty="0"/>
              <a:t>Each partition has its own name, and may optionally have its own storage characteristics.</a:t>
            </a:r>
          </a:p>
        </p:txBody>
      </p:sp>
      <p:pic>
        <p:nvPicPr>
          <p:cNvPr id="4" name="Picture 3">
            <a:extLst>
              <a:ext uri="{FF2B5EF4-FFF2-40B4-BE49-F238E27FC236}">
                <a16:creationId xmlns:a16="http://schemas.microsoft.com/office/drawing/2014/main" id="{CB2EED06-CE84-443E-A563-987D92FCEA4F}"/>
              </a:ext>
            </a:extLst>
          </p:cNvPr>
          <p:cNvPicPr>
            <a:picLocks noChangeAspect="1"/>
          </p:cNvPicPr>
          <p:nvPr/>
        </p:nvPicPr>
        <p:blipFill>
          <a:blip r:embed="rId2"/>
          <a:stretch>
            <a:fillRect/>
          </a:stretch>
        </p:blipFill>
        <p:spPr>
          <a:xfrm>
            <a:off x="727969" y="2467991"/>
            <a:ext cx="7772400" cy="4390009"/>
          </a:xfrm>
          <a:prstGeom prst="rect">
            <a:avLst/>
          </a:prstGeom>
        </p:spPr>
      </p:pic>
    </p:spTree>
    <p:extLst>
      <p:ext uri="{BB962C8B-B14F-4D97-AF65-F5344CB8AC3E}">
        <p14:creationId xmlns:p14="http://schemas.microsoft.com/office/powerpoint/2010/main" val="3051174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F97EA9-8FDD-409F-885A-873AA91A2D1F}"/>
              </a:ext>
            </a:extLst>
          </p:cNvPr>
          <p:cNvSpPr>
            <a:spLocks noGrp="1"/>
          </p:cNvSpPr>
          <p:nvPr>
            <p:ph idx="1"/>
          </p:nvPr>
        </p:nvSpPr>
        <p:spPr>
          <a:xfrm>
            <a:off x="710214" y="0"/>
            <a:ext cx="11481786" cy="6858000"/>
          </a:xfrm>
        </p:spPr>
        <p:txBody>
          <a:bodyPr/>
          <a:lstStyle/>
          <a:p>
            <a:pPr>
              <a:buFont typeface="Wingdings" panose="05000000000000000000" pitchFamily="2" charset="2"/>
              <a:buChar char="Ø"/>
            </a:pPr>
            <a:endParaRPr lang="en-IN" dirty="0"/>
          </a:p>
          <a:p>
            <a:pPr>
              <a:buFont typeface="Wingdings" panose="05000000000000000000" pitchFamily="2" charset="2"/>
              <a:buChar char="Ø"/>
            </a:pPr>
            <a:r>
              <a:rPr lang="en-IN" dirty="0"/>
              <a:t>Benefits of Partitioning </a:t>
            </a:r>
          </a:p>
          <a:p>
            <a:pPr>
              <a:buFont typeface="Wingdings" panose="05000000000000000000" pitchFamily="2" charset="2"/>
              <a:buChar char="§"/>
            </a:pPr>
            <a:endParaRPr lang="en-IN" dirty="0"/>
          </a:p>
          <a:p>
            <a:pPr>
              <a:buFont typeface="Wingdings" panose="05000000000000000000" pitchFamily="2" charset="2"/>
              <a:buChar char="§"/>
            </a:pPr>
            <a:r>
              <a:rPr lang="en-IN" dirty="0"/>
              <a:t>Improve performance, manageability, and availability </a:t>
            </a:r>
          </a:p>
          <a:p>
            <a:pPr>
              <a:buFont typeface="Wingdings" panose="05000000000000000000" pitchFamily="2" charset="2"/>
              <a:buChar char="§"/>
            </a:pPr>
            <a:endParaRPr lang="en-IN" dirty="0"/>
          </a:p>
          <a:p>
            <a:pPr>
              <a:buFont typeface="Wingdings" panose="05000000000000000000" pitchFamily="2" charset="2"/>
              <a:buChar char="§"/>
            </a:pPr>
            <a:r>
              <a:rPr lang="en-IN" dirty="0"/>
              <a:t>Partitioning can greatly simplify common administration tasks. </a:t>
            </a:r>
          </a:p>
          <a:p>
            <a:pPr>
              <a:buFont typeface="Wingdings" panose="05000000000000000000" pitchFamily="2" charset="2"/>
              <a:buChar char="§"/>
            </a:pPr>
            <a:endParaRPr lang="en-IN" dirty="0"/>
          </a:p>
          <a:p>
            <a:pPr>
              <a:buFont typeface="Wingdings" panose="05000000000000000000" pitchFamily="2" charset="2"/>
              <a:buChar char="§"/>
            </a:pPr>
            <a:r>
              <a:rPr lang="en-IN" dirty="0"/>
              <a:t>Partitioning also enables data base designers and administrators to tackle some of the toughest problems</a:t>
            </a:r>
          </a:p>
        </p:txBody>
      </p:sp>
    </p:spTree>
    <p:extLst>
      <p:ext uri="{BB962C8B-B14F-4D97-AF65-F5344CB8AC3E}">
        <p14:creationId xmlns:p14="http://schemas.microsoft.com/office/powerpoint/2010/main" val="365086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AFA3-D49B-4E31-A922-EFE80752D086}"/>
              </a:ext>
            </a:extLst>
          </p:cNvPr>
          <p:cNvSpPr>
            <a:spLocks noGrp="1"/>
          </p:cNvSpPr>
          <p:nvPr>
            <p:ph type="title"/>
          </p:nvPr>
        </p:nvSpPr>
        <p:spPr>
          <a:xfrm>
            <a:off x="710214" y="0"/>
            <a:ext cx="11481786" cy="1485900"/>
          </a:xfrm>
        </p:spPr>
        <p:txBody>
          <a:bodyPr/>
          <a:lstStyle/>
          <a:p>
            <a:r>
              <a:rPr lang="en-IN" dirty="0"/>
              <a:t>Partitioning Strategies</a:t>
            </a:r>
          </a:p>
        </p:txBody>
      </p:sp>
      <p:sp>
        <p:nvSpPr>
          <p:cNvPr id="3" name="Content Placeholder 2">
            <a:extLst>
              <a:ext uri="{FF2B5EF4-FFF2-40B4-BE49-F238E27FC236}">
                <a16:creationId xmlns:a16="http://schemas.microsoft.com/office/drawing/2014/main" id="{1F8774FA-1392-48A0-9C14-9296CA6E2C4D}"/>
              </a:ext>
            </a:extLst>
          </p:cNvPr>
          <p:cNvSpPr>
            <a:spLocks noGrp="1"/>
          </p:cNvSpPr>
          <p:nvPr>
            <p:ph idx="1"/>
          </p:nvPr>
        </p:nvSpPr>
        <p:spPr>
          <a:xfrm>
            <a:off x="710213" y="656948"/>
            <a:ext cx="11481785" cy="6201052"/>
          </a:xfrm>
        </p:spPr>
        <p:txBody>
          <a:bodyPr/>
          <a:lstStyle/>
          <a:p>
            <a:pPr marL="0" indent="0">
              <a:buNone/>
            </a:pPr>
            <a:r>
              <a:rPr lang="en-IN" dirty="0"/>
              <a:t>Levels: </a:t>
            </a:r>
          </a:p>
          <a:p>
            <a:pPr>
              <a:buFont typeface="Wingdings" panose="05000000000000000000" pitchFamily="2" charset="2"/>
              <a:buChar char="§"/>
            </a:pPr>
            <a:r>
              <a:rPr lang="en-IN" dirty="0"/>
              <a:t>Single-Level Partitioning  </a:t>
            </a:r>
          </a:p>
          <a:p>
            <a:pPr>
              <a:buFont typeface="Wingdings" panose="05000000000000000000" pitchFamily="2" charset="2"/>
              <a:buChar char="§"/>
            </a:pPr>
            <a:r>
              <a:rPr lang="en-IN" dirty="0"/>
              <a:t>Composite Partitioning</a:t>
            </a:r>
          </a:p>
          <a:p>
            <a:pPr marL="0" indent="0">
              <a:buNone/>
            </a:pPr>
            <a:r>
              <a:rPr lang="en-IN" b="1" dirty="0"/>
              <a:t>Single-Level Partitioning:</a:t>
            </a:r>
            <a:endParaRPr lang="en-IN" dirty="0"/>
          </a:p>
          <a:p>
            <a:pPr>
              <a:buFont typeface="Wingdings" panose="05000000000000000000" pitchFamily="2" charset="2"/>
              <a:buChar char="§"/>
            </a:pPr>
            <a:r>
              <a:rPr lang="en-IN" dirty="0"/>
              <a:t>Range Partitioning: Range partitioning maps data to partitions based on ranges of values of the partitioning key that you establish for each partition  </a:t>
            </a:r>
          </a:p>
          <a:p>
            <a:pPr>
              <a:buFont typeface="Wingdings" panose="05000000000000000000" pitchFamily="2" charset="2"/>
              <a:buChar char="§"/>
            </a:pPr>
            <a:r>
              <a:rPr lang="en-IN" dirty="0"/>
              <a:t>Hash Partitioning: Hash partitioning maps data to partitions based on a hashing algorithm that Oracle applies to the partitioning key that you identify. The hashing algorithm evenly distributes rows among partitions, giving partitions approximately the same size. </a:t>
            </a:r>
          </a:p>
          <a:p>
            <a:pPr>
              <a:buFont typeface="Wingdings" panose="05000000000000000000" pitchFamily="2" charset="2"/>
              <a:buChar char="§"/>
            </a:pPr>
            <a:r>
              <a:rPr lang="en-IN" dirty="0"/>
              <a:t>List Partitioning: List partitioning enables you to explicitly control how rows map to partitions by specifying a list of discrete values for the partitioning key in the description for each partition. The advantage of list partitioning is </a:t>
            </a:r>
          </a:p>
          <a:p>
            <a:pPr marL="0" indent="0">
              <a:buNone/>
            </a:pPr>
            <a:r>
              <a:rPr lang="en-IN" dirty="0"/>
              <a:t>      that you can group and organize </a:t>
            </a:r>
          </a:p>
          <a:p>
            <a:pPr marL="0" indent="0">
              <a:buNone/>
            </a:pPr>
            <a:r>
              <a:rPr lang="en-IN" dirty="0"/>
              <a:t>      unordered and unrelated sets of </a:t>
            </a:r>
          </a:p>
          <a:p>
            <a:pPr marL="0" indent="0">
              <a:buNone/>
            </a:pPr>
            <a:r>
              <a:rPr lang="en-IN" dirty="0"/>
              <a:t>      data in a natural way.</a:t>
            </a:r>
          </a:p>
        </p:txBody>
      </p:sp>
      <p:pic>
        <p:nvPicPr>
          <p:cNvPr id="5" name="Picture 4">
            <a:extLst>
              <a:ext uri="{FF2B5EF4-FFF2-40B4-BE49-F238E27FC236}">
                <a16:creationId xmlns:a16="http://schemas.microsoft.com/office/drawing/2014/main" id="{DA12A263-3F24-44CE-9F8B-B28BD95EBF4D}"/>
              </a:ext>
            </a:extLst>
          </p:cNvPr>
          <p:cNvPicPr>
            <a:picLocks noChangeAspect="1"/>
          </p:cNvPicPr>
          <p:nvPr/>
        </p:nvPicPr>
        <p:blipFill>
          <a:blip r:embed="rId2"/>
          <a:stretch>
            <a:fillRect/>
          </a:stretch>
        </p:blipFill>
        <p:spPr>
          <a:xfrm>
            <a:off x="4799566" y="4776186"/>
            <a:ext cx="7392432" cy="2081814"/>
          </a:xfrm>
          <a:prstGeom prst="rect">
            <a:avLst/>
          </a:prstGeom>
        </p:spPr>
      </p:pic>
    </p:spTree>
    <p:extLst>
      <p:ext uri="{BB962C8B-B14F-4D97-AF65-F5344CB8AC3E}">
        <p14:creationId xmlns:p14="http://schemas.microsoft.com/office/powerpoint/2010/main" val="1755269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782E7B2A-AA80-4035-942A-D9C06201844E}"/>
              </a:ext>
            </a:extLst>
          </p:cNvPr>
          <p:cNvSpPr>
            <a:spLocks noGrp="1"/>
          </p:cNvSpPr>
          <p:nvPr>
            <p:ph idx="1"/>
          </p:nvPr>
        </p:nvSpPr>
        <p:spPr>
          <a:xfrm>
            <a:off x="710214" y="0"/>
            <a:ext cx="11481786" cy="6858000"/>
          </a:xfrm>
        </p:spPr>
        <p:txBody>
          <a:bodyPr/>
          <a:lstStyle/>
          <a:p>
            <a:pPr marL="0" indent="0">
              <a:buNone/>
            </a:pPr>
            <a:r>
              <a:rPr lang="en-IN" b="1" dirty="0"/>
              <a:t>Composite Partitioning</a:t>
            </a:r>
          </a:p>
          <a:p>
            <a:pPr marL="0" indent="0">
              <a:buNone/>
            </a:pPr>
            <a:r>
              <a:rPr lang="en-IN" dirty="0"/>
              <a:t>Composite partitioning is a combination of the basic data distribution methods; a table is partitioned by one data distribution method and then each partition is further subdivided into </a:t>
            </a:r>
            <a:r>
              <a:rPr lang="en-IN" dirty="0" err="1"/>
              <a:t>subpartitions</a:t>
            </a:r>
            <a:r>
              <a:rPr lang="en-IN" dirty="0"/>
              <a:t> using a second data distribution method. All </a:t>
            </a:r>
            <a:r>
              <a:rPr lang="en-IN" dirty="0" err="1"/>
              <a:t>subpartitions</a:t>
            </a:r>
            <a:r>
              <a:rPr lang="en-IN" dirty="0"/>
              <a:t> for a given partition together represent a logical subset of the data.</a:t>
            </a:r>
            <a:endParaRPr lang="en-IN" b="1" dirty="0"/>
          </a:p>
        </p:txBody>
      </p:sp>
      <p:pic>
        <p:nvPicPr>
          <p:cNvPr id="18" name="Picture 17">
            <a:extLst>
              <a:ext uri="{FF2B5EF4-FFF2-40B4-BE49-F238E27FC236}">
                <a16:creationId xmlns:a16="http://schemas.microsoft.com/office/drawing/2014/main" id="{93627BD7-E770-4BDB-BC53-BF0099EE734B}"/>
              </a:ext>
            </a:extLst>
          </p:cNvPr>
          <p:cNvPicPr>
            <a:picLocks noChangeAspect="1"/>
          </p:cNvPicPr>
          <p:nvPr/>
        </p:nvPicPr>
        <p:blipFill>
          <a:blip r:embed="rId2"/>
          <a:stretch>
            <a:fillRect/>
          </a:stretch>
        </p:blipFill>
        <p:spPr>
          <a:xfrm>
            <a:off x="2242599" y="2126081"/>
            <a:ext cx="7706801" cy="3502362"/>
          </a:xfrm>
          <a:prstGeom prst="rect">
            <a:avLst/>
          </a:prstGeom>
        </p:spPr>
      </p:pic>
    </p:spTree>
    <p:extLst>
      <p:ext uri="{BB962C8B-B14F-4D97-AF65-F5344CB8AC3E}">
        <p14:creationId xmlns:p14="http://schemas.microsoft.com/office/powerpoint/2010/main" val="3873250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3BF8E-9527-4E16-8EA5-47E4926CEF82}"/>
              </a:ext>
            </a:extLst>
          </p:cNvPr>
          <p:cNvSpPr>
            <a:spLocks noGrp="1"/>
          </p:cNvSpPr>
          <p:nvPr>
            <p:ph type="title"/>
          </p:nvPr>
        </p:nvSpPr>
        <p:spPr>
          <a:xfrm>
            <a:off x="701336" y="0"/>
            <a:ext cx="11490664" cy="1485900"/>
          </a:xfrm>
        </p:spPr>
        <p:txBody>
          <a:bodyPr/>
          <a:lstStyle/>
          <a:p>
            <a:r>
              <a:rPr lang="en-IN" dirty="0"/>
              <a:t>Index-Organized Tables</a:t>
            </a:r>
          </a:p>
        </p:txBody>
      </p:sp>
      <p:sp>
        <p:nvSpPr>
          <p:cNvPr id="3" name="Content Placeholder 2">
            <a:extLst>
              <a:ext uri="{FF2B5EF4-FFF2-40B4-BE49-F238E27FC236}">
                <a16:creationId xmlns:a16="http://schemas.microsoft.com/office/drawing/2014/main" id="{A49153D2-C18C-4AE8-936B-856F311FA634}"/>
              </a:ext>
            </a:extLst>
          </p:cNvPr>
          <p:cNvSpPr>
            <a:spLocks noGrp="1"/>
          </p:cNvSpPr>
          <p:nvPr>
            <p:ph idx="1"/>
          </p:nvPr>
        </p:nvSpPr>
        <p:spPr>
          <a:xfrm>
            <a:off x="701335" y="639192"/>
            <a:ext cx="11490663" cy="6218808"/>
          </a:xfrm>
        </p:spPr>
        <p:txBody>
          <a:bodyPr>
            <a:normAutofit fontScale="92500" lnSpcReduction="10000"/>
          </a:bodyPr>
          <a:lstStyle/>
          <a:p>
            <a:pPr marL="0" indent="0">
              <a:buNone/>
            </a:pPr>
            <a:r>
              <a:rPr lang="en-IN" dirty="0"/>
              <a:t>An index-organized table has a storage organization that is a variant of a primary B-tree. Unlike an ordinary (heap-organized) table whose data is stored as an unordered collection(heap), data for an index-organized table is stored in a B-tree index structure in a primary key sorted manner. The structure of an index-organized table provides the following benefits:  </a:t>
            </a:r>
          </a:p>
          <a:p>
            <a:pPr>
              <a:buFont typeface="Wingdings" panose="05000000000000000000" pitchFamily="2" charset="2"/>
              <a:buChar char="§"/>
            </a:pPr>
            <a:r>
              <a:rPr lang="en-IN" dirty="0"/>
              <a:t>Fast random access on the primary key because an index-only scan is sufficient.</a:t>
            </a:r>
          </a:p>
          <a:p>
            <a:pPr>
              <a:buFont typeface="Wingdings" panose="05000000000000000000" pitchFamily="2" charset="2"/>
              <a:buChar char="§"/>
            </a:pPr>
            <a:r>
              <a:rPr lang="en-IN" dirty="0"/>
              <a:t>Fast range access on the primary key because the rows are clustered in primary key order.</a:t>
            </a:r>
          </a:p>
          <a:p>
            <a:pPr>
              <a:buFont typeface="Wingdings" panose="05000000000000000000" pitchFamily="2" charset="2"/>
              <a:buChar char="§"/>
            </a:pPr>
            <a:r>
              <a:rPr lang="en-IN" dirty="0"/>
              <a:t>Lower storage requirements because duplication of primary keys is avoided. Index-organized tables have full table functionality. They support features such as constraints, triggers, LOB and object columns, partitioning, parallel operations, online reorganization, and replication. And, they offer these additional features:  </a:t>
            </a:r>
          </a:p>
          <a:p>
            <a:pPr>
              <a:buFont typeface="Wingdings" panose="05000000000000000000" pitchFamily="2" charset="2"/>
              <a:buChar char="§"/>
            </a:pPr>
            <a:r>
              <a:rPr lang="en-IN" dirty="0"/>
              <a:t>Key compression </a:t>
            </a:r>
          </a:p>
          <a:p>
            <a:pPr>
              <a:buFont typeface="Wingdings" panose="05000000000000000000" pitchFamily="2" charset="2"/>
              <a:buChar char="§"/>
            </a:pPr>
            <a:r>
              <a:rPr lang="en-IN" dirty="0"/>
              <a:t>Overflow storage area and specific column placement  </a:t>
            </a:r>
          </a:p>
          <a:p>
            <a:pPr>
              <a:buFont typeface="Wingdings" panose="05000000000000000000" pitchFamily="2" charset="2"/>
              <a:buChar char="§"/>
            </a:pPr>
            <a:r>
              <a:rPr lang="en-IN" dirty="0"/>
              <a:t>Secondary indexes, including bit map indexes.</a:t>
            </a:r>
          </a:p>
          <a:p>
            <a:pPr marL="0" indent="0">
              <a:buNone/>
            </a:pPr>
            <a:r>
              <a:rPr lang="en-IN" b="1" dirty="0"/>
              <a:t>Creating an Index-Organized Table </a:t>
            </a:r>
          </a:p>
          <a:p>
            <a:pPr marL="0" indent="0">
              <a:buNone/>
            </a:pPr>
            <a:r>
              <a:rPr lang="en-IN" dirty="0"/>
              <a:t>CREATE TABLE </a:t>
            </a:r>
            <a:r>
              <a:rPr lang="en-IN" dirty="0" err="1"/>
              <a:t>admin_docindex</a:t>
            </a:r>
            <a:r>
              <a:rPr lang="en-IN" dirty="0"/>
              <a:t>( </a:t>
            </a:r>
          </a:p>
          <a:p>
            <a:pPr marL="0" indent="0">
              <a:buNone/>
            </a:pPr>
            <a:r>
              <a:rPr lang="en-IN" dirty="0"/>
              <a:t>          token char(20), </a:t>
            </a:r>
          </a:p>
          <a:p>
            <a:pPr marL="0" indent="0">
              <a:buNone/>
            </a:pPr>
            <a:r>
              <a:rPr lang="en-IN" dirty="0"/>
              <a:t>          </a:t>
            </a:r>
            <a:r>
              <a:rPr lang="en-IN" dirty="0" err="1"/>
              <a:t>doc_id</a:t>
            </a:r>
            <a:r>
              <a:rPr lang="en-IN" dirty="0"/>
              <a:t> NUMBER,</a:t>
            </a:r>
          </a:p>
          <a:p>
            <a:pPr marL="0" indent="0">
              <a:buNone/>
            </a:pPr>
            <a:r>
              <a:rPr lang="en-IN" dirty="0"/>
              <a:t>          </a:t>
            </a:r>
            <a:r>
              <a:rPr lang="en-IN" dirty="0" err="1"/>
              <a:t>token_frequency</a:t>
            </a:r>
            <a:r>
              <a:rPr lang="en-IN" dirty="0"/>
              <a:t> NUMBER,</a:t>
            </a:r>
          </a:p>
        </p:txBody>
      </p:sp>
    </p:spTree>
    <p:extLst>
      <p:ext uri="{BB962C8B-B14F-4D97-AF65-F5344CB8AC3E}">
        <p14:creationId xmlns:p14="http://schemas.microsoft.com/office/powerpoint/2010/main" val="643094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FF5B-0C8E-4F0B-9E01-DAB43D82733B}"/>
              </a:ext>
            </a:extLst>
          </p:cNvPr>
          <p:cNvSpPr>
            <a:spLocks noGrp="1"/>
          </p:cNvSpPr>
          <p:nvPr>
            <p:ph type="title"/>
          </p:nvPr>
        </p:nvSpPr>
        <p:spPr>
          <a:xfrm>
            <a:off x="710214" y="0"/>
            <a:ext cx="11481786" cy="1485900"/>
          </a:xfrm>
        </p:spPr>
        <p:txBody>
          <a:bodyPr/>
          <a:lstStyle/>
          <a:p>
            <a:r>
              <a:rPr lang="en-IN" dirty="0"/>
              <a:t>Heap-organized table</a:t>
            </a:r>
          </a:p>
        </p:txBody>
      </p:sp>
      <p:sp>
        <p:nvSpPr>
          <p:cNvPr id="3" name="Content Placeholder 2">
            <a:extLst>
              <a:ext uri="{FF2B5EF4-FFF2-40B4-BE49-F238E27FC236}">
                <a16:creationId xmlns:a16="http://schemas.microsoft.com/office/drawing/2014/main" id="{C19D79DE-1110-4655-8B0B-B07585158244}"/>
              </a:ext>
            </a:extLst>
          </p:cNvPr>
          <p:cNvSpPr>
            <a:spLocks noGrp="1"/>
          </p:cNvSpPr>
          <p:nvPr>
            <p:ph idx="1"/>
          </p:nvPr>
        </p:nvSpPr>
        <p:spPr>
          <a:xfrm>
            <a:off x="710213" y="692458"/>
            <a:ext cx="11481785" cy="6165542"/>
          </a:xfrm>
        </p:spPr>
        <p:txBody>
          <a:bodyPr/>
          <a:lstStyle/>
          <a:p>
            <a:pPr>
              <a:buFont typeface="Wingdings" panose="05000000000000000000" pitchFamily="2" charset="2"/>
              <a:buChar char="Ø"/>
            </a:pPr>
            <a:endParaRPr lang="en-IN" dirty="0"/>
          </a:p>
          <a:p>
            <a:pPr>
              <a:buFont typeface="Wingdings" panose="05000000000000000000" pitchFamily="2" charset="2"/>
              <a:buChar char="Ø"/>
            </a:pPr>
            <a:r>
              <a:rPr lang="en-IN" dirty="0"/>
              <a:t>A heap-organized table is a table with rows stored in no particular order.</a:t>
            </a:r>
          </a:p>
          <a:p>
            <a:pPr>
              <a:buFont typeface="Wingdings" panose="05000000000000000000" pitchFamily="2" charset="2"/>
              <a:buChar char="Ø"/>
            </a:pPr>
            <a:r>
              <a:rPr lang="en-IN" dirty="0"/>
              <a:t> This is a standard Oracle table; the term "heap“ is used to differentiate it from an index-organized table or external table. </a:t>
            </a:r>
          </a:p>
          <a:p>
            <a:pPr>
              <a:buFont typeface="Wingdings" panose="05000000000000000000" pitchFamily="2" charset="2"/>
              <a:buChar char="Ø"/>
            </a:pPr>
            <a:r>
              <a:rPr lang="en-IN" dirty="0"/>
              <a:t>If a row is moved with in a heap-organized table, the row’s ROWID will also change. </a:t>
            </a:r>
          </a:p>
          <a:p>
            <a:pPr marL="0" indent="0">
              <a:buNone/>
            </a:pPr>
            <a:endParaRPr lang="en-IN" b="1" dirty="0"/>
          </a:p>
          <a:p>
            <a:pPr marL="0" indent="0">
              <a:buNone/>
            </a:pPr>
            <a:r>
              <a:rPr lang="en-IN" b="1" dirty="0"/>
              <a:t>Examples</a:t>
            </a:r>
          </a:p>
          <a:p>
            <a:pPr marL="0" indent="0">
              <a:buNone/>
            </a:pPr>
            <a:r>
              <a:rPr lang="en-IN" dirty="0"/>
              <a:t> CREATE TABLE t1 (c1 NUMBER PRIMARY KEY, c2 VARCHAR2(30)); </a:t>
            </a:r>
          </a:p>
          <a:p>
            <a:pPr marL="0" indent="0">
              <a:buNone/>
            </a:pPr>
            <a:r>
              <a:rPr lang="en-IN" dirty="0"/>
              <a:t> CREATE TABLE t1 (c1 NUMBER PRIMARY KEY, c2 VARCHAR2(30)) ORGANIZATION HEAP; </a:t>
            </a:r>
          </a:p>
        </p:txBody>
      </p:sp>
    </p:spTree>
    <p:extLst>
      <p:ext uri="{BB962C8B-B14F-4D97-AF65-F5344CB8AC3E}">
        <p14:creationId xmlns:p14="http://schemas.microsoft.com/office/powerpoint/2010/main" val="1529401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D986-EE98-4D3B-ACE8-AAFE98C4F4EC}"/>
              </a:ext>
            </a:extLst>
          </p:cNvPr>
          <p:cNvSpPr>
            <a:spLocks noGrp="1"/>
          </p:cNvSpPr>
          <p:nvPr>
            <p:ph type="title"/>
          </p:nvPr>
        </p:nvSpPr>
        <p:spPr>
          <a:xfrm>
            <a:off x="692458" y="0"/>
            <a:ext cx="11499542" cy="763480"/>
          </a:xfrm>
        </p:spPr>
        <p:txBody>
          <a:bodyPr/>
          <a:lstStyle/>
          <a:p>
            <a:r>
              <a:rPr lang="en-IN" dirty="0"/>
              <a:t>Clusters</a:t>
            </a:r>
          </a:p>
        </p:txBody>
      </p:sp>
      <p:sp>
        <p:nvSpPr>
          <p:cNvPr id="3" name="Content Placeholder 2">
            <a:extLst>
              <a:ext uri="{FF2B5EF4-FFF2-40B4-BE49-F238E27FC236}">
                <a16:creationId xmlns:a16="http://schemas.microsoft.com/office/drawing/2014/main" id="{7D7D6F9A-56CC-43A2-9565-2B2D9CCEF176}"/>
              </a:ext>
            </a:extLst>
          </p:cNvPr>
          <p:cNvSpPr>
            <a:spLocks noGrp="1"/>
          </p:cNvSpPr>
          <p:nvPr>
            <p:ph idx="1"/>
          </p:nvPr>
        </p:nvSpPr>
        <p:spPr>
          <a:xfrm>
            <a:off x="692457" y="603682"/>
            <a:ext cx="11499541" cy="6254318"/>
          </a:xfrm>
        </p:spPr>
        <p:txBody>
          <a:bodyPr/>
          <a:lstStyle/>
          <a:p>
            <a:pPr>
              <a:buFont typeface="Wingdings" panose="05000000000000000000" pitchFamily="2" charset="2"/>
              <a:buChar char="Ø"/>
            </a:pPr>
            <a:r>
              <a:rPr lang="en-IN" dirty="0"/>
              <a:t>A cluster provides an optional method of storing table data.</a:t>
            </a:r>
          </a:p>
          <a:p>
            <a:pPr>
              <a:buFont typeface="Wingdings" panose="05000000000000000000" pitchFamily="2" charset="2"/>
              <a:buChar char="Ø"/>
            </a:pPr>
            <a:r>
              <a:rPr lang="en-IN" dirty="0"/>
              <a:t>A cluster is made up of a group of tables that share the same data blocks. </a:t>
            </a:r>
          </a:p>
          <a:p>
            <a:pPr>
              <a:buFont typeface="Wingdings" panose="05000000000000000000" pitchFamily="2" charset="2"/>
              <a:buChar char="Ø"/>
            </a:pPr>
            <a:r>
              <a:rPr lang="en-IN" dirty="0"/>
              <a:t>The tables are grouped together because they share common columns and are often used together. </a:t>
            </a:r>
          </a:p>
          <a:p>
            <a:pPr>
              <a:buFont typeface="Wingdings" panose="05000000000000000000" pitchFamily="2" charset="2"/>
              <a:buChar char="Ø"/>
            </a:pPr>
            <a:r>
              <a:rPr lang="en-IN" dirty="0"/>
              <a:t>Because clusters store related rows of different tables together in the same data blocks, properly used clusters offer two primary benefits: </a:t>
            </a:r>
          </a:p>
          <a:p>
            <a:pPr>
              <a:buFont typeface="Arial" panose="020B0604020202020204" pitchFamily="34" charset="0"/>
              <a:buChar char="•"/>
            </a:pPr>
            <a:r>
              <a:rPr lang="en-IN" dirty="0"/>
              <a:t>Disk I/O is reduced and </a:t>
            </a:r>
            <a:r>
              <a:rPr lang="en-IN" b="1" dirty="0"/>
              <a:t>access time </a:t>
            </a:r>
            <a:r>
              <a:rPr lang="en-IN" dirty="0"/>
              <a:t>improves for joins of clustered tables.</a:t>
            </a:r>
          </a:p>
          <a:p>
            <a:pPr>
              <a:buFont typeface="Arial" panose="020B0604020202020204" pitchFamily="34" charset="0"/>
              <a:buChar char="•"/>
            </a:pPr>
            <a:r>
              <a:rPr lang="en-IN" dirty="0"/>
              <a:t>The cluster key is the column, or </a:t>
            </a:r>
          </a:p>
          <a:p>
            <a:pPr marL="0" indent="0">
              <a:buNone/>
            </a:pPr>
            <a:r>
              <a:rPr lang="en-IN" dirty="0"/>
              <a:t>group of columns, that the clustered </a:t>
            </a:r>
          </a:p>
          <a:p>
            <a:pPr marL="0" indent="0">
              <a:buNone/>
            </a:pPr>
            <a:r>
              <a:rPr lang="en-IN" dirty="0"/>
              <a:t>tables have in common. You specify the </a:t>
            </a:r>
          </a:p>
          <a:p>
            <a:pPr marL="0" indent="0">
              <a:buNone/>
            </a:pPr>
            <a:r>
              <a:rPr lang="en-IN" dirty="0"/>
              <a:t>columns of the cluster key when creating </a:t>
            </a:r>
          </a:p>
          <a:p>
            <a:pPr marL="0" indent="0">
              <a:buNone/>
            </a:pPr>
            <a:r>
              <a:rPr lang="en-IN" dirty="0"/>
              <a:t>the cluster. Therefore</a:t>
            </a:r>
            <a:r>
              <a:rPr lang="en-IN" b="1" dirty="0"/>
              <a:t>, less storage </a:t>
            </a:r>
            <a:r>
              <a:rPr lang="en-IN" dirty="0"/>
              <a:t>might </a:t>
            </a:r>
          </a:p>
          <a:p>
            <a:pPr marL="0" indent="0">
              <a:buNone/>
            </a:pPr>
            <a:r>
              <a:rPr lang="en-IN" dirty="0"/>
              <a:t>be required to store related table and </a:t>
            </a:r>
          </a:p>
          <a:p>
            <a:pPr marL="0" indent="0">
              <a:buNone/>
            </a:pPr>
            <a:r>
              <a:rPr lang="en-IN" dirty="0"/>
              <a:t>index data in a cluster than is necessary</a:t>
            </a:r>
          </a:p>
          <a:p>
            <a:pPr marL="0" indent="0">
              <a:buNone/>
            </a:pPr>
            <a:r>
              <a:rPr lang="en-IN" dirty="0"/>
              <a:t>in non-clustered table format.</a:t>
            </a:r>
          </a:p>
        </p:txBody>
      </p:sp>
      <p:pic>
        <p:nvPicPr>
          <p:cNvPr id="5" name="Picture 4">
            <a:extLst>
              <a:ext uri="{FF2B5EF4-FFF2-40B4-BE49-F238E27FC236}">
                <a16:creationId xmlns:a16="http://schemas.microsoft.com/office/drawing/2014/main" id="{9C707413-9F95-4DAC-844E-04E4CA092B8E}"/>
              </a:ext>
            </a:extLst>
          </p:cNvPr>
          <p:cNvPicPr>
            <a:picLocks noChangeAspect="1"/>
          </p:cNvPicPr>
          <p:nvPr/>
        </p:nvPicPr>
        <p:blipFill>
          <a:blip r:embed="rId2"/>
          <a:stretch>
            <a:fillRect/>
          </a:stretch>
        </p:blipFill>
        <p:spPr>
          <a:xfrm>
            <a:off x="5184559" y="2991776"/>
            <a:ext cx="7007439" cy="3866224"/>
          </a:xfrm>
          <a:prstGeom prst="rect">
            <a:avLst/>
          </a:prstGeom>
        </p:spPr>
      </p:pic>
    </p:spTree>
    <p:extLst>
      <p:ext uri="{BB962C8B-B14F-4D97-AF65-F5344CB8AC3E}">
        <p14:creationId xmlns:p14="http://schemas.microsoft.com/office/powerpoint/2010/main" val="3628753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9174A-7907-4786-8C3F-AA2B093BD5BF}"/>
              </a:ext>
            </a:extLst>
          </p:cNvPr>
          <p:cNvSpPr>
            <a:spLocks noGrp="1"/>
          </p:cNvSpPr>
          <p:nvPr>
            <p:ph type="title"/>
          </p:nvPr>
        </p:nvSpPr>
        <p:spPr>
          <a:xfrm>
            <a:off x="692458" y="0"/>
            <a:ext cx="11499542" cy="1485900"/>
          </a:xfrm>
        </p:spPr>
        <p:txBody>
          <a:bodyPr/>
          <a:lstStyle/>
          <a:p>
            <a:r>
              <a:rPr lang="en-IN" dirty="0"/>
              <a:t>Cluster Types</a:t>
            </a:r>
          </a:p>
        </p:txBody>
      </p:sp>
      <p:sp>
        <p:nvSpPr>
          <p:cNvPr id="3" name="Content Placeholder 2">
            <a:extLst>
              <a:ext uri="{FF2B5EF4-FFF2-40B4-BE49-F238E27FC236}">
                <a16:creationId xmlns:a16="http://schemas.microsoft.com/office/drawing/2014/main" id="{ABFAE856-6E61-4068-A7F2-EA29A88803CD}"/>
              </a:ext>
            </a:extLst>
          </p:cNvPr>
          <p:cNvSpPr>
            <a:spLocks noGrp="1"/>
          </p:cNvSpPr>
          <p:nvPr>
            <p:ph idx="1"/>
          </p:nvPr>
        </p:nvSpPr>
        <p:spPr>
          <a:xfrm>
            <a:off x="692457" y="710214"/>
            <a:ext cx="11499541" cy="6147786"/>
          </a:xfrm>
        </p:spPr>
        <p:txBody>
          <a:bodyPr/>
          <a:lstStyle/>
          <a:p>
            <a:pPr>
              <a:buFont typeface="Arial" panose="020B0604020202020204" pitchFamily="34" charset="0"/>
              <a:buChar char="•"/>
            </a:pPr>
            <a:r>
              <a:rPr lang="en-IN" b="1" dirty="0"/>
              <a:t>Fail-Over Clusters</a:t>
            </a:r>
            <a:r>
              <a:rPr lang="en-IN" dirty="0"/>
              <a:t>: emphasis is on complete avoidance of unplanned downtime and achieving higher availability. High-availability clusters allow multiple servers, in conjunction with shared disk storage units, to quickly recover from failures. </a:t>
            </a:r>
          </a:p>
          <a:p>
            <a:pPr>
              <a:buFont typeface="Arial" panose="020B0604020202020204" pitchFamily="34" charset="0"/>
              <a:buChar char="•"/>
            </a:pPr>
            <a:r>
              <a:rPr lang="en-IN" b="1" dirty="0"/>
              <a:t>Scalable High Performance Clusters</a:t>
            </a:r>
            <a:r>
              <a:rPr lang="en-IN" dirty="0"/>
              <a:t>: provides scalability, high performance, load balancing, and high availability through the use of parallel middleware. These are also called Parallel Clusters or High Performance Computing Clusters (HPCC). </a:t>
            </a:r>
          </a:p>
          <a:p>
            <a:pPr>
              <a:buFont typeface="Arial" panose="020B0604020202020204" pitchFamily="34" charset="0"/>
              <a:buChar char="•"/>
            </a:pPr>
            <a:r>
              <a:rPr lang="en-IN" b="1" dirty="0"/>
              <a:t>Application Clusters</a:t>
            </a:r>
            <a:r>
              <a:rPr lang="en-IN" dirty="0"/>
              <a:t>: Real Application Clusters (Oracle RAC) is a clustered version of Oracle Database based on a comprehensive high-availability stack that can be used as the foundation of a database cloud system as well as a shared infrastructure, ensuring high availability, scalability, and agility for any application. </a:t>
            </a:r>
          </a:p>
          <a:p>
            <a:pPr>
              <a:buFont typeface="Arial" panose="020B0604020202020204" pitchFamily="34" charset="0"/>
              <a:buChar char="•"/>
            </a:pPr>
            <a:r>
              <a:rPr lang="en-IN" b="1" dirty="0"/>
              <a:t>Network Load balancing clusters</a:t>
            </a:r>
            <a:r>
              <a:rPr lang="en-IN" dirty="0"/>
              <a:t>: Load balancing is the means by which network traffic directed to a particular Website is divided between one or more machines in a cluster of servers. System performance is optimized, scalability is simplified, and application availability (a key requirement of Web-based applications) is greatly enhanced.</a:t>
            </a:r>
          </a:p>
        </p:txBody>
      </p:sp>
    </p:spTree>
    <p:extLst>
      <p:ext uri="{BB962C8B-B14F-4D97-AF65-F5344CB8AC3E}">
        <p14:creationId xmlns:p14="http://schemas.microsoft.com/office/powerpoint/2010/main" val="1225249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D73A3-3379-4EF1-BFAB-CFF00C40F1EB}"/>
              </a:ext>
            </a:extLst>
          </p:cNvPr>
          <p:cNvSpPr>
            <a:spLocks noGrp="1"/>
          </p:cNvSpPr>
          <p:nvPr>
            <p:ph type="title"/>
          </p:nvPr>
        </p:nvSpPr>
        <p:spPr>
          <a:xfrm>
            <a:off x="719091" y="0"/>
            <a:ext cx="11472909" cy="1485900"/>
          </a:xfrm>
        </p:spPr>
        <p:txBody>
          <a:bodyPr/>
          <a:lstStyle/>
          <a:p>
            <a:r>
              <a:rPr lang="en-IN" dirty="0"/>
              <a:t>MANAGING DATA AND CONCURRENCY</a:t>
            </a:r>
          </a:p>
        </p:txBody>
      </p:sp>
      <p:sp>
        <p:nvSpPr>
          <p:cNvPr id="3" name="Content Placeholder 2">
            <a:extLst>
              <a:ext uri="{FF2B5EF4-FFF2-40B4-BE49-F238E27FC236}">
                <a16:creationId xmlns:a16="http://schemas.microsoft.com/office/drawing/2014/main" id="{66047973-9BE9-41C5-BE6D-9278C3A96A9A}"/>
              </a:ext>
            </a:extLst>
          </p:cNvPr>
          <p:cNvSpPr>
            <a:spLocks noGrp="1"/>
          </p:cNvSpPr>
          <p:nvPr>
            <p:ph idx="1"/>
          </p:nvPr>
        </p:nvSpPr>
        <p:spPr>
          <a:xfrm>
            <a:off x="719091" y="692458"/>
            <a:ext cx="11472909" cy="6165542"/>
          </a:xfrm>
        </p:spPr>
        <p:txBody>
          <a:bodyPr/>
          <a:lstStyle/>
          <a:p>
            <a:pPr marL="0" indent="0">
              <a:buNone/>
            </a:pPr>
            <a:r>
              <a:rPr lang="en-IN" b="1" dirty="0"/>
              <a:t>Manipulating data through </a:t>
            </a:r>
            <a:r>
              <a:rPr lang="en-IN" b="1" dirty="0" err="1"/>
              <a:t>sql</a:t>
            </a:r>
            <a:r>
              <a:rPr lang="en-IN" b="1" dirty="0"/>
              <a:t> </a:t>
            </a:r>
          </a:p>
          <a:p>
            <a:pPr marL="0" indent="0">
              <a:buNone/>
            </a:pPr>
            <a:r>
              <a:rPr lang="en-IN" dirty="0"/>
              <a:t>SQL language encompasses several categories of statements: statements that work with data, other statements that define and modify the structures (such as tables and indexes) that hold data, and still other statements that control the operation of the database itself. </a:t>
            </a:r>
          </a:p>
          <a:p>
            <a:pPr marL="0" indent="0">
              <a:buNone/>
            </a:pPr>
            <a:r>
              <a:rPr lang="en-IN" dirty="0"/>
              <a:t>Statements used to manipulate data:</a:t>
            </a:r>
          </a:p>
          <a:p>
            <a:pPr>
              <a:buFont typeface="Wingdings" panose="05000000000000000000" pitchFamily="2" charset="2"/>
              <a:buChar char="§"/>
            </a:pPr>
            <a:r>
              <a:rPr lang="en-IN" b="1" dirty="0"/>
              <a:t> INSERT </a:t>
            </a:r>
          </a:p>
          <a:p>
            <a:pPr marL="0" indent="0">
              <a:buNone/>
            </a:pPr>
            <a:r>
              <a:rPr lang="en-IN" dirty="0"/>
              <a:t>Places new records, or rows, into a database table.</a:t>
            </a:r>
          </a:p>
          <a:p>
            <a:pPr marL="0" indent="0">
              <a:buNone/>
            </a:pPr>
            <a:r>
              <a:rPr lang="en-IN" dirty="0">
                <a:highlight>
                  <a:srgbClr val="C0C0C0"/>
                </a:highlight>
              </a:rPr>
              <a:t>INSERT INTO </a:t>
            </a:r>
            <a:r>
              <a:rPr lang="en-IN" dirty="0" err="1">
                <a:highlight>
                  <a:srgbClr val="C0C0C0"/>
                </a:highlight>
              </a:rPr>
              <a:t>table_name</a:t>
            </a:r>
            <a:r>
              <a:rPr lang="en-IN" dirty="0">
                <a:highlight>
                  <a:srgbClr val="C0C0C0"/>
                </a:highlight>
              </a:rPr>
              <a:t> (</a:t>
            </a:r>
            <a:r>
              <a:rPr lang="en-IN" dirty="0" err="1">
                <a:highlight>
                  <a:srgbClr val="C0C0C0"/>
                </a:highlight>
              </a:rPr>
              <a:t>column_list</a:t>
            </a:r>
            <a:r>
              <a:rPr lang="en-IN" dirty="0">
                <a:highlight>
                  <a:srgbClr val="C0C0C0"/>
                </a:highlight>
              </a:rPr>
              <a:t>) VALUES (</a:t>
            </a:r>
            <a:r>
              <a:rPr lang="en-IN" dirty="0" err="1">
                <a:highlight>
                  <a:srgbClr val="C0C0C0"/>
                </a:highlight>
              </a:rPr>
              <a:t>value_list</a:t>
            </a:r>
            <a:r>
              <a:rPr lang="en-IN" dirty="0">
                <a:highlight>
                  <a:srgbClr val="C0C0C0"/>
                </a:highlight>
              </a:rPr>
              <a:t>); </a:t>
            </a:r>
          </a:p>
          <a:p>
            <a:pPr marL="0" indent="0">
              <a:buNone/>
            </a:pPr>
            <a:r>
              <a:rPr lang="en-IN" dirty="0">
                <a:highlight>
                  <a:srgbClr val="C0C0C0"/>
                </a:highlight>
              </a:rPr>
              <a:t>INSERT INTO employee (</a:t>
            </a:r>
            <a:r>
              <a:rPr lang="en-IN" dirty="0" err="1">
                <a:highlight>
                  <a:srgbClr val="C0C0C0"/>
                </a:highlight>
              </a:rPr>
              <a:t>employee_id</a:t>
            </a:r>
            <a:r>
              <a:rPr lang="en-IN" dirty="0">
                <a:highlight>
                  <a:srgbClr val="C0C0C0"/>
                </a:highlight>
              </a:rPr>
              <a:t>, </a:t>
            </a:r>
            <a:r>
              <a:rPr lang="en-IN" dirty="0" err="1">
                <a:highlight>
                  <a:srgbClr val="C0C0C0"/>
                </a:highlight>
              </a:rPr>
              <a:t>employee_name</a:t>
            </a:r>
            <a:r>
              <a:rPr lang="en-IN" dirty="0">
                <a:highlight>
                  <a:srgbClr val="C0C0C0"/>
                </a:highlight>
              </a:rPr>
              <a:t>); VALUES ('114’,’Jasleen Bhatia’);</a:t>
            </a:r>
          </a:p>
          <a:p>
            <a:pPr>
              <a:buFont typeface="Wingdings" panose="05000000000000000000" pitchFamily="2" charset="2"/>
              <a:buChar char="§"/>
            </a:pPr>
            <a:r>
              <a:rPr lang="en-IN" b="1" dirty="0"/>
              <a:t>SELECT</a:t>
            </a:r>
          </a:p>
          <a:p>
            <a:pPr marL="0" indent="0">
              <a:buNone/>
            </a:pPr>
            <a:r>
              <a:rPr lang="en-IN" dirty="0"/>
              <a:t>Retrieves previously inserted rows from a database table.</a:t>
            </a:r>
          </a:p>
          <a:p>
            <a:pPr marL="0" indent="0">
              <a:buNone/>
            </a:pPr>
            <a:r>
              <a:rPr lang="en-US" dirty="0"/>
              <a:t>SELECT * FROM employee;</a:t>
            </a:r>
          </a:p>
          <a:p>
            <a:pPr marL="0" indent="0">
              <a:buNone/>
            </a:pPr>
            <a:r>
              <a:rPr lang="en-US" dirty="0">
                <a:highlight>
                  <a:srgbClr val="C0C0C0"/>
                </a:highlight>
              </a:rPr>
              <a:t>SELECT </a:t>
            </a:r>
            <a:r>
              <a:rPr lang="en-US" dirty="0" err="1">
                <a:highlight>
                  <a:srgbClr val="C0C0C0"/>
                </a:highlight>
              </a:rPr>
              <a:t>employee_id</a:t>
            </a:r>
            <a:r>
              <a:rPr lang="en-US" dirty="0">
                <a:highlight>
                  <a:srgbClr val="C0C0C0"/>
                </a:highlight>
              </a:rPr>
              <a:t>, </a:t>
            </a:r>
            <a:r>
              <a:rPr lang="en-US" dirty="0" err="1">
                <a:highlight>
                  <a:srgbClr val="C0C0C0"/>
                </a:highlight>
              </a:rPr>
              <a:t>employee_name</a:t>
            </a:r>
            <a:r>
              <a:rPr lang="en-US" dirty="0">
                <a:highlight>
                  <a:srgbClr val="C0C0C0"/>
                </a:highlight>
              </a:rPr>
              <a:t>, </a:t>
            </a:r>
            <a:r>
              <a:rPr lang="en-US" dirty="0" err="1">
                <a:highlight>
                  <a:srgbClr val="C0C0C0"/>
                </a:highlight>
              </a:rPr>
              <a:t>employee_hire_date</a:t>
            </a:r>
            <a:r>
              <a:rPr lang="en-US" dirty="0">
                <a:highlight>
                  <a:srgbClr val="C0C0C0"/>
                </a:highlight>
              </a:rPr>
              <a:t>,  </a:t>
            </a:r>
            <a:r>
              <a:rPr lang="en-US" dirty="0" err="1">
                <a:highlight>
                  <a:srgbClr val="C0C0C0"/>
                </a:highlight>
              </a:rPr>
              <a:t>employee_termination_date</a:t>
            </a:r>
            <a:r>
              <a:rPr lang="en-US" dirty="0">
                <a:highlight>
                  <a:srgbClr val="C0C0C0"/>
                </a:highlight>
              </a:rPr>
              <a:t>, </a:t>
            </a:r>
            <a:r>
              <a:rPr lang="en-US" dirty="0" err="1">
                <a:highlight>
                  <a:srgbClr val="C0C0C0"/>
                </a:highlight>
              </a:rPr>
              <a:t>employee_billing_rate</a:t>
            </a:r>
            <a:r>
              <a:rPr lang="en-US" dirty="0">
                <a:highlight>
                  <a:srgbClr val="C0C0C0"/>
                </a:highlight>
              </a:rPr>
              <a:t>  FROM employee; </a:t>
            </a:r>
          </a:p>
          <a:p>
            <a:pPr marL="0" indent="0">
              <a:buNone/>
            </a:pPr>
            <a:r>
              <a:rPr lang="en-US" dirty="0">
                <a:highlight>
                  <a:srgbClr val="C0C0C0"/>
                </a:highlight>
              </a:rPr>
              <a:t>SELECT </a:t>
            </a:r>
            <a:r>
              <a:rPr lang="en-US" dirty="0" err="1">
                <a:highlight>
                  <a:srgbClr val="C0C0C0"/>
                </a:highlight>
              </a:rPr>
              <a:t>employee_id</a:t>
            </a:r>
            <a:r>
              <a:rPr lang="en-US" dirty="0">
                <a:highlight>
                  <a:srgbClr val="C0C0C0"/>
                </a:highlight>
              </a:rPr>
              <a:t>, </a:t>
            </a:r>
            <a:r>
              <a:rPr lang="en-US" dirty="0" err="1">
                <a:highlight>
                  <a:srgbClr val="C0C0C0"/>
                </a:highlight>
              </a:rPr>
              <a:t>employee_name</a:t>
            </a:r>
            <a:r>
              <a:rPr lang="en-US" dirty="0">
                <a:highlight>
                  <a:srgbClr val="C0C0C0"/>
                </a:highlight>
              </a:rPr>
              <a:t>  FROM employee WHERE </a:t>
            </a:r>
            <a:r>
              <a:rPr lang="en-US" dirty="0" err="1">
                <a:highlight>
                  <a:srgbClr val="C0C0C0"/>
                </a:highlight>
              </a:rPr>
              <a:t>employee_id</a:t>
            </a:r>
            <a:r>
              <a:rPr lang="en-US" dirty="0">
                <a:highlight>
                  <a:srgbClr val="C0C0C0"/>
                </a:highlight>
              </a:rPr>
              <a:t>=114;</a:t>
            </a:r>
            <a:endParaRPr lang="en-IN" dirty="0">
              <a:highlight>
                <a:srgbClr val="C0C0C0"/>
              </a:highlight>
            </a:endParaRPr>
          </a:p>
        </p:txBody>
      </p:sp>
    </p:spTree>
    <p:extLst>
      <p:ext uri="{BB962C8B-B14F-4D97-AF65-F5344CB8AC3E}">
        <p14:creationId xmlns:p14="http://schemas.microsoft.com/office/powerpoint/2010/main" val="2714646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EE9CB-9258-4B7F-8C90-65966E336053}"/>
              </a:ext>
            </a:extLst>
          </p:cNvPr>
          <p:cNvSpPr>
            <a:spLocks noGrp="1"/>
          </p:cNvSpPr>
          <p:nvPr>
            <p:ph idx="1"/>
          </p:nvPr>
        </p:nvSpPr>
        <p:spPr>
          <a:xfrm>
            <a:off x="701336" y="0"/>
            <a:ext cx="11490664" cy="6858000"/>
          </a:xfrm>
        </p:spPr>
        <p:txBody>
          <a:bodyPr/>
          <a:lstStyle/>
          <a:p>
            <a:pPr>
              <a:buFont typeface="Wingdings" panose="05000000000000000000" pitchFamily="2" charset="2"/>
              <a:buChar char="§"/>
            </a:pPr>
            <a:r>
              <a:rPr lang="en-IN" b="1" dirty="0"/>
              <a:t>UPDATE </a:t>
            </a:r>
          </a:p>
          <a:p>
            <a:pPr marL="0" indent="0">
              <a:buNone/>
            </a:pPr>
            <a:r>
              <a:rPr lang="en-IN" dirty="0"/>
              <a:t>Modifies data in a table.</a:t>
            </a:r>
          </a:p>
          <a:p>
            <a:pPr marL="0" indent="0">
              <a:buNone/>
            </a:pPr>
            <a:r>
              <a:rPr lang="en-US" dirty="0">
                <a:highlight>
                  <a:srgbClr val="C0C0C0"/>
                </a:highlight>
              </a:rPr>
              <a:t>UPDATE project </a:t>
            </a:r>
          </a:p>
          <a:p>
            <a:pPr marL="0" indent="0">
              <a:buNone/>
            </a:pPr>
            <a:r>
              <a:rPr lang="en-US" dirty="0">
                <a:highlight>
                  <a:srgbClr val="C0C0C0"/>
                </a:highlight>
              </a:rPr>
              <a:t>SET </a:t>
            </a:r>
            <a:r>
              <a:rPr lang="en-US" dirty="0" err="1">
                <a:highlight>
                  <a:srgbClr val="C0C0C0"/>
                </a:highlight>
              </a:rPr>
              <a:t>project_name</a:t>
            </a:r>
            <a:r>
              <a:rPr lang="en-US" dirty="0">
                <a:highlight>
                  <a:srgbClr val="C0C0C0"/>
                </a:highlight>
              </a:rPr>
              <a:t> = 'Virtual Private Network’, </a:t>
            </a:r>
          </a:p>
          <a:p>
            <a:pPr marL="0" indent="0">
              <a:buNone/>
            </a:pPr>
            <a:r>
              <a:rPr lang="en-US" dirty="0" err="1">
                <a:highlight>
                  <a:srgbClr val="C0C0C0"/>
                </a:highlight>
              </a:rPr>
              <a:t>project_budget</a:t>
            </a:r>
            <a:r>
              <a:rPr lang="en-US" dirty="0">
                <a:highlight>
                  <a:srgbClr val="C0C0C0"/>
                </a:highlight>
              </a:rPr>
              <a:t> = 199999.95 </a:t>
            </a:r>
          </a:p>
          <a:p>
            <a:pPr marL="0" indent="0">
              <a:buNone/>
            </a:pPr>
            <a:r>
              <a:rPr lang="en-US" dirty="0">
                <a:highlight>
                  <a:srgbClr val="C0C0C0"/>
                </a:highlight>
              </a:rPr>
              <a:t>WHERE </a:t>
            </a:r>
            <a:r>
              <a:rPr lang="en-US" dirty="0" err="1">
                <a:highlight>
                  <a:srgbClr val="C0C0C0"/>
                </a:highlight>
              </a:rPr>
              <a:t>project_id</a:t>
            </a:r>
            <a:r>
              <a:rPr lang="en-US" dirty="0">
                <a:highlight>
                  <a:srgbClr val="C0C0C0"/>
                </a:highlight>
              </a:rPr>
              <a:t> = 1005;</a:t>
            </a:r>
          </a:p>
          <a:p>
            <a:pPr>
              <a:buFont typeface="Wingdings" panose="05000000000000000000" pitchFamily="2" charset="2"/>
              <a:buChar char="§"/>
            </a:pPr>
            <a:r>
              <a:rPr lang="en-IN" b="1" dirty="0"/>
              <a:t>DELETE </a:t>
            </a:r>
          </a:p>
          <a:p>
            <a:pPr marL="0" indent="0">
              <a:buNone/>
            </a:pPr>
            <a:r>
              <a:rPr lang="en-IN" dirty="0"/>
              <a:t>Deletes data from a table. </a:t>
            </a:r>
          </a:p>
          <a:p>
            <a:pPr marL="0" indent="0">
              <a:buNone/>
            </a:pPr>
            <a:r>
              <a:rPr lang="en-IN" dirty="0">
                <a:highlight>
                  <a:srgbClr val="C0C0C0"/>
                </a:highlight>
              </a:rPr>
              <a:t>DELETE FROM project </a:t>
            </a:r>
          </a:p>
          <a:p>
            <a:pPr marL="0" indent="0">
              <a:buNone/>
            </a:pPr>
            <a:r>
              <a:rPr lang="en-IN" dirty="0">
                <a:highlight>
                  <a:srgbClr val="C0C0C0"/>
                </a:highlight>
              </a:rPr>
              <a:t>WHERE </a:t>
            </a:r>
            <a:r>
              <a:rPr lang="en-IN" dirty="0" err="1">
                <a:highlight>
                  <a:srgbClr val="C0C0C0"/>
                </a:highlight>
              </a:rPr>
              <a:t>project_id</a:t>
            </a:r>
            <a:r>
              <a:rPr lang="en-IN" dirty="0">
                <a:highlight>
                  <a:srgbClr val="C0C0C0"/>
                </a:highlight>
              </a:rPr>
              <a:t>&gt;8000; </a:t>
            </a:r>
          </a:p>
          <a:p>
            <a:pPr marL="0" indent="0">
              <a:buNone/>
            </a:pPr>
            <a:r>
              <a:rPr lang="en-IN" dirty="0">
                <a:highlight>
                  <a:srgbClr val="C0C0C0"/>
                </a:highlight>
              </a:rPr>
              <a:t>TRUNCATE TABLE </a:t>
            </a:r>
            <a:r>
              <a:rPr lang="en-IN" dirty="0" err="1">
                <a:highlight>
                  <a:srgbClr val="C0C0C0"/>
                </a:highlight>
              </a:rPr>
              <a:t>table_name</a:t>
            </a:r>
            <a:r>
              <a:rPr lang="en-IN" dirty="0">
                <a:highlight>
                  <a:srgbClr val="C0C0C0"/>
                </a:highlight>
              </a:rPr>
              <a:t>; </a:t>
            </a:r>
          </a:p>
          <a:p>
            <a:pPr>
              <a:buFont typeface="Wingdings" panose="05000000000000000000" pitchFamily="2" charset="2"/>
              <a:buChar char="§"/>
            </a:pPr>
            <a:r>
              <a:rPr lang="en-IN" b="1" dirty="0"/>
              <a:t>MERGE</a:t>
            </a:r>
            <a:r>
              <a:rPr lang="en-IN" dirty="0"/>
              <a:t> </a:t>
            </a:r>
          </a:p>
          <a:p>
            <a:pPr marL="0" indent="0">
              <a:buNone/>
            </a:pPr>
            <a:r>
              <a:rPr lang="en-IN" dirty="0"/>
              <a:t>Brings a table </a:t>
            </a:r>
            <a:r>
              <a:rPr lang="en-IN" dirty="0" err="1"/>
              <a:t>upto</a:t>
            </a:r>
            <a:r>
              <a:rPr lang="en-IN" dirty="0"/>
              <a:t> date by modifying or inserting rows.</a:t>
            </a:r>
          </a:p>
        </p:txBody>
      </p:sp>
    </p:spTree>
    <p:extLst>
      <p:ext uri="{BB962C8B-B14F-4D97-AF65-F5344CB8AC3E}">
        <p14:creationId xmlns:p14="http://schemas.microsoft.com/office/powerpoint/2010/main" val="3632242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E941D-F11E-410E-A2B0-86251DE4827F}"/>
              </a:ext>
            </a:extLst>
          </p:cNvPr>
          <p:cNvSpPr>
            <a:spLocks noGrp="1"/>
          </p:cNvSpPr>
          <p:nvPr>
            <p:ph type="title"/>
          </p:nvPr>
        </p:nvSpPr>
        <p:spPr>
          <a:xfrm>
            <a:off x="719091" y="0"/>
            <a:ext cx="11472909" cy="1485900"/>
          </a:xfrm>
        </p:spPr>
        <p:txBody>
          <a:bodyPr/>
          <a:lstStyle/>
          <a:p>
            <a:r>
              <a:rPr lang="en-IN" dirty="0"/>
              <a:t>Function</a:t>
            </a:r>
          </a:p>
        </p:txBody>
      </p:sp>
      <p:sp>
        <p:nvSpPr>
          <p:cNvPr id="3" name="Content Placeholder 2">
            <a:extLst>
              <a:ext uri="{FF2B5EF4-FFF2-40B4-BE49-F238E27FC236}">
                <a16:creationId xmlns:a16="http://schemas.microsoft.com/office/drawing/2014/main" id="{A3BABAF1-D73D-4055-BAD8-2B36E8AEE48B}"/>
              </a:ext>
            </a:extLst>
          </p:cNvPr>
          <p:cNvSpPr>
            <a:spLocks noGrp="1"/>
          </p:cNvSpPr>
          <p:nvPr>
            <p:ph idx="1"/>
          </p:nvPr>
        </p:nvSpPr>
        <p:spPr>
          <a:xfrm>
            <a:off x="719091" y="621437"/>
            <a:ext cx="11472909" cy="6236563"/>
          </a:xfrm>
        </p:spPr>
        <p:txBody>
          <a:bodyPr/>
          <a:lstStyle/>
          <a:p>
            <a:pPr marL="0" indent="0">
              <a:buNone/>
            </a:pPr>
            <a:endParaRPr lang="en-IN" dirty="0"/>
          </a:p>
          <a:p>
            <a:pPr marL="0" indent="0">
              <a:buNone/>
            </a:pPr>
            <a:r>
              <a:rPr lang="en-IN" dirty="0"/>
              <a:t>A function is a named PL/SQL Block which is similar to a procedure. The major difference between a procedure and a function is, a function must always return a value, but a procedure may or may not return a value. </a:t>
            </a:r>
          </a:p>
          <a:p>
            <a:pPr marL="0" indent="0">
              <a:buNone/>
            </a:pPr>
            <a:r>
              <a:rPr lang="en-IN" b="1" dirty="0"/>
              <a:t>Creating a Function </a:t>
            </a:r>
          </a:p>
          <a:p>
            <a:pPr marL="0" indent="0">
              <a:buNone/>
            </a:pPr>
            <a:r>
              <a:rPr lang="en-IN" dirty="0">
                <a:highlight>
                  <a:srgbClr val="C0C0C0"/>
                </a:highlight>
              </a:rPr>
              <a:t>CREATE [OR REPLACE] FUNCTION </a:t>
            </a:r>
            <a:r>
              <a:rPr lang="en-IN" dirty="0" err="1">
                <a:highlight>
                  <a:srgbClr val="C0C0C0"/>
                </a:highlight>
              </a:rPr>
              <a:t>function_name</a:t>
            </a:r>
            <a:r>
              <a:rPr lang="en-IN" dirty="0">
                <a:highlight>
                  <a:srgbClr val="C0C0C0"/>
                </a:highlight>
              </a:rPr>
              <a:t> </a:t>
            </a:r>
          </a:p>
          <a:p>
            <a:pPr marL="0" indent="0">
              <a:buNone/>
            </a:pPr>
            <a:r>
              <a:rPr lang="en-IN" dirty="0">
                <a:highlight>
                  <a:srgbClr val="C0C0C0"/>
                </a:highlight>
              </a:rPr>
              <a:t>[(</a:t>
            </a:r>
            <a:r>
              <a:rPr lang="en-IN" dirty="0" err="1">
                <a:highlight>
                  <a:srgbClr val="C0C0C0"/>
                </a:highlight>
              </a:rPr>
              <a:t>parameter_name</a:t>
            </a:r>
            <a:r>
              <a:rPr lang="en-IN" dirty="0">
                <a:highlight>
                  <a:srgbClr val="C0C0C0"/>
                </a:highlight>
              </a:rPr>
              <a:t> [IN|OUT|IN OUT] type[,...])] </a:t>
            </a:r>
          </a:p>
          <a:p>
            <a:pPr marL="0" indent="0">
              <a:buNone/>
            </a:pPr>
            <a:r>
              <a:rPr lang="en-IN" dirty="0">
                <a:highlight>
                  <a:srgbClr val="C0C0C0"/>
                </a:highlight>
              </a:rPr>
              <a:t>RETURN </a:t>
            </a:r>
            <a:r>
              <a:rPr lang="en-IN" dirty="0" err="1">
                <a:highlight>
                  <a:srgbClr val="C0C0C0"/>
                </a:highlight>
              </a:rPr>
              <a:t>return_datatype</a:t>
            </a:r>
            <a:r>
              <a:rPr lang="en-IN" dirty="0">
                <a:highlight>
                  <a:srgbClr val="C0C0C0"/>
                </a:highlight>
              </a:rPr>
              <a:t> </a:t>
            </a:r>
          </a:p>
          <a:p>
            <a:pPr marL="0" indent="0">
              <a:buNone/>
            </a:pPr>
            <a:r>
              <a:rPr lang="en-IN" dirty="0">
                <a:highlight>
                  <a:srgbClr val="C0C0C0"/>
                </a:highlight>
              </a:rPr>
              <a:t>BEGIN &lt;</a:t>
            </a:r>
            <a:r>
              <a:rPr lang="en-IN" dirty="0" err="1">
                <a:highlight>
                  <a:srgbClr val="C0C0C0"/>
                </a:highlight>
              </a:rPr>
              <a:t>function_body</a:t>
            </a:r>
            <a:r>
              <a:rPr lang="en-IN" dirty="0">
                <a:highlight>
                  <a:srgbClr val="C0C0C0"/>
                </a:highlight>
              </a:rPr>
              <a:t>&gt; </a:t>
            </a:r>
          </a:p>
          <a:p>
            <a:pPr marL="0" indent="0">
              <a:buNone/>
            </a:pPr>
            <a:r>
              <a:rPr lang="en-IN" dirty="0">
                <a:highlight>
                  <a:srgbClr val="C0C0C0"/>
                </a:highlight>
              </a:rPr>
              <a:t>END[</a:t>
            </a:r>
            <a:r>
              <a:rPr lang="en-IN" dirty="0" err="1">
                <a:highlight>
                  <a:srgbClr val="C0C0C0"/>
                </a:highlight>
              </a:rPr>
              <a:t>function_name</a:t>
            </a:r>
            <a:r>
              <a:rPr lang="en-IN" dirty="0">
                <a:highlight>
                  <a:srgbClr val="C0C0C0"/>
                </a:highlight>
              </a:rPr>
              <a:t>];</a:t>
            </a:r>
          </a:p>
        </p:txBody>
      </p:sp>
    </p:spTree>
    <p:extLst>
      <p:ext uri="{BB962C8B-B14F-4D97-AF65-F5344CB8AC3E}">
        <p14:creationId xmlns:p14="http://schemas.microsoft.com/office/powerpoint/2010/main" val="3995937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42075-BC2E-4CE1-8232-8F8A7DEDA56B}"/>
              </a:ext>
            </a:extLst>
          </p:cNvPr>
          <p:cNvSpPr>
            <a:spLocks noGrp="1"/>
          </p:cNvSpPr>
          <p:nvPr>
            <p:ph type="title"/>
          </p:nvPr>
        </p:nvSpPr>
        <p:spPr>
          <a:xfrm>
            <a:off x="701336" y="0"/>
            <a:ext cx="11490664" cy="1485900"/>
          </a:xfrm>
        </p:spPr>
        <p:txBody>
          <a:bodyPr/>
          <a:lstStyle/>
          <a:p>
            <a:r>
              <a:rPr lang="en-IN" dirty="0"/>
              <a:t>Procedures</a:t>
            </a:r>
          </a:p>
        </p:txBody>
      </p:sp>
      <p:sp>
        <p:nvSpPr>
          <p:cNvPr id="3" name="Content Placeholder 2">
            <a:extLst>
              <a:ext uri="{FF2B5EF4-FFF2-40B4-BE49-F238E27FC236}">
                <a16:creationId xmlns:a16="http://schemas.microsoft.com/office/drawing/2014/main" id="{AB4736BF-E305-47C7-80C6-B8B7892DD733}"/>
              </a:ext>
            </a:extLst>
          </p:cNvPr>
          <p:cNvSpPr>
            <a:spLocks noGrp="1"/>
          </p:cNvSpPr>
          <p:nvPr>
            <p:ph idx="1"/>
          </p:nvPr>
        </p:nvSpPr>
        <p:spPr>
          <a:xfrm>
            <a:off x="701335" y="603682"/>
            <a:ext cx="11490663" cy="6254318"/>
          </a:xfrm>
        </p:spPr>
        <p:txBody>
          <a:bodyPr/>
          <a:lstStyle/>
          <a:p>
            <a:pPr marL="0" indent="0">
              <a:buNone/>
            </a:pPr>
            <a:endParaRPr lang="en-US" dirty="0"/>
          </a:p>
          <a:p>
            <a:pPr marL="0" indent="0">
              <a:buNone/>
            </a:pPr>
            <a:r>
              <a:rPr lang="en-IN" dirty="0"/>
              <a:t>A procedure is a named PL/SQL Block which is similar to a function. The major difference between a procedure and a function is, a function must always return a value, but a procedure may or may not return a value.</a:t>
            </a:r>
          </a:p>
          <a:p>
            <a:pPr marL="0" indent="0">
              <a:buNone/>
            </a:pPr>
            <a:r>
              <a:rPr lang="en-IN" b="1" dirty="0"/>
              <a:t>Creating a Procedure </a:t>
            </a:r>
          </a:p>
          <a:p>
            <a:pPr marL="0" indent="0">
              <a:buNone/>
            </a:pPr>
            <a:r>
              <a:rPr lang="en-US" dirty="0">
                <a:highlight>
                  <a:srgbClr val="C0C0C0"/>
                </a:highlight>
              </a:rPr>
              <a:t>CREATE [OR REPLACE] PROCEDURE </a:t>
            </a:r>
            <a:r>
              <a:rPr lang="en-US" dirty="0" err="1">
                <a:highlight>
                  <a:srgbClr val="C0C0C0"/>
                </a:highlight>
              </a:rPr>
              <a:t>procedure_name</a:t>
            </a:r>
            <a:r>
              <a:rPr lang="en-US" dirty="0">
                <a:highlight>
                  <a:srgbClr val="C0C0C0"/>
                </a:highlight>
              </a:rPr>
              <a:t> </a:t>
            </a:r>
          </a:p>
          <a:p>
            <a:pPr marL="0" indent="0">
              <a:buNone/>
            </a:pPr>
            <a:r>
              <a:rPr lang="en-US" dirty="0">
                <a:highlight>
                  <a:srgbClr val="C0C0C0"/>
                </a:highlight>
              </a:rPr>
              <a:t>[(</a:t>
            </a:r>
            <a:r>
              <a:rPr lang="en-US" dirty="0" err="1">
                <a:highlight>
                  <a:srgbClr val="C0C0C0"/>
                </a:highlight>
              </a:rPr>
              <a:t>parameter_name</a:t>
            </a:r>
            <a:r>
              <a:rPr lang="en-US" dirty="0">
                <a:highlight>
                  <a:srgbClr val="C0C0C0"/>
                </a:highlight>
              </a:rPr>
              <a:t>[IN|OUT|IN OUT]type[,...])]</a:t>
            </a:r>
          </a:p>
          <a:p>
            <a:pPr marL="0" indent="0">
              <a:buNone/>
            </a:pPr>
            <a:r>
              <a:rPr lang="en-US" dirty="0">
                <a:highlight>
                  <a:srgbClr val="C0C0C0"/>
                </a:highlight>
              </a:rPr>
              <a:t>BEGIN </a:t>
            </a:r>
          </a:p>
          <a:p>
            <a:pPr marL="0" indent="0">
              <a:buNone/>
            </a:pPr>
            <a:r>
              <a:rPr lang="en-US" dirty="0">
                <a:highlight>
                  <a:srgbClr val="C0C0C0"/>
                </a:highlight>
              </a:rPr>
              <a:t>    &lt;</a:t>
            </a:r>
            <a:r>
              <a:rPr lang="en-US" dirty="0" err="1">
                <a:highlight>
                  <a:srgbClr val="C0C0C0"/>
                </a:highlight>
              </a:rPr>
              <a:t>procedure_body</a:t>
            </a:r>
            <a:r>
              <a:rPr lang="en-US" dirty="0">
                <a:highlight>
                  <a:srgbClr val="C0C0C0"/>
                </a:highlight>
              </a:rPr>
              <a:t>&gt;</a:t>
            </a:r>
          </a:p>
          <a:p>
            <a:pPr marL="0" indent="0">
              <a:buNone/>
            </a:pPr>
            <a:r>
              <a:rPr lang="en-US" dirty="0">
                <a:highlight>
                  <a:srgbClr val="C0C0C0"/>
                </a:highlight>
              </a:rPr>
              <a:t>END </a:t>
            </a:r>
            <a:r>
              <a:rPr lang="en-US" dirty="0" err="1">
                <a:highlight>
                  <a:srgbClr val="C0C0C0"/>
                </a:highlight>
              </a:rPr>
              <a:t>procedure_name</a:t>
            </a:r>
            <a:r>
              <a:rPr lang="en-US" dirty="0">
                <a:highlight>
                  <a:srgbClr val="C0C0C0"/>
                </a:highlight>
              </a:rPr>
              <a:t>;</a:t>
            </a:r>
            <a:endParaRPr lang="en-IN" b="1" dirty="0">
              <a:highlight>
                <a:srgbClr val="C0C0C0"/>
              </a:highlight>
            </a:endParaRPr>
          </a:p>
        </p:txBody>
      </p:sp>
    </p:spTree>
    <p:extLst>
      <p:ext uri="{BB962C8B-B14F-4D97-AF65-F5344CB8AC3E}">
        <p14:creationId xmlns:p14="http://schemas.microsoft.com/office/powerpoint/2010/main" val="581291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FF1FB-DE1B-4A7B-82E7-5BC60E7A6AB1}"/>
              </a:ext>
            </a:extLst>
          </p:cNvPr>
          <p:cNvSpPr>
            <a:spLocks noGrp="1"/>
          </p:cNvSpPr>
          <p:nvPr>
            <p:ph type="title"/>
          </p:nvPr>
        </p:nvSpPr>
        <p:spPr>
          <a:xfrm>
            <a:off x="719091" y="0"/>
            <a:ext cx="11472909" cy="1485900"/>
          </a:xfrm>
        </p:spPr>
        <p:txBody>
          <a:bodyPr/>
          <a:lstStyle/>
          <a:p>
            <a:r>
              <a:rPr lang="en-IN" dirty="0"/>
              <a:t>Packages</a:t>
            </a:r>
          </a:p>
        </p:txBody>
      </p:sp>
      <p:sp>
        <p:nvSpPr>
          <p:cNvPr id="3" name="Content Placeholder 2">
            <a:extLst>
              <a:ext uri="{FF2B5EF4-FFF2-40B4-BE49-F238E27FC236}">
                <a16:creationId xmlns:a16="http://schemas.microsoft.com/office/drawing/2014/main" id="{6A98F25B-40BD-4588-905F-F2EEAF3C8610}"/>
              </a:ext>
            </a:extLst>
          </p:cNvPr>
          <p:cNvSpPr>
            <a:spLocks noGrp="1"/>
          </p:cNvSpPr>
          <p:nvPr>
            <p:ph idx="1"/>
          </p:nvPr>
        </p:nvSpPr>
        <p:spPr>
          <a:xfrm>
            <a:off x="719091" y="648070"/>
            <a:ext cx="11472909" cy="6209930"/>
          </a:xfrm>
        </p:spPr>
        <p:txBody>
          <a:bodyPr/>
          <a:lstStyle/>
          <a:p>
            <a:pPr marL="0" indent="0">
              <a:buNone/>
            </a:pPr>
            <a:r>
              <a:rPr lang="en-IN" dirty="0"/>
              <a:t>PL/SQL packages are schema objects that groups logically related PL/SQL types, variables and subprograms. </a:t>
            </a:r>
          </a:p>
          <a:p>
            <a:pPr marL="0" indent="0">
              <a:buNone/>
            </a:pPr>
            <a:r>
              <a:rPr lang="en-IN" b="1" dirty="0"/>
              <a:t>A package will have two mandatory parts: </a:t>
            </a:r>
          </a:p>
          <a:p>
            <a:pPr>
              <a:buFont typeface="Arial" panose="020B0604020202020204" pitchFamily="34" charset="0"/>
              <a:buChar char="•"/>
            </a:pPr>
            <a:r>
              <a:rPr lang="en-IN" u="sng" dirty="0"/>
              <a:t>Package specification: </a:t>
            </a:r>
            <a:r>
              <a:rPr lang="en-IN" dirty="0"/>
              <a:t>The specification is the interface to the package. It just DECLARES the types, variables, constants, exceptions, cursors, and subprograms that can be referenced from outside the package. In other words, it contains all information about the content of the package, but excludes the code for the subprograms.</a:t>
            </a:r>
          </a:p>
          <a:p>
            <a:pPr>
              <a:buFont typeface="Arial" panose="020B0604020202020204" pitchFamily="34" charset="0"/>
              <a:buChar char="•"/>
            </a:pPr>
            <a:r>
              <a:rPr lang="en-IN" u="sng" dirty="0"/>
              <a:t>Package body or definition: </a:t>
            </a:r>
            <a:r>
              <a:rPr lang="en-IN" dirty="0"/>
              <a:t>The package body has the codes for various methods declared in the package specification and other private declarations, which are hidden from code outside the package </a:t>
            </a:r>
          </a:p>
        </p:txBody>
      </p:sp>
    </p:spTree>
    <p:extLst>
      <p:ext uri="{BB962C8B-B14F-4D97-AF65-F5344CB8AC3E}">
        <p14:creationId xmlns:p14="http://schemas.microsoft.com/office/powerpoint/2010/main" val="865618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D189-C3C5-4473-ADD8-560ACCDC2A33}"/>
              </a:ext>
            </a:extLst>
          </p:cNvPr>
          <p:cNvSpPr>
            <a:spLocks noGrp="1"/>
          </p:cNvSpPr>
          <p:nvPr>
            <p:ph type="title"/>
          </p:nvPr>
        </p:nvSpPr>
        <p:spPr>
          <a:xfrm>
            <a:off x="710214" y="0"/>
            <a:ext cx="11481786" cy="1485900"/>
          </a:xfrm>
        </p:spPr>
        <p:txBody>
          <a:bodyPr/>
          <a:lstStyle/>
          <a:p>
            <a:r>
              <a:rPr lang="en-IN" dirty="0"/>
              <a:t>Triggers</a:t>
            </a:r>
          </a:p>
        </p:txBody>
      </p:sp>
      <p:sp>
        <p:nvSpPr>
          <p:cNvPr id="3" name="Content Placeholder 2">
            <a:extLst>
              <a:ext uri="{FF2B5EF4-FFF2-40B4-BE49-F238E27FC236}">
                <a16:creationId xmlns:a16="http://schemas.microsoft.com/office/drawing/2014/main" id="{BDFB5AC3-34A6-45A4-BE0F-391C727FDDDA}"/>
              </a:ext>
            </a:extLst>
          </p:cNvPr>
          <p:cNvSpPr>
            <a:spLocks noGrp="1"/>
          </p:cNvSpPr>
          <p:nvPr>
            <p:ph idx="1"/>
          </p:nvPr>
        </p:nvSpPr>
        <p:spPr>
          <a:xfrm>
            <a:off x="710213" y="665825"/>
            <a:ext cx="11481785" cy="6192175"/>
          </a:xfrm>
        </p:spPr>
        <p:txBody>
          <a:bodyPr/>
          <a:lstStyle/>
          <a:p>
            <a:pPr marL="0" indent="0">
              <a:buNone/>
            </a:pPr>
            <a:endParaRPr lang="en-IN" dirty="0"/>
          </a:p>
          <a:p>
            <a:pPr marL="0" indent="0">
              <a:buNone/>
            </a:pPr>
            <a:r>
              <a:rPr lang="en-IN" dirty="0"/>
              <a:t>Triggers are stored programs, which are automatically executed or fired when some events occur. Triggers are, in fact, written to be executed in response to any of the following events: </a:t>
            </a:r>
          </a:p>
          <a:p>
            <a:pPr>
              <a:buFont typeface="Arial" panose="020B0604020202020204" pitchFamily="34" charset="0"/>
              <a:buChar char="•"/>
            </a:pPr>
            <a:r>
              <a:rPr lang="en-IN" dirty="0"/>
              <a:t>A database manipulation (DML) statement (DELETE, INSERT, or UPDATE). </a:t>
            </a:r>
          </a:p>
          <a:p>
            <a:pPr>
              <a:buFont typeface="Arial" panose="020B0604020202020204" pitchFamily="34" charset="0"/>
              <a:buChar char="•"/>
            </a:pPr>
            <a:r>
              <a:rPr lang="en-IN" dirty="0"/>
              <a:t>A database definition (DDL) statement (CREATE, ALTER, or DROP). </a:t>
            </a:r>
          </a:p>
          <a:p>
            <a:pPr>
              <a:buFont typeface="Arial" panose="020B0604020202020204" pitchFamily="34" charset="0"/>
              <a:buChar char="•"/>
            </a:pPr>
            <a:r>
              <a:rPr lang="en-IN" dirty="0"/>
              <a:t>A database operation (SERVER ERROR, LOG ON, LOG OFF, START UP, or SHUTDOWN). </a:t>
            </a:r>
          </a:p>
          <a:p>
            <a:pPr marL="0" indent="0">
              <a:buNone/>
            </a:pPr>
            <a:r>
              <a:rPr lang="en-IN" dirty="0"/>
              <a:t>Triggers could be defined on the table, view, schema, or database with which the event is associated.</a:t>
            </a:r>
          </a:p>
        </p:txBody>
      </p:sp>
    </p:spTree>
    <p:extLst>
      <p:ext uri="{BB962C8B-B14F-4D97-AF65-F5344CB8AC3E}">
        <p14:creationId xmlns:p14="http://schemas.microsoft.com/office/powerpoint/2010/main" val="699605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C9D3-AAB6-4D81-A8D3-EFA9ED01C54F}"/>
              </a:ext>
            </a:extLst>
          </p:cNvPr>
          <p:cNvSpPr>
            <a:spLocks noGrp="1"/>
          </p:cNvSpPr>
          <p:nvPr>
            <p:ph type="title"/>
          </p:nvPr>
        </p:nvSpPr>
        <p:spPr>
          <a:xfrm>
            <a:off x="710214" y="0"/>
            <a:ext cx="11481786" cy="1485900"/>
          </a:xfrm>
        </p:spPr>
        <p:txBody>
          <a:bodyPr/>
          <a:lstStyle/>
          <a:p>
            <a:r>
              <a:rPr lang="en-IN" dirty="0"/>
              <a:t>Locking Concept</a:t>
            </a:r>
          </a:p>
        </p:txBody>
      </p:sp>
      <p:sp>
        <p:nvSpPr>
          <p:cNvPr id="3" name="Content Placeholder 2">
            <a:extLst>
              <a:ext uri="{FF2B5EF4-FFF2-40B4-BE49-F238E27FC236}">
                <a16:creationId xmlns:a16="http://schemas.microsoft.com/office/drawing/2014/main" id="{C93C0056-8BF2-41BB-9BE3-935C925C8B46}"/>
              </a:ext>
            </a:extLst>
          </p:cNvPr>
          <p:cNvSpPr>
            <a:spLocks noGrp="1"/>
          </p:cNvSpPr>
          <p:nvPr>
            <p:ph idx="1"/>
          </p:nvPr>
        </p:nvSpPr>
        <p:spPr>
          <a:xfrm>
            <a:off x="710213" y="710214"/>
            <a:ext cx="11481785" cy="6147786"/>
          </a:xfrm>
        </p:spPr>
        <p:txBody>
          <a:bodyPr/>
          <a:lstStyle/>
          <a:p>
            <a:pPr>
              <a:buFont typeface="Wingdings" panose="05000000000000000000" pitchFamily="2" charset="2"/>
              <a:buChar char="Ø"/>
            </a:pPr>
            <a:r>
              <a:rPr lang="en-IN" dirty="0"/>
              <a:t>A lock is a mechanism that prevents destructive interactions, which are interactions that incorrectly update data or incorrectly alter underlying data structures, between transactions accessing shared data.</a:t>
            </a:r>
          </a:p>
          <a:p>
            <a:pPr>
              <a:buFont typeface="Wingdings" panose="05000000000000000000" pitchFamily="2" charset="2"/>
              <a:buChar char="Ø"/>
            </a:pPr>
            <a:r>
              <a:rPr lang="en-IN" dirty="0"/>
              <a:t>Locks play a crucial role in maintaining database concurrency and consistency.</a:t>
            </a:r>
          </a:p>
          <a:p>
            <a:pPr>
              <a:buFont typeface="Wingdings" panose="05000000000000000000" pitchFamily="2" charset="2"/>
              <a:buChar char="Ø"/>
            </a:pPr>
            <a:r>
              <a:rPr lang="en-IN" dirty="0"/>
              <a:t>In general, the database uses two types of locks: exclusive locks and share locks</a:t>
            </a:r>
          </a:p>
          <a:p>
            <a:pPr>
              <a:buFont typeface="Wingdings" panose="05000000000000000000" pitchFamily="2" charset="2"/>
              <a:buChar char="Ø"/>
            </a:pPr>
            <a:r>
              <a:rPr lang="en-IN" dirty="0"/>
              <a:t>Only one exclusive lock can be obtained on a resource such as a row or a table, but many share locks can be obtained on a single resource.</a:t>
            </a:r>
          </a:p>
          <a:p>
            <a:pPr>
              <a:buFont typeface="Wingdings" panose="05000000000000000000" pitchFamily="2" charset="2"/>
              <a:buChar char="Ø"/>
            </a:pPr>
            <a:r>
              <a:rPr lang="en-IN" dirty="0"/>
              <a:t>Locks affect the interaction of readers and writers. </a:t>
            </a:r>
          </a:p>
          <a:p>
            <a:pPr>
              <a:buFont typeface="Wingdings" panose="05000000000000000000" pitchFamily="2" charset="2"/>
              <a:buChar char="Ø"/>
            </a:pPr>
            <a:r>
              <a:rPr lang="en-IN" dirty="0"/>
              <a:t>The following rules summarize the locking </a:t>
            </a:r>
            <a:r>
              <a:rPr lang="en-IN" dirty="0" err="1"/>
              <a:t>behavior</a:t>
            </a:r>
            <a:r>
              <a:rPr lang="en-IN" dirty="0"/>
              <a:t>: </a:t>
            </a:r>
          </a:p>
          <a:p>
            <a:pPr>
              <a:buFont typeface="Arial" panose="020B0604020202020204" pitchFamily="34" charset="0"/>
              <a:buChar char="•"/>
            </a:pPr>
            <a:r>
              <a:rPr lang="en-IN" dirty="0"/>
              <a:t>A row is locked only when modified by a writer. </a:t>
            </a:r>
          </a:p>
          <a:p>
            <a:pPr>
              <a:buFont typeface="Arial" panose="020B0604020202020204" pitchFamily="34" charset="0"/>
              <a:buChar char="•"/>
            </a:pPr>
            <a:r>
              <a:rPr lang="en-IN" dirty="0"/>
              <a:t>A writer of a row blocks a concurrent writer of the same row. </a:t>
            </a:r>
          </a:p>
          <a:p>
            <a:pPr>
              <a:buFont typeface="Arial" panose="020B0604020202020204" pitchFamily="34" charset="0"/>
              <a:buChar char="•"/>
            </a:pPr>
            <a:r>
              <a:rPr lang="en-IN" dirty="0"/>
              <a:t>A reader never blocks a writer. </a:t>
            </a:r>
          </a:p>
          <a:p>
            <a:pPr>
              <a:buFont typeface="Arial" panose="020B0604020202020204" pitchFamily="34" charset="0"/>
              <a:buChar char="•"/>
            </a:pPr>
            <a:r>
              <a:rPr lang="en-IN" dirty="0"/>
              <a:t>A writer never blocks a reader.</a:t>
            </a:r>
          </a:p>
        </p:txBody>
      </p:sp>
      <p:pic>
        <p:nvPicPr>
          <p:cNvPr id="4" name="Content Placeholder 5">
            <a:extLst>
              <a:ext uri="{FF2B5EF4-FFF2-40B4-BE49-F238E27FC236}">
                <a16:creationId xmlns:a16="http://schemas.microsoft.com/office/drawing/2014/main" id="{40BD4BDD-ADBC-4377-B2A4-B08989727271}"/>
              </a:ext>
            </a:extLst>
          </p:cNvPr>
          <p:cNvPicPr>
            <a:picLocks noChangeAspect="1"/>
          </p:cNvPicPr>
          <p:nvPr/>
        </p:nvPicPr>
        <p:blipFill>
          <a:blip r:embed="rId2"/>
          <a:stretch>
            <a:fillRect/>
          </a:stretch>
        </p:blipFill>
        <p:spPr>
          <a:xfrm>
            <a:off x="4394447" y="4909351"/>
            <a:ext cx="7797553" cy="1948649"/>
          </a:xfrm>
          <a:prstGeom prst="rect">
            <a:avLst/>
          </a:prstGeom>
        </p:spPr>
      </p:pic>
    </p:spTree>
    <p:extLst>
      <p:ext uri="{BB962C8B-B14F-4D97-AF65-F5344CB8AC3E}">
        <p14:creationId xmlns:p14="http://schemas.microsoft.com/office/powerpoint/2010/main" val="232227474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TM10001105[[fn=Crop]]</Template>
  <TotalTime>510</TotalTime>
  <Words>3135</Words>
  <Application>Microsoft Office PowerPoint</Application>
  <PresentationFormat>Widescreen</PresentationFormat>
  <Paragraphs>230</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Franklin Gothic Book</vt:lpstr>
      <vt:lpstr>Lato</vt:lpstr>
      <vt:lpstr>Rubik</vt:lpstr>
      <vt:lpstr>Wingdings</vt:lpstr>
      <vt:lpstr>Crop</vt:lpstr>
      <vt:lpstr>ADVANCED DATABASE ADMINISTRATION</vt:lpstr>
      <vt:lpstr>DATABASE USER SECURITY</vt:lpstr>
      <vt:lpstr>Authenticating User</vt:lpstr>
      <vt:lpstr>How user authentication works </vt:lpstr>
      <vt:lpstr>PowerPoint Presentation</vt:lpstr>
      <vt:lpstr>Privileges and Roles</vt:lpstr>
      <vt:lpstr>PowerPoint Presentation</vt:lpstr>
      <vt:lpstr>PowerPoint Presentation</vt:lpstr>
      <vt:lpstr>MANAGING SCHEMA OBJECT</vt:lpstr>
      <vt:lpstr>Actions with Table</vt:lpstr>
      <vt:lpstr>Views</vt:lpstr>
      <vt:lpstr>Sequence Generator</vt:lpstr>
      <vt:lpstr>Partitioning</vt:lpstr>
      <vt:lpstr>PowerPoint Presentation</vt:lpstr>
      <vt:lpstr>Partitioning Strategies</vt:lpstr>
      <vt:lpstr>PowerPoint Presentation</vt:lpstr>
      <vt:lpstr>Index-Organized Tables</vt:lpstr>
      <vt:lpstr>Heap-organized table</vt:lpstr>
      <vt:lpstr>Clusters</vt:lpstr>
      <vt:lpstr>Cluster Types</vt:lpstr>
      <vt:lpstr>MANAGING DATA AND CONCURRENCY</vt:lpstr>
      <vt:lpstr>PowerPoint Presentation</vt:lpstr>
      <vt:lpstr>Function</vt:lpstr>
      <vt:lpstr>Procedures</vt:lpstr>
      <vt:lpstr>Packages</vt:lpstr>
      <vt:lpstr>Triggers</vt:lpstr>
      <vt:lpstr>Locking Concept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DATABASE ADMINISTRATION</dc:title>
  <dc:creator>jaspinder singh</dc:creator>
  <cp:lastModifiedBy>jaspinder singh</cp:lastModifiedBy>
  <cp:revision>33</cp:revision>
  <dcterms:created xsi:type="dcterms:W3CDTF">2020-09-15T16:12:50Z</dcterms:created>
  <dcterms:modified xsi:type="dcterms:W3CDTF">2020-10-05T12:08:58Z</dcterms:modified>
</cp:coreProperties>
</file>