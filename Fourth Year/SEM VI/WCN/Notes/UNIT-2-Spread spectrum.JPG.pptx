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6"/>
  </p:notesMasterIdLst>
  <p:sldIdLst>
    <p:sldId id="256" r:id="rId2"/>
    <p:sldId id="262" r:id="rId3"/>
    <p:sldId id="257" r:id="rId4"/>
    <p:sldId id="258" r:id="rId5"/>
    <p:sldId id="263" r:id="rId6"/>
    <p:sldId id="259" r:id="rId7"/>
    <p:sldId id="261" r:id="rId8"/>
    <p:sldId id="264" r:id="rId9"/>
    <p:sldId id="265" r:id="rId10"/>
    <p:sldId id="270"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5304" autoAdjust="0"/>
  </p:normalViewPr>
  <p:slideViewPr>
    <p:cSldViewPr>
      <p:cViewPr varScale="1">
        <p:scale>
          <a:sx n="86" d="100"/>
          <a:sy n="86" d="100"/>
        </p:scale>
        <p:origin x="1354" y="67"/>
      </p:cViewPr>
      <p:guideLst>
        <p:guide orient="horz" pos="2160"/>
        <p:guide pos="2880"/>
      </p:guideLst>
    </p:cSldViewPr>
  </p:slideViewPr>
  <p:outlineViewPr>
    <p:cViewPr>
      <p:scale>
        <a:sx n="33" d="100"/>
        <a:sy n="33" d="100"/>
      </p:scale>
      <p:origin x="12" y="156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00C703-1B0E-45A7-B024-92A4F4FF9EB7}" type="datetimeFigureOut">
              <a:rPr lang="en-US" smtClean="0"/>
              <a:pPr/>
              <a:t>10/7/2020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DDB583-9340-4B7B-A338-F305FCF81EB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B5DDB583-9340-4B7B-A338-F305FCF81EBB}"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43A84C38-1572-4EEE-8448-0987B26EE755}" type="datetimeFigureOut">
              <a:rPr lang="en-US" smtClean="0"/>
              <a:pPr/>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484193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3A84C38-1572-4EEE-8448-0987B26EE755}" type="datetimeFigureOut">
              <a:rPr lang="en-US" smtClean="0"/>
              <a:pPr/>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2078209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43A84C38-1572-4EEE-8448-0987B26EE755}" type="datetimeFigureOut">
              <a:rPr lang="en-US" smtClean="0"/>
              <a:pPr/>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32338667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43A84C38-1572-4EEE-8448-0987B26EE755}" type="datetimeFigureOut">
              <a:rPr lang="en-US" smtClean="0"/>
              <a:pPr/>
              <a:t>10/7/2020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473674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43A84C38-1572-4EEE-8448-0987B26EE755}" type="datetimeFigureOut">
              <a:rPr lang="en-US" smtClean="0"/>
              <a:pPr/>
              <a:t>10/7/2020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22BEA8-46D7-4862-8461-1C4610287D14}" type="slidenum">
              <a:rPr lang="en-US" smtClean="0"/>
              <a:pPr/>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888858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3A84C38-1572-4EEE-8448-0987B26EE755}" type="datetimeFigureOut">
              <a:rPr lang="en-US" smtClean="0"/>
              <a:pPr/>
              <a:t>10/7/2020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2920742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A84C38-1572-4EEE-8448-0987B26EE755}" type="datetimeFigureOut">
              <a:rPr lang="en-US" smtClean="0"/>
              <a:pPr/>
              <a:t>10/7/2020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2635835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43A84C38-1572-4EEE-8448-0987B26EE755}" type="datetimeFigureOut">
              <a:rPr lang="en-US" smtClean="0"/>
              <a:pPr/>
              <a:t>10/7/2020</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54629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3A84C38-1572-4EEE-8448-0987B26EE755}" type="datetimeFigureOut">
              <a:rPr lang="en-US" smtClean="0"/>
              <a:pPr/>
              <a:t>10/7/2020</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289164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3A84C38-1572-4EEE-8448-0987B26EE755}" type="datetimeFigureOut">
              <a:rPr lang="en-US" smtClean="0"/>
              <a:pPr/>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1901362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3A84C38-1572-4EEE-8448-0987B26EE755}" type="datetimeFigureOut">
              <a:rPr lang="en-US" smtClean="0"/>
              <a:pPr/>
              <a:t>10/7/2020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2BEA8-46D7-4862-8461-1C4610287D14}" type="slidenum">
              <a:rPr lang="en-US" smtClean="0"/>
              <a:pPr/>
              <a:t>‹#›</a:t>
            </a:fld>
            <a:endParaRPr lang="en-US"/>
          </a:p>
        </p:txBody>
      </p:sp>
    </p:spTree>
    <p:extLst>
      <p:ext uri="{BB962C8B-B14F-4D97-AF65-F5344CB8AC3E}">
        <p14:creationId xmlns:p14="http://schemas.microsoft.com/office/powerpoint/2010/main" val="3342234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43A84C38-1572-4EEE-8448-0987B26EE755}" type="datetimeFigureOut">
              <a:rPr lang="en-US" smtClean="0"/>
              <a:pPr/>
              <a:t>10/7/2020</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0322BEA8-46D7-4862-8461-1C4610287D14}" type="slidenum">
              <a:rPr lang="en-US" smtClean="0"/>
              <a:pPr/>
              <a:t>‹#›</a:t>
            </a:fld>
            <a:endParaRPr lang="en-US"/>
          </a:p>
        </p:txBody>
      </p:sp>
    </p:spTree>
    <p:extLst>
      <p:ext uri="{BB962C8B-B14F-4D97-AF65-F5344CB8AC3E}">
        <p14:creationId xmlns:p14="http://schemas.microsoft.com/office/powerpoint/2010/main" val="193901873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A1394-C378-CF43-9458-0E57CF5B0924}"/>
              </a:ext>
            </a:extLst>
          </p:cNvPr>
          <p:cNvSpPr>
            <a:spLocks noGrp="1"/>
          </p:cNvSpPr>
          <p:nvPr>
            <p:ph type="ctrTitle"/>
          </p:nvPr>
        </p:nvSpPr>
        <p:spPr>
          <a:xfrm>
            <a:off x="685800" y="692697"/>
            <a:ext cx="7772400" cy="1152127"/>
          </a:xfrm>
        </p:spPr>
        <p:txBody>
          <a:bodyPr>
            <a:normAutofit/>
          </a:bodyPr>
          <a:lstStyle/>
          <a:p>
            <a:r>
              <a:rPr lang="en-US" sz="2800" dirty="0">
                <a:latin typeface="Times New Roman" panose="02020603050405020304" pitchFamily="18" charset="0"/>
                <a:cs typeface="Times New Roman" panose="02020603050405020304" pitchFamily="18" charset="0"/>
              </a:rPr>
              <a:t>Introduction to Spread Spectrum</a:t>
            </a:r>
          </a:p>
        </p:txBody>
      </p:sp>
      <p:sp>
        <p:nvSpPr>
          <p:cNvPr id="4" name="Subtitle 3">
            <a:extLst>
              <a:ext uri="{FF2B5EF4-FFF2-40B4-BE49-F238E27FC236}">
                <a16:creationId xmlns:a16="http://schemas.microsoft.com/office/drawing/2014/main" id="{2C2B74E5-003A-904A-ADAA-B29AD78CB110}"/>
              </a:ext>
            </a:extLst>
          </p:cNvPr>
          <p:cNvSpPr>
            <a:spLocks noGrp="1"/>
          </p:cNvSpPr>
          <p:nvPr>
            <p:ph type="subTitle" idx="1"/>
          </p:nvPr>
        </p:nvSpPr>
        <p:spPr>
          <a:xfrm>
            <a:off x="827584" y="2132856"/>
            <a:ext cx="7560840" cy="3505944"/>
          </a:xfrm>
        </p:spPr>
        <p:txBody>
          <a:bodyPr>
            <a:noAutofit/>
          </a:bodyPr>
          <a:lstStyle/>
          <a:p>
            <a:pPr marL="457200" indent="-457200" algn="r">
              <a:buFont typeface="Wingdings" pitchFamily="2" charset="2"/>
              <a:buChar char="Ø"/>
            </a:pPr>
            <a:r>
              <a:rPr lang="en-US" sz="2300" dirty="0">
                <a:latin typeface="Times New Roman" panose="02020603050405020304" pitchFamily="18" charset="0"/>
                <a:cs typeface="Times New Roman" panose="02020603050405020304" pitchFamily="18" charset="0"/>
              </a:rPr>
              <a:t>Introduction</a:t>
            </a:r>
          </a:p>
          <a:p>
            <a:pPr marL="457200" indent="-457200" algn="r">
              <a:buFont typeface="Wingdings" pitchFamily="2" charset="2"/>
              <a:buChar char="Ø"/>
            </a:pPr>
            <a:r>
              <a:rPr lang="en-US" sz="2300" dirty="0">
                <a:latin typeface="Times New Roman" panose="02020603050405020304" pitchFamily="18" charset="0"/>
                <a:cs typeface="Times New Roman" panose="02020603050405020304" pitchFamily="18" charset="0"/>
              </a:rPr>
              <a:t>Application</a:t>
            </a:r>
          </a:p>
          <a:p>
            <a:pPr marL="457200" indent="-457200" algn="r">
              <a:buFont typeface="Wingdings" pitchFamily="2" charset="2"/>
              <a:buChar char="Ø"/>
            </a:pPr>
            <a:r>
              <a:rPr lang="en-US" sz="2300" dirty="0">
                <a:latin typeface="Times New Roman" panose="02020603050405020304" pitchFamily="18" charset="0"/>
                <a:cs typeface="Times New Roman" panose="02020603050405020304" pitchFamily="18" charset="0"/>
              </a:rPr>
              <a:t>Need</a:t>
            </a:r>
          </a:p>
          <a:p>
            <a:pPr marL="457200" indent="-457200" algn="r">
              <a:buFont typeface="Wingdings" pitchFamily="2" charset="2"/>
              <a:buChar char="Ø"/>
            </a:pPr>
            <a:r>
              <a:rPr lang="en-US" sz="2300" dirty="0">
                <a:latin typeface="Times New Roman" panose="02020603050405020304" pitchFamily="18" charset="0"/>
                <a:cs typeface="Times New Roman" panose="02020603050405020304" pitchFamily="18" charset="0"/>
              </a:rPr>
              <a:t>Significance</a:t>
            </a:r>
          </a:p>
          <a:p>
            <a:pPr marL="457200" indent="-457200" algn="r">
              <a:buFont typeface="Wingdings" pitchFamily="2" charset="2"/>
              <a:buChar char="Ø"/>
            </a:pPr>
            <a:r>
              <a:rPr lang="en-US" sz="2300" dirty="0">
                <a:latin typeface="Times New Roman" panose="02020603050405020304" pitchFamily="18" charset="0"/>
                <a:cs typeface="Times New Roman" panose="02020603050405020304" pitchFamily="18" charset="0"/>
              </a:rPr>
              <a:t>Block Diagram</a:t>
            </a:r>
          </a:p>
          <a:p>
            <a:pPr marL="457200" indent="-457200" algn="r">
              <a:buFont typeface="Wingdings" pitchFamily="2" charset="2"/>
              <a:buChar char="Ø"/>
            </a:pPr>
            <a:r>
              <a:rPr lang="en-US" sz="2300" dirty="0">
                <a:latin typeface="Times New Roman" panose="02020603050405020304" pitchFamily="18" charset="0"/>
                <a:cs typeface="Times New Roman" panose="02020603050405020304" pitchFamily="18" charset="0"/>
              </a:rPr>
              <a:t>Types</a:t>
            </a:r>
          </a:p>
          <a:p>
            <a:pPr algn="l"/>
            <a:r>
              <a:rPr lang="en-US" sz="2300" dirty="0">
                <a:latin typeface="Times New Roman" panose="02020603050405020304" pitchFamily="18" charset="0"/>
                <a:cs typeface="Times New Roman" panose="02020603050405020304" pitchFamily="18" charset="0"/>
              </a:rPr>
              <a:t>By Jasleen Kaur</a:t>
            </a:r>
          </a:p>
          <a:p>
            <a:pPr algn="l"/>
            <a:r>
              <a:rPr lang="en-US" sz="2300">
                <a:latin typeface="Times New Roman" panose="02020603050405020304" pitchFamily="18" charset="0"/>
                <a:cs typeface="Times New Roman" panose="02020603050405020304" pitchFamily="18" charset="0"/>
              </a:rPr>
              <a:t>IT </a:t>
            </a:r>
            <a:r>
              <a:rPr lang="en-US" sz="2300" dirty="0">
                <a:latin typeface="Times New Roman" panose="02020603050405020304" pitchFamily="18" charset="0"/>
                <a:cs typeface="Times New Roman" panose="02020603050405020304" pitchFamily="18" charset="0"/>
              </a:rPr>
              <a:t>Dept. </a:t>
            </a:r>
          </a:p>
          <a:p>
            <a:endParaRPr lang="en-US" sz="2300" dirty="0">
              <a:latin typeface="Times New Roman" panose="02020603050405020304" pitchFamily="18" charset="0"/>
              <a:cs typeface="Times New Roman" panose="02020603050405020304" pitchFamily="18" charset="0"/>
            </a:endParaRPr>
          </a:p>
          <a:p>
            <a:endParaRPr lang="en-US"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fontScale="92500" lnSpcReduction="10000"/>
          </a:bodyPr>
          <a:lstStyle/>
          <a:p>
            <a:r>
              <a:rPr lang="en-IN" sz="2700" b="1" dirty="0">
                <a:latin typeface="Times New Roman" pitchFamily="18" charset="0"/>
                <a:cs typeface="Times New Roman" pitchFamily="18" charset="0"/>
              </a:rPr>
              <a:t>Problems encountered by a communication system </a:t>
            </a:r>
            <a:r>
              <a:rPr lang="en-IN" sz="2700" dirty="0">
                <a:latin typeface="Times New Roman" pitchFamily="18" charset="0"/>
                <a:cs typeface="Times New Roman" pitchFamily="18" charset="0"/>
              </a:rPr>
              <a:t>:</a:t>
            </a:r>
          </a:p>
          <a:p>
            <a:pPr marL="571500" indent="-571500">
              <a:buFont typeface="+mj-lt"/>
              <a:buAutoNum type="romanLcPeriod"/>
            </a:pPr>
            <a:r>
              <a:rPr lang="en-IN" sz="2600" dirty="0">
                <a:latin typeface="Times New Roman" pitchFamily="18" charset="0"/>
                <a:cs typeface="Times New Roman" pitchFamily="18" charset="0"/>
              </a:rPr>
              <a:t>In area such as military the information has to be secured and should not be allowed to interfere communication by any means.</a:t>
            </a:r>
          </a:p>
          <a:p>
            <a:pPr marL="571500" indent="-571500">
              <a:buFont typeface="+mj-lt"/>
              <a:buAutoNum type="romanLcPeriod"/>
            </a:pPr>
            <a:r>
              <a:rPr lang="en-IN" sz="2600" dirty="0">
                <a:latin typeface="Times New Roman" pitchFamily="18" charset="0"/>
                <a:cs typeface="Times New Roman" pitchFamily="18" charset="0"/>
              </a:rPr>
              <a:t>Sometimes a hostile transmitter can jam transmission. To avoid this the channel should be immune to any external interference.</a:t>
            </a:r>
          </a:p>
          <a:p>
            <a:pPr marL="571500" indent="-571500">
              <a:buFont typeface="+mj-lt"/>
              <a:buAutoNum type="romanLcPeriod"/>
            </a:pPr>
            <a:r>
              <a:rPr lang="en-IN" sz="2600" dirty="0">
                <a:latin typeface="Times New Roman" pitchFamily="18" charset="0"/>
                <a:cs typeface="Times New Roman" pitchFamily="18" charset="0"/>
              </a:rPr>
              <a:t>Even in non military communications an unintentional interference is caused by a user who is transmitting its information through a channel which is already being used.</a:t>
            </a:r>
          </a:p>
          <a:p>
            <a:pPr marL="571500" indent="-571500">
              <a:buNone/>
            </a:pPr>
            <a:r>
              <a:rPr lang="en-IN" sz="2600" dirty="0">
                <a:latin typeface="Times New Roman" pitchFamily="18" charset="0"/>
                <a:cs typeface="Times New Roman" pitchFamily="18" charset="0"/>
              </a:rPr>
              <a:t>      </a:t>
            </a:r>
          </a:p>
          <a:p>
            <a:pPr marL="571500" indent="-571500">
              <a:buNone/>
            </a:pPr>
            <a:r>
              <a:rPr lang="en-IN" sz="2600" dirty="0">
                <a:latin typeface="Times New Roman" pitchFamily="18" charset="0"/>
                <a:cs typeface="Times New Roman" pitchFamily="18" charset="0"/>
              </a:rPr>
              <a:t>       These problems can be solved using a technique called spread spectrum.</a:t>
            </a:r>
          </a:p>
          <a:p>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692696"/>
            <a:ext cx="6768751" cy="864096"/>
          </a:xfrm>
        </p:spPr>
        <p:txBody>
          <a:bodyPr/>
          <a:lstStyle/>
          <a:p>
            <a:r>
              <a:rPr lang="en-IN" dirty="0">
                <a:latin typeface="Times New Roman" pitchFamily="18" charset="0"/>
                <a:cs typeface="Times New Roman" pitchFamily="18" charset="0"/>
              </a:rPr>
              <a:t>Spread Spectrum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971601" y="1772816"/>
            <a:ext cx="6768750" cy="4248472"/>
          </a:xfrm>
        </p:spPr>
        <p:txBody>
          <a:bodyPr>
            <a:noAutofit/>
          </a:bodyPr>
          <a:lstStyle/>
          <a:p>
            <a:r>
              <a:rPr lang="en-IN" sz="2100" dirty="0">
                <a:latin typeface="Times New Roman" pitchFamily="18" charset="0"/>
                <a:cs typeface="Times New Roman" pitchFamily="18" charset="0"/>
              </a:rPr>
              <a:t>It is modulation technique in which transmitted BN is larger then information signal BN.</a:t>
            </a:r>
          </a:p>
          <a:p>
            <a:r>
              <a:rPr lang="en-IN" sz="2100" dirty="0">
                <a:latin typeface="Times New Roman" pitchFamily="18" charset="0"/>
                <a:cs typeface="Times New Roman" pitchFamily="18" charset="0"/>
              </a:rPr>
              <a:t>Bit  rate of spreading sequence is much larger than the input data.</a:t>
            </a:r>
          </a:p>
          <a:p>
            <a:r>
              <a:rPr lang="en-IN" sz="2100" dirty="0">
                <a:latin typeface="Times New Roman" pitchFamily="18" charset="0"/>
                <a:cs typeface="Times New Roman" pitchFamily="18" charset="0"/>
              </a:rPr>
              <a:t>SS signal occupies a larger bandwidth than that of normal signal .</a:t>
            </a:r>
          </a:p>
          <a:p>
            <a:r>
              <a:rPr lang="en-IN" sz="2100" dirty="0">
                <a:latin typeface="Times New Roman" pitchFamily="18" charset="0"/>
                <a:cs typeface="Times New Roman" pitchFamily="18" charset="0"/>
              </a:rPr>
              <a:t>Problem such as capacity limits, propagation effects, synchronization occur with wireless systems.</a:t>
            </a:r>
          </a:p>
          <a:p>
            <a:r>
              <a:rPr lang="en-IN" sz="2100" dirty="0">
                <a:latin typeface="Times New Roman" pitchFamily="18" charset="0"/>
                <a:cs typeface="Times New Roman" pitchFamily="18" charset="0"/>
              </a:rPr>
              <a:t>Spread Spectrum modulation spreads out the modulated signal bandwidth so it is much greater than the message bandwidth. </a:t>
            </a:r>
          </a:p>
          <a:p>
            <a:endParaRPr lang="en-US" sz="21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571480"/>
            <a:ext cx="8229600" cy="5554683"/>
          </a:xfrm>
        </p:spPr>
        <p:txBody>
          <a:bodyPr/>
          <a:lstStyle/>
          <a:p>
            <a:r>
              <a:rPr lang="en-IN" sz="2600" dirty="0" err="1">
                <a:latin typeface="Times New Roman" pitchFamily="18" charset="0"/>
                <a:cs typeface="Times New Roman" pitchFamily="18" charset="0"/>
              </a:rPr>
              <a:t>Bss</a:t>
            </a:r>
            <a:r>
              <a:rPr lang="en-IN" sz="2600" dirty="0">
                <a:latin typeface="Times New Roman" pitchFamily="18" charset="0"/>
                <a:cs typeface="Times New Roman" pitchFamily="18" charset="0"/>
              </a:rPr>
              <a:t>&gt;&gt;B  (BSS: Spreading Bandwidth, B:Bandwidth of signal)</a:t>
            </a:r>
          </a:p>
          <a:p>
            <a:r>
              <a:rPr lang="en-IN" sz="2600" dirty="0">
                <a:latin typeface="Times New Roman" pitchFamily="18" charset="0"/>
                <a:cs typeface="Times New Roman" pitchFamily="18" charset="0"/>
              </a:rPr>
              <a:t>BSS=LB ;</a:t>
            </a:r>
          </a:p>
          <a:p>
            <a:r>
              <a:rPr lang="en-IN" sz="2600" dirty="0">
                <a:latin typeface="Times New Roman" pitchFamily="18" charset="0"/>
                <a:cs typeface="Times New Roman" pitchFamily="18" charset="0"/>
              </a:rPr>
              <a:t>Processing Gain or Spreading Factor; L= BSS/B {for </a:t>
            </a:r>
            <a:r>
              <a:rPr lang="en-IN" sz="2600" dirty="0" err="1">
                <a:latin typeface="Times New Roman" pitchFamily="18" charset="0"/>
                <a:cs typeface="Times New Roman" pitchFamily="18" charset="0"/>
              </a:rPr>
              <a:t>Analog</a:t>
            </a:r>
            <a:r>
              <a:rPr lang="en-IN" sz="2600" dirty="0">
                <a:latin typeface="Times New Roman" pitchFamily="18" charset="0"/>
                <a:cs typeface="Times New Roman" pitchFamily="18" charset="0"/>
              </a:rPr>
              <a:t> System}</a:t>
            </a:r>
          </a:p>
          <a:p>
            <a:r>
              <a:rPr lang="en-IN" sz="2600" dirty="0">
                <a:latin typeface="Times New Roman" pitchFamily="18" charset="0"/>
                <a:cs typeface="Times New Roman" pitchFamily="18" charset="0"/>
              </a:rPr>
              <a:t>L=Tb/</a:t>
            </a:r>
            <a:r>
              <a:rPr lang="en-IN" sz="2600" dirty="0" err="1">
                <a:latin typeface="Times New Roman" pitchFamily="18" charset="0"/>
                <a:cs typeface="Times New Roman" pitchFamily="18" charset="0"/>
              </a:rPr>
              <a:t>Tc</a:t>
            </a:r>
            <a:r>
              <a:rPr lang="en-IN" sz="2600" dirty="0">
                <a:latin typeface="Times New Roman" pitchFamily="18" charset="0"/>
                <a:cs typeface="Times New Roman" pitchFamily="18" charset="0"/>
              </a:rPr>
              <a:t> (</a:t>
            </a:r>
            <a:r>
              <a:rPr lang="en-IN" sz="2600" dirty="0" err="1">
                <a:latin typeface="Times New Roman" pitchFamily="18" charset="0"/>
                <a:cs typeface="Times New Roman" pitchFamily="18" charset="0"/>
              </a:rPr>
              <a:t>Tb:bit</a:t>
            </a:r>
            <a:r>
              <a:rPr lang="en-IN" sz="2600" dirty="0">
                <a:latin typeface="Times New Roman" pitchFamily="18" charset="0"/>
                <a:cs typeface="Times New Roman" pitchFamily="18" charset="0"/>
              </a:rPr>
              <a:t> time period , </a:t>
            </a:r>
            <a:r>
              <a:rPr lang="en-IN" sz="2600" dirty="0" err="1">
                <a:latin typeface="Times New Roman" pitchFamily="18" charset="0"/>
                <a:cs typeface="Times New Roman" pitchFamily="18" charset="0"/>
              </a:rPr>
              <a:t>Tc</a:t>
            </a:r>
            <a:r>
              <a:rPr lang="en-IN" sz="2600" dirty="0">
                <a:latin typeface="Times New Roman" pitchFamily="18" charset="0"/>
                <a:cs typeface="Times New Roman" pitchFamily="18" charset="0"/>
              </a:rPr>
              <a:t>: chip time period) {for Digital System}</a:t>
            </a:r>
          </a:p>
          <a:p>
            <a:endParaRPr lang="en-US" dirty="0"/>
          </a:p>
        </p:txBody>
      </p:sp>
      <p:pic>
        <p:nvPicPr>
          <p:cNvPr id="7" name="Picture 6" descr="Spread spectrum.JPG"/>
          <p:cNvPicPr>
            <a:picLocks noChangeAspect="1"/>
          </p:cNvPicPr>
          <p:nvPr/>
        </p:nvPicPr>
        <p:blipFill>
          <a:blip r:embed="rId2"/>
          <a:srcRect b="22976"/>
          <a:stretch>
            <a:fillRect/>
          </a:stretch>
        </p:blipFill>
        <p:spPr>
          <a:xfrm>
            <a:off x="1500166" y="4000504"/>
            <a:ext cx="6072230" cy="20717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340369"/>
          </a:xfrm>
        </p:spPr>
        <p:txBody>
          <a:bodyPr>
            <a:normAutofit fontScale="92500" lnSpcReduction="20000"/>
          </a:bodyPr>
          <a:lstStyle/>
          <a:p>
            <a:pPr>
              <a:buFont typeface="Wingdings" pitchFamily="2" charset="2"/>
              <a:buChar char="Ø"/>
            </a:pPr>
            <a:r>
              <a:rPr lang="en-IN" sz="2700" dirty="0">
                <a:latin typeface="Times New Roman" pitchFamily="18" charset="0"/>
                <a:cs typeface="Times New Roman" pitchFamily="18" charset="0"/>
              </a:rPr>
              <a:t>Application of SS Modulation Technique:</a:t>
            </a:r>
          </a:p>
          <a:p>
            <a:pPr marL="571500" indent="-571500">
              <a:buFont typeface="+mj-lt"/>
              <a:buAutoNum type="romanLcPeriod"/>
            </a:pPr>
            <a:r>
              <a:rPr lang="en-IN" sz="2700" dirty="0">
                <a:latin typeface="Times New Roman" pitchFamily="18" charset="0"/>
                <a:cs typeface="Times New Roman" pitchFamily="18" charset="0"/>
              </a:rPr>
              <a:t>In combating the intentional interference (jamming)</a:t>
            </a:r>
          </a:p>
          <a:p>
            <a:pPr marL="571500" indent="-571500">
              <a:buFont typeface="+mj-lt"/>
              <a:buAutoNum type="romanLcPeriod"/>
            </a:pPr>
            <a:r>
              <a:rPr lang="en-IN" sz="2700" dirty="0">
                <a:latin typeface="Times New Roman" pitchFamily="18" charset="0"/>
                <a:cs typeface="Times New Roman" pitchFamily="18" charset="0"/>
              </a:rPr>
              <a:t>In rejecting the unintentional interference from some other user.</a:t>
            </a:r>
          </a:p>
          <a:p>
            <a:pPr marL="571500" indent="-571500">
              <a:buFont typeface="+mj-lt"/>
              <a:buAutoNum type="romanLcPeriod"/>
            </a:pPr>
            <a:r>
              <a:rPr lang="en-IN" sz="2700" dirty="0">
                <a:latin typeface="Times New Roman" pitchFamily="18" charset="0"/>
                <a:cs typeface="Times New Roman" pitchFamily="18" charset="0"/>
              </a:rPr>
              <a:t>To avoid the self interference due to multipath propagation.</a:t>
            </a:r>
          </a:p>
          <a:p>
            <a:pPr marL="571500" indent="-571500">
              <a:buFont typeface="+mj-lt"/>
              <a:buAutoNum type="romanLcPeriod"/>
            </a:pPr>
            <a:r>
              <a:rPr lang="en-IN" sz="2700" dirty="0">
                <a:latin typeface="Times New Roman" pitchFamily="18" charset="0"/>
                <a:cs typeface="Times New Roman" pitchFamily="18" charset="0"/>
              </a:rPr>
              <a:t>In obtaining the message privacy.</a:t>
            </a:r>
          </a:p>
          <a:p>
            <a:pPr marL="571500" indent="-571500">
              <a:buNone/>
            </a:pPr>
            <a:endParaRPr lang="en-IN" sz="2700" dirty="0">
              <a:latin typeface="Times New Roman" pitchFamily="18" charset="0"/>
              <a:cs typeface="Times New Roman" pitchFamily="18" charset="0"/>
            </a:endParaRPr>
          </a:p>
          <a:p>
            <a:pPr marL="571500" indent="-571500">
              <a:buFont typeface="Wingdings" pitchFamily="2" charset="2"/>
              <a:buChar char="Ø"/>
            </a:pPr>
            <a:r>
              <a:rPr lang="en-IN" sz="2700" dirty="0">
                <a:latin typeface="Times New Roman" pitchFamily="18" charset="0"/>
                <a:cs typeface="Times New Roman" pitchFamily="18" charset="0"/>
              </a:rPr>
              <a:t>Need of Spread Spectrum :</a:t>
            </a:r>
          </a:p>
          <a:p>
            <a:pPr marL="571500" indent="-571500">
              <a:buFont typeface="+mj-lt"/>
              <a:buAutoNum type="romanLcPeriod"/>
            </a:pPr>
            <a:r>
              <a:rPr lang="en-IN" sz="2700" dirty="0">
                <a:latin typeface="Times New Roman" pitchFamily="18" charset="0"/>
                <a:cs typeface="Times New Roman" pitchFamily="18" charset="0"/>
              </a:rPr>
              <a:t>Improves the limitation of FDMA and TDMA which are:</a:t>
            </a:r>
          </a:p>
          <a:p>
            <a:pPr marL="571500" indent="-571500">
              <a:buFont typeface="Courier New" pitchFamily="49" charset="0"/>
              <a:buChar char="o"/>
            </a:pPr>
            <a:r>
              <a:rPr lang="en-IN" sz="2700" dirty="0">
                <a:latin typeface="Times New Roman" pitchFamily="18" charset="0"/>
                <a:cs typeface="Times New Roman" pitchFamily="18" charset="0"/>
              </a:rPr>
              <a:t>Limited bandwidth , it require high spectral efficiency</a:t>
            </a:r>
          </a:p>
          <a:p>
            <a:pPr marL="571500" indent="-571500">
              <a:buFont typeface="Courier New" pitchFamily="49" charset="0"/>
              <a:buChar char="o"/>
            </a:pPr>
            <a:r>
              <a:rPr lang="en-IN" sz="2700" dirty="0">
                <a:latin typeface="Times New Roman" pitchFamily="18" charset="0"/>
                <a:cs typeface="Times New Roman" pitchFamily="18" charset="0"/>
              </a:rPr>
              <a:t>Due to limited bandwidth , Concentrated Spectrum</a:t>
            </a:r>
          </a:p>
          <a:p>
            <a:pPr marL="571500" indent="-571500">
              <a:buFont typeface="Courier New" pitchFamily="49" charset="0"/>
              <a:buChar char="o"/>
            </a:pPr>
            <a:r>
              <a:rPr lang="en-IN" sz="2700" dirty="0">
                <a:latin typeface="Times New Roman" pitchFamily="18" charset="0"/>
                <a:cs typeface="Times New Roman" pitchFamily="18" charset="0"/>
              </a:rPr>
              <a:t>Due to limited bandwidth , Narrowband Spectrum</a:t>
            </a:r>
          </a:p>
          <a:p>
            <a:pPr marL="571500" indent="-571500">
              <a:buNone/>
            </a:pPr>
            <a:endParaRPr lang="en-US" sz="27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Grp="1" noChangeAspect="1" noChangeArrowheads="1"/>
          </p:cNvPicPr>
          <p:nvPr>
            <p:ph idx="1"/>
          </p:nvPr>
        </p:nvPicPr>
        <p:blipFill>
          <a:blip r:embed="rId2"/>
          <a:srcRect/>
          <a:stretch>
            <a:fillRect/>
          </a:stretch>
        </p:blipFill>
        <p:spPr bwMode="auto">
          <a:xfrm>
            <a:off x="1314450" y="1571612"/>
            <a:ext cx="6515100" cy="3425044"/>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642918"/>
            <a:ext cx="8229600" cy="5483245"/>
          </a:xfrm>
        </p:spPr>
        <p:txBody>
          <a:bodyPr>
            <a:normAutofit/>
          </a:bodyPr>
          <a:lstStyle/>
          <a:p>
            <a:pPr>
              <a:buFont typeface="Wingdings" pitchFamily="2" charset="2"/>
              <a:buChar char="Ø"/>
            </a:pPr>
            <a:r>
              <a:rPr lang="en-IN" sz="2600" dirty="0">
                <a:latin typeface="Times New Roman" pitchFamily="18" charset="0"/>
                <a:cs typeface="Times New Roman" pitchFamily="18" charset="0"/>
              </a:rPr>
              <a:t>Significance of Spread Spectrum</a:t>
            </a:r>
          </a:p>
          <a:p>
            <a:pPr marL="571500" indent="-571500">
              <a:buFont typeface="+mj-lt"/>
              <a:buAutoNum type="romanLcPeriod"/>
            </a:pPr>
            <a:r>
              <a:rPr lang="en-IN" sz="2600" dirty="0">
                <a:latin typeface="Times New Roman" pitchFamily="18" charset="0"/>
                <a:cs typeface="Times New Roman" pitchFamily="18" charset="0"/>
              </a:rPr>
              <a:t>Immunity to jamming</a:t>
            </a:r>
          </a:p>
          <a:p>
            <a:pPr marL="571500" indent="-571500">
              <a:buFont typeface="+mj-lt"/>
              <a:buAutoNum type="romanLcPeriod"/>
            </a:pPr>
            <a:r>
              <a:rPr lang="en-IN" sz="2600" dirty="0">
                <a:latin typeface="Times New Roman" pitchFamily="18" charset="0"/>
                <a:cs typeface="Times New Roman" pitchFamily="18" charset="0"/>
              </a:rPr>
              <a:t>Low Interference</a:t>
            </a:r>
          </a:p>
          <a:p>
            <a:pPr marL="571500" indent="-571500">
              <a:buFont typeface="+mj-lt"/>
              <a:buAutoNum type="romanLcPeriod"/>
            </a:pPr>
            <a:r>
              <a:rPr lang="en-IN" sz="2600" dirty="0">
                <a:latin typeface="Times New Roman" pitchFamily="18" charset="0"/>
                <a:cs typeface="Times New Roman" pitchFamily="18" charset="0"/>
              </a:rPr>
              <a:t>High Processing Gain</a:t>
            </a:r>
          </a:p>
          <a:p>
            <a:pPr marL="571500" indent="-571500">
              <a:buFont typeface="+mj-lt"/>
              <a:buAutoNum type="romanLcPeriod"/>
            </a:pPr>
            <a:r>
              <a:rPr lang="en-IN" sz="2600" dirty="0">
                <a:latin typeface="Times New Roman" pitchFamily="18" charset="0"/>
                <a:cs typeface="Times New Roman" pitchFamily="18" charset="0"/>
              </a:rPr>
              <a:t>Easy Encryption</a:t>
            </a:r>
          </a:p>
          <a:p>
            <a:pPr marL="571500" indent="-571500">
              <a:buFont typeface="+mj-lt"/>
              <a:buAutoNum type="romanLcPeriod"/>
            </a:pPr>
            <a:r>
              <a:rPr lang="en-IN" sz="2600" dirty="0">
                <a:latin typeface="Times New Roman" pitchFamily="18" charset="0"/>
                <a:cs typeface="Times New Roman" pitchFamily="18" charset="0"/>
              </a:rPr>
              <a:t>Greater Security</a:t>
            </a:r>
          </a:p>
          <a:p>
            <a:pPr marL="571500" indent="-571500">
              <a:buFont typeface="+mj-lt"/>
              <a:buAutoNum type="romanLcPeriod"/>
            </a:pPr>
            <a:r>
              <a:rPr lang="en-IN" sz="2600" dirty="0">
                <a:latin typeface="Times New Roman" pitchFamily="18" charset="0"/>
                <a:cs typeface="Times New Roman" pitchFamily="18" charset="0"/>
              </a:rPr>
              <a:t>Multiple Access</a:t>
            </a:r>
          </a:p>
          <a:p>
            <a:pPr marL="571500" indent="-571500">
              <a:buFont typeface="+mj-lt"/>
              <a:buAutoNum type="romanLcPeriod"/>
            </a:pPr>
            <a:endParaRPr lang="en-US" sz="26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714356"/>
            <a:ext cx="8229600" cy="5411807"/>
          </a:xfrm>
        </p:spPr>
        <p:txBody>
          <a:bodyPr>
            <a:normAutofit/>
          </a:bodyPr>
          <a:lstStyle/>
          <a:p>
            <a:endParaRPr lang="en-IN" dirty="0"/>
          </a:p>
          <a:p>
            <a:endParaRPr lang="en-IN" dirty="0"/>
          </a:p>
          <a:p>
            <a:endParaRPr lang="en-IN" sz="2600" dirty="0">
              <a:latin typeface="Times New Roman" pitchFamily="18" charset="0"/>
              <a:cs typeface="Times New Roman" pitchFamily="18" charset="0"/>
            </a:endParaRPr>
          </a:p>
          <a:p>
            <a:endParaRPr lang="en-IN" sz="26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A pseudo-noise (PN) sequence may be defined as a coded sequence of 1s &amp; 0s with certain auto-correlation properties.</a:t>
            </a:r>
          </a:p>
          <a:p>
            <a:r>
              <a:rPr lang="en-IN" sz="2400" dirty="0">
                <a:latin typeface="Times New Roman" pitchFamily="18" charset="0"/>
                <a:cs typeface="Times New Roman" pitchFamily="18" charset="0"/>
              </a:rPr>
              <a:t>These Additional frequency from frequency synthesisers is transmitted with the input data based on the data in PN sequence to spread the spectrum of data and reverse happens at the reception end.</a:t>
            </a:r>
            <a:endParaRPr lang="en-US" sz="2400" dirty="0">
              <a:latin typeface="Times New Roman" pitchFamily="18" charset="0"/>
              <a:cs typeface="Times New Roman" pitchFamily="18" charset="0"/>
            </a:endParaRPr>
          </a:p>
        </p:txBody>
      </p:sp>
      <p:pic>
        <p:nvPicPr>
          <p:cNvPr id="3" name="Content Placeholder 3" descr="Untitled.png"/>
          <p:cNvPicPr>
            <a:picLocks noChangeAspect="1"/>
          </p:cNvPicPr>
          <p:nvPr/>
        </p:nvPicPr>
        <p:blipFill>
          <a:blip r:embed="rId3"/>
          <a:srcRect r="-2884" b="73799"/>
          <a:stretch>
            <a:fillRect/>
          </a:stretch>
        </p:blipFill>
        <p:spPr>
          <a:xfrm>
            <a:off x="857224" y="714356"/>
            <a:ext cx="7643866" cy="2857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66FF3-81CF-3941-8332-1526B066BF94}"/>
              </a:ext>
            </a:extLst>
          </p:cNvPr>
          <p:cNvSpPr>
            <a:spLocks noGrp="1"/>
          </p:cNvSpPr>
          <p:nvPr>
            <p:ph idx="1"/>
          </p:nvPr>
        </p:nvSpPr>
        <p:spPr>
          <a:xfrm>
            <a:off x="457200" y="764704"/>
            <a:ext cx="8229600" cy="5361459"/>
          </a:xfrm>
        </p:spPr>
        <p:txBody>
          <a:bodyPr>
            <a:normAutofit fontScale="92500" lnSpcReduction="10000"/>
          </a:bodyPr>
          <a:lstStyle/>
          <a:p>
            <a:r>
              <a:rPr lang="en-US" sz="2400" b="1" dirty="0">
                <a:latin typeface="Times New Roman" panose="02020603050405020304" pitchFamily="18" charset="0"/>
                <a:cs typeface="Times New Roman" panose="02020603050405020304" pitchFamily="18" charset="0"/>
              </a:rPr>
              <a:t>There are two types of spread spectrum systems:</a:t>
            </a:r>
          </a:p>
          <a:p>
            <a:pPr marL="514350" indent="-514350">
              <a:buFont typeface="+mj-lt"/>
              <a:buAutoNum type="arabicParenR"/>
            </a:pPr>
            <a:r>
              <a:rPr lang="en-US" sz="2400" b="1" dirty="0">
                <a:latin typeface="Times New Roman" panose="02020603050405020304" pitchFamily="18" charset="0"/>
                <a:cs typeface="Times New Roman" panose="02020603050405020304" pitchFamily="18" charset="0"/>
              </a:rPr>
              <a:t>Frequency Hopping Spread Spectrum (FH-SS): </a:t>
            </a:r>
            <a:r>
              <a:rPr lang="en-US" sz="2400" dirty="0">
                <a:latin typeface="Times New Roman" panose="02020603050405020304" pitchFamily="18" charset="0"/>
                <a:cs typeface="Times New Roman" panose="02020603050405020304" pitchFamily="18" charset="0"/>
              </a:rPr>
              <a:t>In this, the data is used to modulate carrier. The data modulated carrier is then randomly hoped from one frequency to the other. Because of this , spectrum of transmitted signal is </a:t>
            </a:r>
            <a:r>
              <a:rPr lang="en-US" sz="2400" dirty="0" err="1">
                <a:latin typeface="Times New Roman" panose="02020603050405020304" pitchFamily="18" charset="0"/>
                <a:cs typeface="Times New Roman" panose="02020603050405020304" pitchFamily="18" charset="0"/>
              </a:rPr>
              <a:t>spreaded</a:t>
            </a:r>
            <a:r>
              <a:rPr lang="en-US" sz="2400" dirty="0">
                <a:latin typeface="Times New Roman" panose="02020603050405020304" pitchFamily="18" charset="0"/>
                <a:cs typeface="Times New Roman" panose="02020603050405020304" pitchFamily="18" charset="0"/>
              </a:rPr>
              <a:t> sequentially rather than instantaneously.</a:t>
            </a:r>
          </a:p>
          <a:p>
            <a:r>
              <a:rPr lang="en-US" sz="2400" dirty="0">
                <a:latin typeface="Times New Roman" panose="02020603050405020304" pitchFamily="18" charset="0"/>
                <a:cs typeface="Times New Roman" panose="02020603050405020304" pitchFamily="18" charset="0"/>
              </a:rPr>
              <a:t>Uses MFSK (M-</a:t>
            </a:r>
            <a:r>
              <a:rPr lang="en-US" sz="2400" dirty="0" err="1">
                <a:latin typeface="Times New Roman" panose="02020603050405020304" pitchFamily="18" charset="0"/>
                <a:cs typeface="Times New Roman" panose="02020603050405020304" pitchFamily="18" charset="0"/>
              </a:rPr>
              <a:t>ary</a:t>
            </a:r>
            <a:r>
              <a:rPr lang="en-US" sz="2400" dirty="0">
                <a:latin typeface="Times New Roman" panose="02020603050405020304" pitchFamily="18" charset="0"/>
                <a:cs typeface="Times New Roman" panose="02020603050405020304" pitchFamily="18" charset="0"/>
              </a:rPr>
              <a:t> Frequency Shift Keying) Modulation technique.</a:t>
            </a:r>
          </a:p>
          <a:p>
            <a:r>
              <a:rPr lang="en-US" sz="2400" dirty="0">
                <a:latin typeface="Times New Roman" panose="02020603050405020304" pitchFamily="18" charset="0"/>
                <a:cs typeface="Times New Roman" panose="02020603050405020304" pitchFamily="18" charset="0"/>
              </a:rPr>
              <a:t>Two types:</a:t>
            </a:r>
          </a:p>
          <a:p>
            <a:pPr marL="514350" indent="-514350">
              <a:buFont typeface="+mj-lt"/>
              <a:buAutoNum type="romanLcPeriod"/>
            </a:pPr>
            <a:r>
              <a:rPr lang="en-US" sz="2400" b="1" dirty="0">
                <a:latin typeface="Times New Roman" panose="02020603050405020304" pitchFamily="18" charset="0"/>
                <a:cs typeface="Times New Roman" panose="02020603050405020304" pitchFamily="18" charset="0"/>
              </a:rPr>
              <a:t>Slow frequency hopping:</a:t>
            </a:r>
            <a:r>
              <a:rPr lang="en-US" sz="2400" dirty="0">
                <a:latin typeface="Times New Roman" panose="02020603050405020304" pitchFamily="18" charset="0"/>
                <a:cs typeface="Times New Roman" panose="02020603050405020304" pitchFamily="18" charset="0"/>
              </a:rPr>
              <a:t> In this, the symbol rate (Rs) of the MFSK signal = integer multiple of the hop rate (Rh): i.e. each frequency hop=several symbols. </a:t>
            </a:r>
          </a:p>
          <a:p>
            <a:pPr marL="514350" indent="-514350">
              <a:buFont typeface="+mj-lt"/>
              <a:buAutoNum type="romanLcPeriod"/>
            </a:pPr>
            <a:r>
              <a:rPr lang="en-US" sz="2400" b="1" dirty="0">
                <a:latin typeface="Times New Roman" panose="02020603050405020304" pitchFamily="18" charset="0"/>
                <a:cs typeface="Times New Roman" panose="02020603050405020304" pitchFamily="18" charset="0"/>
              </a:rPr>
              <a:t>Fast frequency hopping:</a:t>
            </a:r>
            <a:r>
              <a:rPr lang="en-US" sz="2400" dirty="0">
                <a:latin typeface="Times New Roman" panose="02020603050405020304" pitchFamily="18" charset="0"/>
                <a:cs typeface="Times New Roman" panose="02020603050405020304" pitchFamily="18" charset="0"/>
              </a:rPr>
              <a:t> In this, the hop rate (Rh) = integer multiple of symbol rate of MFSK (Rs). Therefore, each symbol transmission=several frequency hops.</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7174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D267A3A-CDDC-3A4A-90A9-028FB8A803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980728"/>
            <a:ext cx="6326527" cy="5145435"/>
          </a:xfrm>
        </p:spPr>
      </p:pic>
      <p:sp>
        <p:nvSpPr>
          <p:cNvPr id="9" name="TextBox 8">
            <a:extLst>
              <a:ext uri="{FF2B5EF4-FFF2-40B4-BE49-F238E27FC236}">
                <a16:creationId xmlns:a16="http://schemas.microsoft.com/office/drawing/2014/main" id="{03E48793-447E-0E42-93C9-66CC413CA59C}"/>
              </a:ext>
            </a:extLst>
          </p:cNvPr>
          <p:cNvSpPr txBox="1"/>
          <p:nvPr/>
        </p:nvSpPr>
        <p:spPr>
          <a:xfrm>
            <a:off x="1547664" y="5661248"/>
            <a:ext cx="1656184" cy="369332"/>
          </a:xfrm>
          <a:prstGeom prst="rect">
            <a:avLst/>
          </a:prstGeom>
          <a:noFill/>
        </p:spPr>
        <p:txBody>
          <a:bodyPr wrap="square" rtlCol="0">
            <a:spAutoFit/>
          </a:bodyPr>
          <a:lstStyle/>
          <a:p>
            <a:r>
              <a:rPr lang="en-US" dirty="0">
                <a:highlight>
                  <a:srgbClr val="808080"/>
                </a:highlight>
              </a:rPr>
              <a:t>Block Diagram</a:t>
            </a:r>
          </a:p>
        </p:txBody>
      </p:sp>
    </p:spTree>
    <p:extLst>
      <p:ext uri="{BB962C8B-B14F-4D97-AF65-F5344CB8AC3E}">
        <p14:creationId xmlns:p14="http://schemas.microsoft.com/office/powerpoint/2010/main" val="2992732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01B17411-6956-E541-8F95-E40072CEBC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7664" y="1196752"/>
            <a:ext cx="6048672" cy="4392488"/>
          </a:xfrm>
        </p:spPr>
      </p:pic>
    </p:spTree>
    <p:extLst>
      <p:ext uri="{BB962C8B-B14F-4D97-AF65-F5344CB8AC3E}">
        <p14:creationId xmlns:p14="http://schemas.microsoft.com/office/powerpoint/2010/main" val="4266076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A496D-1691-C042-B1A8-551538E8C655}"/>
              </a:ext>
            </a:extLst>
          </p:cNvPr>
          <p:cNvSpPr>
            <a:spLocks noGrp="1"/>
          </p:cNvSpPr>
          <p:nvPr>
            <p:ph idx="1"/>
          </p:nvPr>
        </p:nvSpPr>
        <p:spPr>
          <a:xfrm>
            <a:off x="457200" y="548680"/>
            <a:ext cx="8229600" cy="5577483"/>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a:t>
            </a:r>
            <a:r>
              <a:rPr lang="en-US" b="1" dirty="0"/>
              <a:t> </a:t>
            </a:r>
            <a:r>
              <a:rPr lang="en-US" sz="2400" b="1" dirty="0">
                <a:latin typeface="Times New Roman" panose="02020603050405020304" pitchFamily="18" charset="0"/>
                <a:cs typeface="Times New Roman" panose="02020603050405020304" pitchFamily="18" charset="0"/>
              </a:rPr>
              <a:t>Direct Sequence Spread Spectrum(DS-SS)</a:t>
            </a:r>
            <a:r>
              <a:rPr lang="en-US" sz="2400" dirty="0">
                <a:latin typeface="Times New Roman" panose="02020603050405020304" pitchFamily="18" charset="0"/>
                <a:cs typeface="Times New Roman" panose="02020603050405020304" pitchFamily="18" charset="0"/>
              </a:rPr>
              <a:t>: In this, can be used in practice for transmission of signal over a bandpass channel (ex-satellite channel)</a:t>
            </a:r>
          </a:p>
          <a:p>
            <a:r>
              <a:rPr lang="en-US" sz="2400" dirty="0">
                <a:latin typeface="Times New Roman" panose="02020603050405020304" pitchFamily="18" charset="0"/>
                <a:cs typeface="Times New Roman" panose="02020603050405020304" pitchFamily="18" charset="0"/>
              </a:rPr>
              <a:t>Uses two major signaling techniques PSK (phase shift keying) DSSS &amp; FSK (frequency shift key) FHSS.</a:t>
            </a:r>
          </a:p>
          <a:p>
            <a:r>
              <a:rPr lang="en-US" sz="2400" dirty="0">
                <a:latin typeface="Times New Roman" panose="02020603050405020304" pitchFamily="18" charset="0"/>
                <a:cs typeface="Times New Roman" panose="02020603050405020304" pitchFamily="18" charset="0"/>
              </a:rPr>
              <a:t>Every user assigned a spreading code. This secret code is used to encode he signal.</a:t>
            </a:r>
          </a:p>
          <a:p>
            <a:r>
              <a:rPr lang="en-US" sz="2400" dirty="0">
                <a:latin typeface="Times New Roman" panose="02020603050405020304" pitchFamily="18" charset="0"/>
                <a:cs typeface="Times New Roman" panose="02020603050405020304" pitchFamily="18" charset="0"/>
              </a:rPr>
              <a:t>This code is multiplied with the original message and resultant message s than transmitted.</a:t>
            </a:r>
          </a:p>
          <a:p>
            <a:r>
              <a:rPr lang="en-US" sz="2400" dirty="0">
                <a:latin typeface="Times New Roman" panose="02020603050405020304" pitchFamily="18" charset="0"/>
                <a:cs typeface="Times New Roman" panose="02020603050405020304" pitchFamily="18" charset="0"/>
              </a:rPr>
              <a:t>Receiver use same spreading code to decode the message o retrieve original message.</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654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2AAC02-9AF5-5142-9679-E50AA0940D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5616" y="1052736"/>
            <a:ext cx="6326527" cy="5073427"/>
          </a:xfrm>
        </p:spPr>
      </p:pic>
      <p:sp>
        <p:nvSpPr>
          <p:cNvPr id="9" name="TextBox 8">
            <a:extLst>
              <a:ext uri="{FF2B5EF4-FFF2-40B4-BE49-F238E27FC236}">
                <a16:creationId xmlns:a16="http://schemas.microsoft.com/office/drawing/2014/main" id="{D3994705-DE39-A849-954B-BAE984765B37}"/>
              </a:ext>
            </a:extLst>
          </p:cNvPr>
          <p:cNvSpPr txBox="1"/>
          <p:nvPr/>
        </p:nvSpPr>
        <p:spPr>
          <a:xfrm>
            <a:off x="1619672" y="5661248"/>
            <a:ext cx="1440160" cy="369332"/>
          </a:xfrm>
          <a:prstGeom prst="rect">
            <a:avLst/>
          </a:prstGeom>
          <a:noFill/>
        </p:spPr>
        <p:txBody>
          <a:bodyPr wrap="square" rtlCol="0">
            <a:spAutoFit/>
          </a:bodyPr>
          <a:lstStyle/>
          <a:p>
            <a:r>
              <a:rPr lang="en-US" dirty="0">
                <a:highlight>
                  <a:srgbClr val="C0C0C0"/>
                </a:highlight>
              </a:rPr>
              <a:t>Block Bloc</a:t>
            </a:r>
          </a:p>
        </p:txBody>
      </p:sp>
      <p:pic>
        <p:nvPicPr>
          <p:cNvPr id="10" name="Content Placeholder 4">
            <a:extLst>
              <a:ext uri="{FF2B5EF4-FFF2-40B4-BE49-F238E27FC236}">
                <a16:creationId xmlns:a16="http://schemas.microsoft.com/office/drawing/2014/main" id="{453D7BBE-9ED4-3C4D-9C2F-BE2403E7C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809" y="984862"/>
            <a:ext cx="6326527" cy="5073427"/>
          </a:xfrm>
          <a:prstGeom prst="rect">
            <a:avLst/>
          </a:prstGeom>
        </p:spPr>
      </p:pic>
      <p:sp>
        <p:nvSpPr>
          <p:cNvPr id="12" name="TextBox 11">
            <a:extLst>
              <a:ext uri="{FF2B5EF4-FFF2-40B4-BE49-F238E27FC236}">
                <a16:creationId xmlns:a16="http://schemas.microsoft.com/office/drawing/2014/main" id="{A7BB3F7E-B26B-4640-B796-33D63D65EA1C}"/>
              </a:ext>
            </a:extLst>
          </p:cNvPr>
          <p:cNvSpPr txBox="1"/>
          <p:nvPr/>
        </p:nvSpPr>
        <p:spPr>
          <a:xfrm>
            <a:off x="1547664" y="5517232"/>
            <a:ext cx="1800200" cy="369332"/>
          </a:xfrm>
          <a:prstGeom prst="rect">
            <a:avLst/>
          </a:prstGeom>
          <a:noFill/>
        </p:spPr>
        <p:txBody>
          <a:bodyPr wrap="square" rtlCol="0">
            <a:spAutoFit/>
          </a:bodyPr>
          <a:lstStyle/>
          <a:p>
            <a:r>
              <a:rPr lang="en-US" dirty="0">
                <a:highlight>
                  <a:srgbClr val="C0C0C0"/>
                </a:highlight>
              </a:rPr>
              <a:t>Block Diagram</a:t>
            </a:r>
          </a:p>
        </p:txBody>
      </p:sp>
    </p:spTree>
    <p:extLst>
      <p:ext uri="{BB962C8B-B14F-4D97-AF65-F5344CB8AC3E}">
        <p14:creationId xmlns:p14="http://schemas.microsoft.com/office/powerpoint/2010/main" val="156353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C53981-573E-DE4D-BA8A-6FD2B16A1D2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5804" t="18133" r="14164"/>
          <a:stretch/>
        </p:blipFill>
        <p:spPr>
          <a:xfrm>
            <a:off x="1331640" y="1196752"/>
            <a:ext cx="6048672" cy="4929411"/>
          </a:xfrm>
        </p:spPr>
      </p:pic>
    </p:spTree>
    <p:extLst>
      <p:ext uri="{BB962C8B-B14F-4D97-AF65-F5344CB8AC3E}">
        <p14:creationId xmlns:p14="http://schemas.microsoft.com/office/powerpoint/2010/main" val="316821699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{A90B96A5-0053-414D-8C1F-15E44D7349E5}tf10001120</Template>
  <TotalTime>1049</TotalTime>
  <Words>639</Words>
  <Application>Microsoft Office PowerPoint</Application>
  <PresentationFormat>On-screen Show (4:3)</PresentationFormat>
  <Paragraphs>66</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Gill Sans MT</vt:lpstr>
      <vt:lpstr>Times New Roman</vt:lpstr>
      <vt:lpstr>Wingdings</vt:lpstr>
      <vt:lpstr>Parcel</vt:lpstr>
      <vt:lpstr>Introduction to Spread Spectrum</vt:lpstr>
      <vt:lpstr>PowerPoint Presentation</vt:lpstr>
      <vt:lpstr>Spread Spectrum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917836824368</dc:creator>
  <cp:lastModifiedBy>jaspinder singh</cp:lastModifiedBy>
  <cp:revision>45</cp:revision>
  <dcterms:created xsi:type="dcterms:W3CDTF">2020-09-13T14:16:38Z</dcterms:created>
  <dcterms:modified xsi:type="dcterms:W3CDTF">2020-10-07T15:53:10Z</dcterms:modified>
</cp:coreProperties>
</file>