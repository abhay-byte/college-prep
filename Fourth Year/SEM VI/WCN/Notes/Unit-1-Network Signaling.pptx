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256" r:id="rId2"/>
    <p:sldId id="261" r:id="rId3"/>
    <p:sldId id="257" r:id="rId4"/>
    <p:sldId id="258" r:id="rId5"/>
    <p:sldId id="259" r:id="rId6"/>
    <p:sldId id="260"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1" r:id="rId26"/>
    <p:sldId id="280"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p:restoredLeft sz="15620"/>
    <p:restoredTop sz="94660"/>
  </p:normalViewPr>
  <p:slideViewPr>
    <p:cSldViewPr snapToGrid="0" snapToObjects="1">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176DA1E-8CBB-E74B-BFEE-0B78B42CA990}" type="datetimeFigureOut">
              <a:rPr lang="en-US" smtClean="0"/>
              <a:t>9/17/2020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62003F-DB42-A740-A43D-46FB6C1099C9}" type="slidenum">
              <a:rPr lang="en-US" smtClean="0"/>
              <a:t>‹#›</a:t>
            </a:fld>
            <a:endParaRPr lang="en-US"/>
          </a:p>
        </p:txBody>
      </p:sp>
    </p:spTree>
    <p:extLst>
      <p:ext uri="{BB962C8B-B14F-4D97-AF65-F5344CB8AC3E}">
        <p14:creationId xmlns:p14="http://schemas.microsoft.com/office/powerpoint/2010/main" val="190195323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62003F-DB42-A740-A43D-46FB6C1099C9}" type="slidenum">
              <a:rPr lang="en-US" smtClean="0"/>
              <a:t>21</a:t>
            </a:fld>
            <a:endParaRPr lang="en-US"/>
          </a:p>
        </p:txBody>
      </p:sp>
    </p:spTree>
    <p:extLst>
      <p:ext uri="{BB962C8B-B14F-4D97-AF65-F5344CB8AC3E}">
        <p14:creationId xmlns:p14="http://schemas.microsoft.com/office/powerpoint/2010/main" val="2645772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x-none"/>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dirty="0"/>
          </a:p>
        </p:txBody>
      </p:sp>
      <p:sp>
        <p:nvSpPr>
          <p:cNvPr id="4" name="Date Placeholder 3"/>
          <p:cNvSpPr>
            <a:spLocks noGrp="1"/>
          </p:cNvSpPr>
          <p:nvPr>
            <p:ph type="dt" sz="half" idx="10"/>
          </p:nvPr>
        </p:nvSpPr>
        <p:spPr/>
        <p:txBody>
          <a:bodyPr/>
          <a:lstStyle/>
          <a:p>
            <a:fld id="{7F1345C0-C217-F14E-8F4D-08971C489222}" type="datetimeFigureOut">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7F1345C0-C217-F14E-8F4D-08971C489222}" type="datetimeFigureOut">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x-none"/>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fld id="{7F1345C0-C217-F14E-8F4D-08971C489222}" type="datetimeFigureOut">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5" name="Date Placeholder 4"/>
          <p:cNvSpPr>
            <a:spLocks noGrp="1"/>
          </p:cNvSpPr>
          <p:nvPr>
            <p:ph type="dt" sz="half" idx="10"/>
          </p:nvPr>
        </p:nvSpPr>
        <p:spPr/>
        <p:txBody>
          <a:bodyPr/>
          <a:lstStyle/>
          <a:p>
            <a:fld id="{7F1345C0-C217-F14E-8F4D-08971C489222}" type="datetimeFigureOut">
              <a:rPr lang="en-US" smtClean="0"/>
              <a:t>9/17/2020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fld id="{7F1345C0-C217-F14E-8F4D-08971C489222}" type="datetimeFigureOut">
              <a:rPr lang="en-US" smtClean="0"/>
              <a:t>9/17/2020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fld id="{7F1345C0-C217-F14E-8F4D-08971C489222}" type="datetimeFigureOut">
              <a:rPr lang="en-US" smtClean="0"/>
              <a:t>9/17/2020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1345C0-C217-F14E-8F4D-08971C489222}" type="datetimeFigureOut">
              <a:rPr lang="en-US" smtClean="0"/>
              <a:t>9/17/2020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x-none"/>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fld id="{7F1345C0-C217-F14E-8F4D-08971C489222}" type="datetimeFigureOut">
              <a:rPr lang="en-US" smtClean="0"/>
              <a:t>9/17/2020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43879D-C8CD-6047-9064-0ED206F01FFE}"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x-none"/>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8" name="Date Placeholder 7"/>
          <p:cNvSpPr>
            <a:spLocks noGrp="1"/>
          </p:cNvSpPr>
          <p:nvPr>
            <p:ph type="dt" sz="half" idx="10"/>
          </p:nvPr>
        </p:nvSpPr>
        <p:spPr/>
        <p:txBody>
          <a:bodyPr/>
          <a:lstStyle/>
          <a:p>
            <a:fld id="{7F1345C0-C217-F14E-8F4D-08971C489222}" type="datetimeFigureOut">
              <a:rPr lang="en-US" smtClean="0"/>
              <a:t>9/17/2020</a:t>
            </a:fld>
            <a:endParaRPr lang="en-US"/>
          </a:p>
        </p:txBody>
      </p:sp>
      <p:sp>
        <p:nvSpPr>
          <p:cNvPr id="9" name="Slide Number Placeholder 8"/>
          <p:cNvSpPr>
            <a:spLocks noGrp="1"/>
          </p:cNvSpPr>
          <p:nvPr>
            <p:ph type="sldNum" sz="quarter" idx="11"/>
          </p:nvPr>
        </p:nvSpPr>
        <p:spPr/>
        <p:txBody>
          <a:bodyPr/>
          <a:lstStyle/>
          <a:p>
            <a:fld id="{3E43879D-C8CD-6047-9064-0ED206F01FFE}"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7F1345C0-C217-F14E-8F4D-08971C489222}" type="datetimeFigureOut">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x-none"/>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fld id="{7F1345C0-C217-F14E-8F4D-08971C489222}" type="datetimeFigureOut">
              <a:rPr lang="en-US" smtClean="0"/>
              <a:t>9/17/2020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43879D-C8CD-6047-9064-0ED206F01FF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x-none"/>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E43879D-C8CD-6047-9064-0ED206F01FFE}"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7F1345C0-C217-F14E-8F4D-08971C489222}" type="datetimeFigureOut">
              <a:rPr lang="en-US" smtClean="0"/>
              <a:t>9/17/2020</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95412"/>
            <a:ext cx="7772400" cy="1470025"/>
          </a:xfrm>
        </p:spPr>
        <p:txBody>
          <a:bodyPr/>
          <a:lstStyle/>
          <a:p>
            <a:r>
              <a:rPr lang="en-US" dirty="0"/>
              <a:t>Network Signaling (SS7)</a:t>
            </a:r>
          </a:p>
        </p:txBody>
      </p:sp>
      <p:sp>
        <p:nvSpPr>
          <p:cNvPr id="3" name="Subtitle 2"/>
          <p:cNvSpPr>
            <a:spLocks noGrp="1"/>
          </p:cNvSpPr>
          <p:nvPr>
            <p:ph type="subTitle" idx="1"/>
          </p:nvPr>
        </p:nvSpPr>
        <p:spPr>
          <a:xfrm>
            <a:off x="1371600" y="2865437"/>
            <a:ext cx="6400800" cy="3019585"/>
          </a:xfrm>
        </p:spPr>
        <p:txBody>
          <a:bodyPr>
            <a:normAutofit fontScale="77500" lnSpcReduction="20000"/>
          </a:bodyPr>
          <a:lstStyle/>
          <a:p>
            <a:pPr marL="457200" indent="-457200" algn="r">
              <a:buFont typeface="Wingdings" charset="2"/>
              <a:buChar char="Ø"/>
            </a:pPr>
            <a:r>
              <a:rPr lang="en-US" dirty="0"/>
              <a:t>Introduction</a:t>
            </a:r>
          </a:p>
          <a:p>
            <a:pPr marL="457200" indent="-457200" algn="r">
              <a:buFont typeface="Wingdings" charset="2"/>
              <a:buChar char="Ø"/>
            </a:pPr>
            <a:r>
              <a:rPr lang="en-US" dirty="0"/>
              <a:t>Architecture</a:t>
            </a:r>
          </a:p>
          <a:p>
            <a:pPr marL="457200" indent="-457200" algn="r">
              <a:buFont typeface="Wingdings" charset="2"/>
              <a:buChar char="Ø"/>
            </a:pPr>
            <a:r>
              <a:rPr lang="en-US" dirty="0"/>
              <a:t>Performance</a:t>
            </a:r>
          </a:p>
          <a:p>
            <a:pPr marL="457200" indent="-457200" algn="r">
              <a:buFont typeface="Wingdings" charset="2"/>
              <a:buChar char="Ø"/>
            </a:pPr>
            <a:r>
              <a:rPr lang="en-US" dirty="0"/>
              <a:t>Advantages</a:t>
            </a:r>
          </a:p>
          <a:p>
            <a:pPr marL="457200" indent="-457200" algn="r">
              <a:buFont typeface="Wingdings" charset="2"/>
              <a:buChar char="Ø"/>
            </a:pPr>
            <a:r>
              <a:rPr lang="en-US" dirty="0"/>
              <a:t>Multiple Access Techniques</a:t>
            </a:r>
          </a:p>
          <a:p>
            <a:pPr algn="l"/>
            <a:endParaRPr lang="en-US" dirty="0"/>
          </a:p>
          <a:p>
            <a:pPr algn="l"/>
            <a:endParaRPr lang="en-US" dirty="0"/>
          </a:p>
          <a:p>
            <a:pPr algn="l"/>
            <a:endParaRPr lang="en-US" dirty="0"/>
          </a:p>
          <a:p>
            <a:pPr algn="l"/>
            <a:endParaRPr lang="en-US" dirty="0"/>
          </a:p>
          <a:p>
            <a:pPr algn="l"/>
            <a:r>
              <a:rPr lang="en-US" dirty="0"/>
              <a:t>By Jasleen Kaur</a:t>
            </a:r>
          </a:p>
          <a:p>
            <a:pPr algn="l"/>
            <a:r>
              <a:rPr lang="en-US"/>
              <a:t>IT </a:t>
            </a:r>
            <a:r>
              <a:rPr lang="en-US" dirty="0"/>
              <a:t>Dept.</a:t>
            </a:r>
          </a:p>
          <a:p>
            <a:pPr algn="l"/>
            <a:r>
              <a:rPr lang="en-US" dirty="0"/>
              <a:t>GTBIT</a:t>
            </a:r>
          </a:p>
          <a:p>
            <a:pPr marL="457200" indent="-457200">
              <a:buFont typeface="Wingdings" charset="2"/>
              <a:buChar char="Ø"/>
            </a:pPr>
            <a:endParaRPr lang="en-US" dirty="0"/>
          </a:p>
        </p:txBody>
      </p:sp>
    </p:spTree>
    <p:extLst>
      <p:ext uri="{BB962C8B-B14F-4D97-AF65-F5344CB8AC3E}">
        <p14:creationId xmlns:p14="http://schemas.microsoft.com/office/powerpoint/2010/main" val="305674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a:cs typeface="Times New Roman"/>
              </a:rPr>
              <a:t>Introduction</a:t>
            </a:r>
          </a:p>
        </p:txBody>
      </p:sp>
      <p:sp>
        <p:nvSpPr>
          <p:cNvPr id="3" name="Content Placeholder 2"/>
          <p:cNvSpPr>
            <a:spLocks noGrp="1"/>
          </p:cNvSpPr>
          <p:nvPr>
            <p:ph idx="1"/>
          </p:nvPr>
        </p:nvSpPr>
        <p:spPr/>
        <p:txBody>
          <a:bodyPr/>
          <a:lstStyle/>
          <a:p>
            <a:r>
              <a:rPr lang="en-US" sz="3000" dirty="0">
                <a:latin typeface="Times New Roman"/>
                <a:cs typeface="Times New Roman"/>
              </a:rPr>
              <a:t>The SS7 signaling protocol is widely used for common channel signaling between interconnected networks.</a:t>
            </a:r>
          </a:p>
          <a:p>
            <a:r>
              <a:rPr lang="en-US" sz="3000" dirty="0">
                <a:latin typeface="Times New Roman"/>
                <a:cs typeface="Times New Roman"/>
              </a:rPr>
              <a:t>SS7  is used to  interconnect most of the cellular MSC’s  &amp;  is the key factor in enabling autonomous registration and automated roaming in first generation cellular systems</a:t>
            </a:r>
            <a:r>
              <a:rPr lang="en-US" dirty="0"/>
              <a:t>.</a:t>
            </a:r>
          </a:p>
          <a:p>
            <a:endParaRPr lang="en-US" dirty="0"/>
          </a:p>
          <a:p>
            <a:endParaRPr lang="en-US" dirty="0"/>
          </a:p>
        </p:txBody>
      </p:sp>
    </p:spTree>
    <p:extLst>
      <p:ext uri="{BB962C8B-B14F-4D97-AF65-F5344CB8AC3E}">
        <p14:creationId xmlns:p14="http://schemas.microsoft.com/office/powerpoint/2010/main" val="2088579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a:cs typeface="Times New Roman"/>
              </a:rPr>
              <a:t>Network Signaling SS7</a:t>
            </a:r>
          </a:p>
        </p:txBody>
      </p:sp>
      <p:pic>
        <p:nvPicPr>
          <p:cNvPr id="4" name="Content Placeholder 3" descr="Screenshot 2020-08-26 at 4.15.27 PM.png"/>
          <p:cNvPicPr>
            <a:picLocks noGrp="1" noChangeAspect="1"/>
          </p:cNvPicPr>
          <p:nvPr>
            <p:ph idx="1"/>
          </p:nvPr>
        </p:nvPicPr>
        <p:blipFill rotWithShape="1">
          <a:blip r:embed="rId2">
            <a:duotone>
              <a:prstClr val="black"/>
              <a:schemeClr val="accent2">
                <a:tint val="45000"/>
                <a:satMod val="400000"/>
              </a:schemeClr>
            </a:duotone>
            <a:extLst>
              <a:ext uri="{28A0092B-C50C-407E-A947-70E740481C1C}">
                <a14:useLocalDpi xmlns:a14="http://schemas.microsoft.com/office/drawing/2010/main" val="0"/>
              </a:ext>
            </a:extLst>
          </a:blip>
          <a:srcRect l="20979" t="31647" r="23123" b="21813"/>
          <a:stretch/>
        </p:blipFill>
        <p:spPr>
          <a:xfrm>
            <a:off x="1609396" y="1722752"/>
            <a:ext cx="5859200" cy="4501790"/>
          </a:xfrm>
        </p:spPr>
      </p:pic>
    </p:spTree>
    <p:extLst>
      <p:ext uri="{BB962C8B-B14F-4D97-AF65-F5344CB8AC3E}">
        <p14:creationId xmlns:p14="http://schemas.microsoft.com/office/powerpoint/2010/main" val="3162329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14372"/>
            <a:ext cx="8229600" cy="5811792"/>
          </a:xfrm>
        </p:spPr>
        <p:txBody>
          <a:bodyPr>
            <a:normAutofit/>
          </a:bodyPr>
          <a:lstStyle/>
          <a:p>
            <a:r>
              <a:rPr lang="en-US" b="1" dirty="0">
                <a:latin typeface="Times New Roman"/>
                <a:cs typeface="Times New Roman"/>
              </a:rPr>
              <a:t>SSP(Signaling Switching Point)</a:t>
            </a:r>
          </a:p>
          <a:p>
            <a:pPr>
              <a:buFont typeface="Wingdings" charset="2"/>
              <a:buChar char="Ø"/>
            </a:pPr>
            <a:r>
              <a:rPr lang="en-US" dirty="0">
                <a:latin typeface="Times New Roman"/>
                <a:cs typeface="Times New Roman"/>
              </a:rPr>
              <a:t>It is an interface to telephone network.</a:t>
            </a:r>
          </a:p>
          <a:p>
            <a:pPr>
              <a:buFont typeface="Wingdings" charset="2"/>
              <a:buChar char="Ø"/>
            </a:pPr>
            <a:r>
              <a:rPr lang="en-US" dirty="0">
                <a:latin typeface="Times New Roman"/>
                <a:cs typeface="Times New Roman"/>
              </a:rPr>
              <a:t>It convert voice signal to SS7 signal link.</a:t>
            </a:r>
          </a:p>
          <a:p>
            <a:pPr>
              <a:buFont typeface="Wingdings" charset="2"/>
              <a:buChar char="Ø"/>
            </a:pPr>
            <a:r>
              <a:rPr lang="en-US" dirty="0">
                <a:latin typeface="Times New Roman"/>
                <a:cs typeface="Times New Roman"/>
              </a:rPr>
              <a:t>Local exchange to subscriber.</a:t>
            </a:r>
          </a:p>
          <a:p>
            <a:r>
              <a:rPr lang="en-US" b="1" dirty="0">
                <a:latin typeface="Times New Roman"/>
                <a:cs typeface="Times New Roman"/>
              </a:rPr>
              <a:t>SCP (Signaling Control Point)</a:t>
            </a:r>
          </a:p>
          <a:p>
            <a:pPr>
              <a:buFont typeface="Wingdings" charset="2"/>
              <a:buChar char="Ø"/>
            </a:pPr>
            <a:r>
              <a:rPr lang="en-US" dirty="0">
                <a:latin typeface="Times New Roman"/>
                <a:cs typeface="Times New Roman"/>
              </a:rPr>
              <a:t>It is an interface between Database (HLR,VLR)</a:t>
            </a:r>
          </a:p>
          <a:p>
            <a:pPr>
              <a:buFont typeface="Wingdings" charset="2"/>
              <a:buChar char="Ø"/>
            </a:pPr>
            <a:r>
              <a:rPr lang="en-US" dirty="0">
                <a:latin typeface="Times New Roman"/>
                <a:cs typeface="Times New Roman"/>
              </a:rPr>
              <a:t>Handles database queries &amp; subscriber information.</a:t>
            </a:r>
          </a:p>
          <a:p>
            <a:r>
              <a:rPr lang="en-US" b="1" dirty="0">
                <a:latin typeface="Times New Roman"/>
                <a:cs typeface="Times New Roman"/>
              </a:rPr>
              <a:t>STP(Signaling Transfer Point)</a:t>
            </a:r>
          </a:p>
          <a:p>
            <a:pPr>
              <a:buFont typeface="Wingdings" charset="2"/>
              <a:buChar char="Ø"/>
            </a:pPr>
            <a:r>
              <a:rPr lang="en-US" dirty="0">
                <a:latin typeface="Times New Roman"/>
                <a:cs typeface="Times New Roman"/>
              </a:rPr>
              <a:t>It is basically a network node.</a:t>
            </a:r>
          </a:p>
          <a:p>
            <a:pPr>
              <a:buFont typeface="Wingdings" charset="2"/>
              <a:buChar char="Ø"/>
            </a:pPr>
            <a:r>
              <a:rPr lang="en-US" dirty="0">
                <a:latin typeface="Times New Roman"/>
                <a:cs typeface="Times New Roman"/>
              </a:rPr>
              <a:t>Works as a router.</a:t>
            </a:r>
          </a:p>
        </p:txBody>
      </p:sp>
    </p:spTree>
    <p:extLst>
      <p:ext uri="{BB962C8B-B14F-4D97-AF65-F5344CB8AC3E}">
        <p14:creationId xmlns:p14="http://schemas.microsoft.com/office/powerpoint/2010/main" val="3921439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77246"/>
            <a:ext cx="8229600" cy="5748918"/>
          </a:xfrm>
        </p:spPr>
        <p:txBody>
          <a:bodyPr>
            <a:normAutofit/>
          </a:bodyPr>
          <a:lstStyle/>
          <a:p>
            <a:r>
              <a:rPr lang="en-US" sz="3000" dirty="0">
                <a:latin typeface="Times New Roman"/>
                <a:cs typeface="Times New Roman"/>
              </a:rPr>
              <a:t>A Link: connects SCP/STP to SSP and provides information about subscriber.</a:t>
            </a:r>
          </a:p>
          <a:p>
            <a:r>
              <a:rPr lang="en-US" sz="3000" dirty="0">
                <a:latin typeface="Times New Roman"/>
                <a:cs typeface="Times New Roman"/>
              </a:rPr>
              <a:t>B Link: connects STP to STP.</a:t>
            </a:r>
          </a:p>
          <a:p>
            <a:r>
              <a:rPr lang="en-US" sz="3000" dirty="0">
                <a:latin typeface="Times New Roman"/>
                <a:cs typeface="Times New Roman"/>
              </a:rPr>
              <a:t>C link: connects STP=STP only works for route failure and in that case provide another part.</a:t>
            </a:r>
          </a:p>
          <a:p>
            <a:r>
              <a:rPr lang="en-US" sz="3000" dirty="0">
                <a:latin typeface="Times New Roman"/>
                <a:cs typeface="Times New Roman"/>
              </a:rPr>
              <a:t>D link: connects STP-STP diagonally.</a:t>
            </a:r>
          </a:p>
        </p:txBody>
      </p:sp>
    </p:spTree>
    <p:extLst>
      <p:ext uri="{BB962C8B-B14F-4D97-AF65-F5344CB8AC3E}">
        <p14:creationId xmlns:p14="http://schemas.microsoft.com/office/powerpoint/2010/main" val="3197918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a:cs typeface="Times New Roman"/>
              </a:rPr>
              <a:t>SS7 Protocol Architecture</a:t>
            </a:r>
          </a:p>
        </p:txBody>
      </p:sp>
      <p:pic>
        <p:nvPicPr>
          <p:cNvPr id="6" name="Content Placeholder 5" descr="Screenshot 2020-08-26 at 6.52.02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26834" t="32588" r="31762" b="12360"/>
          <a:stretch/>
        </p:blipFill>
        <p:spPr>
          <a:xfrm>
            <a:off x="1106458" y="1722753"/>
            <a:ext cx="6726765" cy="4780656"/>
          </a:xfrm>
        </p:spPr>
      </p:pic>
    </p:spTree>
    <p:extLst>
      <p:ext uri="{BB962C8B-B14F-4D97-AF65-F5344CB8AC3E}">
        <p14:creationId xmlns:p14="http://schemas.microsoft.com/office/powerpoint/2010/main" val="111367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77246"/>
            <a:ext cx="8229600" cy="5748918"/>
          </a:xfrm>
        </p:spPr>
        <p:txBody>
          <a:bodyPr>
            <a:normAutofit/>
          </a:bodyPr>
          <a:lstStyle/>
          <a:p>
            <a:r>
              <a:rPr lang="en-US" sz="3000" dirty="0">
                <a:latin typeface="Times New Roman"/>
                <a:cs typeface="Times New Roman"/>
              </a:rPr>
              <a:t>The SS7 uses, a four layer  protocol stack.</a:t>
            </a:r>
          </a:p>
          <a:p>
            <a:r>
              <a:rPr lang="en-US" sz="3000" dirty="0">
                <a:latin typeface="Times New Roman"/>
                <a:cs typeface="Times New Roman"/>
              </a:rPr>
              <a:t>These protocol provide different services, depending on the use of, the signaling network.</a:t>
            </a:r>
          </a:p>
          <a:p>
            <a:r>
              <a:rPr lang="en-US" sz="3000" dirty="0">
                <a:latin typeface="Times New Roman"/>
                <a:cs typeface="Times New Roman"/>
              </a:rPr>
              <a:t>The Bottom three layers are meant for  communication and transmission of message. These three levels are referred to the Message Transfer Part (MTP).</a:t>
            </a:r>
          </a:p>
          <a:p>
            <a:r>
              <a:rPr lang="en-US" sz="3000" dirty="0">
                <a:latin typeface="Times New Roman"/>
                <a:cs typeface="Times New Roman"/>
              </a:rPr>
              <a:t>MTP provides the reliable service for routing messages through the SS7network.</a:t>
            </a:r>
          </a:p>
          <a:p>
            <a:r>
              <a:rPr lang="en-US" sz="3000" dirty="0">
                <a:latin typeface="Times New Roman"/>
                <a:cs typeface="Times New Roman"/>
              </a:rPr>
              <a:t>The upper portion or the fourth layer of the stack, performs the data processing function.</a:t>
            </a:r>
          </a:p>
          <a:p>
            <a:endParaRPr lang="en-US" sz="3000" dirty="0">
              <a:latin typeface="Times New Roman"/>
              <a:cs typeface="Times New Roman"/>
            </a:endParaRPr>
          </a:p>
        </p:txBody>
      </p:sp>
    </p:spTree>
    <p:extLst>
      <p:ext uri="{BB962C8B-B14F-4D97-AF65-F5344CB8AC3E}">
        <p14:creationId xmlns:p14="http://schemas.microsoft.com/office/powerpoint/2010/main" val="1031485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14372"/>
            <a:ext cx="8229600" cy="5811792"/>
          </a:xfrm>
        </p:spPr>
        <p:txBody>
          <a:bodyPr>
            <a:noAutofit/>
          </a:bodyPr>
          <a:lstStyle/>
          <a:p>
            <a:r>
              <a:rPr lang="en-US" sz="2200" b="1" dirty="0">
                <a:latin typeface="Times New Roman"/>
                <a:cs typeface="Times New Roman"/>
              </a:rPr>
              <a:t>Network Service Part (NSP): </a:t>
            </a:r>
            <a:r>
              <a:rPr lang="en-US" sz="2200" dirty="0">
                <a:latin typeface="Times New Roman"/>
                <a:cs typeface="Times New Roman"/>
              </a:rPr>
              <a:t>provides ISDN nodes with a highly reliable and efficient means of exchanging signaling traffic using connectionless services.</a:t>
            </a:r>
          </a:p>
          <a:p>
            <a:endParaRPr lang="en-US" sz="2200" dirty="0">
              <a:latin typeface="Times New Roman"/>
              <a:cs typeface="Times New Roman"/>
            </a:endParaRPr>
          </a:p>
          <a:p>
            <a:r>
              <a:rPr lang="en-US" sz="2200" b="1" dirty="0">
                <a:latin typeface="Times New Roman"/>
                <a:cs typeface="Times New Roman"/>
              </a:rPr>
              <a:t>Message Transfer Part (MTP)</a:t>
            </a:r>
            <a:r>
              <a:rPr lang="en-US" sz="2200" dirty="0">
                <a:latin typeface="Times New Roman"/>
                <a:cs typeface="Times New Roman"/>
              </a:rPr>
              <a:t>: The MTP provides reliable  service for routing messages. The MTP is divided into three levels:</a:t>
            </a:r>
          </a:p>
          <a:p>
            <a:r>
              <a:rPr lang="en-US" sz="2200" b="1" dirty="0">
                <a:latin typeface="Times New Roman"/>
                <a:cs typeface="Times New Roman"/>
              </a:rPr>
              <a:t>MTP level1</a:t>
            </a:r>
            <a:r>
              <a:rPr lang="en-US" sz="2200" dirty="0">
                <a:latin typeface="Times New Roman"/>
                <a:cs typeface="Times New Roman"/>
              </a:rPr>
              <a:t>: is the lowest level. MTP1 is the physical layer. </a:t>
            </a:r>
          </a:p>
          <a:p>
            <a:pPr>
              <a:buFont typeface="Wingdings" charset="2"/>
              <a:buChar char="Ø"/>
            </a:pPr>
            <a:r>
              <a:rPr lang="en-US" sz="2200" dirty="0">
                <a:latin typeface="Times New Roman"/>
                <a:cs typeface="Times New Roman"/>
              </a:rPr>
              <a:t>It is an interface to actual physical channel.</a:t>
            </a:r>
          </a:p>
          <a:p>
            <a:pPr>
              <a:buFont typeface="Wingdings" charset="2"/>
              <a:buChar char="Ø"/>
            </a:pPr>
            <a:r>
              <a:rPr lang="en-US" sz="2200" dirty="0">
                <a:latin typeface="Times New Roman"/>
                <a:cs typeface="Times New Roman"/>
              </a:rPr>
              <a:t>It moves bits and bytes, over electrical and data paths.</a:t>
            </a:r>
          </a:p>
          <a:p>
            <a:pPr>
              <a:buFont typeface="Wingdings" charset="2"/>
              <a:buChar char="Ø"/>
            </a:pPr>
            <a:r>
              <a:rPr lang="en-US" sz="2200" dirty="0">
                <a:latin typeface="Times New Roman"/>
                <a:cs typeface="Times New Roman"/>
              </a:rPr>
              <a:t>It uses time slot of a 2Mbps.</a:t>
            </a:r>
          </a:p>
          <a:p>
            <a:pPr>
              <a:buFont typeface="Wingdings" charset="2"/>
              <a:buChar char="Ø"/>
            </a:pPr>
            <a:endParaRPr lang="en-US" sz="2200" dirty="0">
              <a:latin typeface="Times New Roman"/>
              <a:cs typeface="Times New Roman"/>
            </a:endParaRPr>
          </a:p>
          <a:p>
            <a:r>
              <a:rPr lang="en-US" sz="2200" b="1" dirty="0">
                <a:latin typeface="Times New Roman"/>
                <a:cs typeface="Times New Roman"/>
              </a:rPr>
              <a:t>MTP level2</a:t>
            </a:r>
            <a:r>
              <a:rPr lang="en-US" sz="2200" dirty="0">
                <a:latin typeface="Times New Roman"/>
                <a:cs typeface="Times New Roman"/>
              </a:rPr>
              <a:t>: Equivalent to data link layer in OSI.</a:t>
            </a:r>
          </a:p>
          <a:p>
            <a:pPr>
              <a:buFont typeface="Wingdings" charset="2"/>
              <a:buChar char="Ø"/>
            </a:pPr>
            <a:r>
              <a:rPr lang="en-US" sz="2200" dirty="0">
                <a:latin typeface="Times New Roman"/>
                <a:cs typeface="Times New Roman"/>
              </a:rPr>
              <a:t> MTP-2 provide support to MTP-3 in link management by ensuring accurate end to end transmission of a message,</a:t>
            </a:r>
          </a:p>
        </p:txBody>
      </p:sp>
    </p:spTree>
    <p:extLst>
      <p:ext uri="{BB962C8B-B14F-4D97-AF65-F5344CB8AC3E}">
        <p14:creationId xmlns:p14="http://schemas.microsoft.com/office/powerpoint/2010/main" val="366464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65270"/>
            <a:ext cx="8229600" cy="5660894"/>
          </a:xfrm>
        </p:spPr>
        <p:txBody>
          <a:bodyPr>
            <a:normAutofit fontScale="92500" lnSpcReduction="10000"/>
          </a:bodyPr>
          <a:lstStyle/>
          <a:p>
            <a:pPr>
              <a:buFont typeface="Wingdings" charset="2"/>
              <a:buChar char="Ø"/>
            </a:pPr>
            <a:endParaRPr lang="en-US" sz="2400" dirty="0">
              <a:latin typeface="Times New Roman"/>
              <a:cs typeface="Times New Roman"/>
            </a:endParaRPr>
          </a:p>
          <a:p>
            <a:pPr>
              <a:buFont typeface="Wingdings" charset="2"/>
              <a:buChar char="Ø"/>
            </a:pPr>
            <a:r>
              <a:rPr lang="en-US" sz="2400" dirty="0">
                <a:latin typeface="Times New Roman"/>
                <a:cs typeface="Times New Roman"/>
              </a:rPr>
              <a:t>By performing error detection.</a:t>
            </a:r>
          </a:p>
          <a:p>
            <a:pPr>
              <a:buFont typeface="Wingdings" charset="2"/>
              <a:buChar char="Ø"/>
            </a:pPr>
            <a:r>
              <a:rPr lang="en-US" sz="2400" dirty="0">
                <a:latin typeface="Times New Roman"/>
                <a:cs typeface="Times New Roman"/>
              </a:rPr>
              <a:t>Arranging of retransmission.</a:t>
            </a:r>
          </a:p>
          <a:p>
            <a:pPr>
              <a:buFont typeface="Wingdings" charset="2"/>
              <a:buChar char="Ø"/>
            </a:pPr>
            <a:r>
              <a:rPr lang="en-US" sz="2400" dirty="0">
                <a:latin typeface="Times New Roman"/>
                <a:cs typeface="Times New Roman"/>
              </a:rPr>
              <a:t>Implementing flow control,.</a:t>
            </a:r>
          </a:p>
          <a:p>
            <a:pPr>
              <a:buFont typeface="Wingdings" charset="2"/>
              <a:buChar char="Ø"/>
            </a:pPr>
            <a:r>
              <a:rPr lang="en-US" sz="2400" dirty="0">
                <a:latin typeface="Times New Roman"/>
                <a:cs typeface="Times New Roman"/>
              </a:rPr>
              <a:t>By delivering the message in sequence to users.</a:t>
            </a:r>
          </a:p>
          <a:p>
            <a:pPr>
              <a:buFont typeface="Wingdings" charset="2"/>
              <a:buChar char="Ø"/>
            </a:pPr>
            <a:r>
              <a:rPr lang="en-US" sz="2400" dirty="0">
                <a:latin typeface="Times New Roman"/>
                <a:cs typeface="Times New Roman"/>
              </a:rPr>
              <a:t>Detecting and declaring faulty link conditions.</a:t>
            </a:r>
          </a:p>
          <a:p>
            <a:pPr marL="0" indent="0">
              <a:buNone/>
            </a:pPr>
            <a:endParaRPr lang="en-US" sz="2400" b="1" dirty="0">
              <a:latin typeface="Times New Roman"/>
              <a:cs typeface="Times New Roman"/>
            </a:endParaRPr>
          </a:p>
          <a:p>
            <a:r>
              <a:rPr lang="en-US" sz="2400" b="1" dirty="0">
                <a:latin typeface="Times New Roman"/>
                <a:cs typeface="Times New Roman"/>
              </a:rPr>
              <a:t>MTP level3</a:t>
            </a:r>
            <a:r>
              <a:rPr lang="en-US" sz="2400" dirty="0">
                <a:latin typeface="Times New Roman"/>
                <a:cs typeface="Times New Roman"/>
              </a:rPr>
              <a:t>: </a:t>
            </a:r>
          </a:p>
          <a:p>
            <a:pPr>
              <a:buFont typeface="Wingdings" charset="2"/>
              <a:buChar char="Ø"/>
            </a:pPr>
            <a:r>
              <a:rPr lang="en-US" sz="2400" dirty="0">
                <a:latin typeface="Times New Roman"/>
                <a:cs typeface="Times New Roman"/>
              </a:rPr>
              <a:t>Provides message routing between signaling points in SS7 network. </a:t>
            </a:r>
          </a:p>
          <a:p>
            <a:pPr>
              <a:buFont typeface="Wingdings" charset="2"/>
              <a:buChar char="Ø"/>
            </a:pPr>
            <a:r>
              <a:rPr lang="en-US" sz="2400" dirty="0">
                <a:latin typeface="Times New Roman"/>
                <a:cs typeface="Times New Roman"/>
              </a:rPr>
              <a:t>It ensures that the message can be delivered between signaling points, across the SS7 network irrespective of whether they are directly connected or not.</a:t>
            </a:r>
          </a:p>
          <a:p>
            <a:pPr>
              <a:buFont typeface="Wingdings" charset="2"/>
              <a:buChar char="Ø"/>
            </a:pPr>
            <a:r>
              <a:rPr lang="en-US" sz="2400" dirty="0">
                <a:latin typeface="Times New Roman"/>
                <a:cs typeface="Times New Roman"/>
              </a:rPr>
              <a:t>MTP3 reroutes traffic, away from failed links and signaling points. MTP3 also control traffic, when congestion occurs.</a:t>
            </a:r>
          </a:p>
          <a:p>
            <a:pPr>
              <a:buFont typeface="Wingdings" charset="2"/>
              <a:buChar char="Ø"/>
            </a:pPr>
            <a:r>
              <a:rPr lang="en-US" sz="2400" dirty="0">
                <a:latin typeface="Times New Roman"/>
                <a:cs typeface="Times New Roman"/>
              </a:rPr>
              <a:t>Provides nodes addressing, routing and alternate routing.</a:t>
            </a:r>
          </a:p>
          <a:p>
            <a:endParaRPr lang="en-US" sz="3000" dirty="0">
              <a:latin typeface="Times New Roman"/>
              <a:cs typeface="Times New Roman"/>
            </a:endParaRPr>
          </a:p>
        </p:txBody>
      </p:sp>
    </p:spTree>
    <p:extLst>
      <p:ext uri="{BB962C8B-B14F-4D97-AF65-F5344CB8AC3E}">
        <p14:creationId xmlns:p14="http://schemas.microsoft.com/office/powerpoint/2010/main" val="1875485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6946"/>
            <a:ext cx="8229600" cy="5799217"/>
          </a:xfrm>
        </p:spPr>
        <p:txBody>
          <a:bodyPr>
            <a:normAutofit/>
          </a:bodyPr>
          <a:lstStyle/>
          <a:p>
            <a:r>
              <a:rPr lang="en-US" b="1" dirty="0">
                <a:latin typeface="Times New Roman"/>
                <a:cs typeface="Times New Roman"/>
              </a:rPr>
              <a:t>User Part: </a:t>
            </a:r>
            <a:r>
              <a:rPr lang="en-US" dirty="0">
                <a:latin typeface="Times New Roman"/>
                <a:cs typeface="Times New Roman"/>
              </a:rPr>
              <a:t>is known as level4 in the layered structure of the signaling system.</a:t>
            </a:r>
          </a:p>
          <a:p>
            <a:pPr>
              <a:buFont typeface="Wingdings" charset="2"/>
              <a:buChar char="Ø"/>
            </a:pPr>
            <a:r>
              <a:rPr lang="en-US" dirty="0">
                <a:latin typeface="Times New Roman"/>
                <a:cs typeface="Times New Roman"/>
              </a:rPr>
              <a:t>It includes the message, message coding and the protocol necessary, to support telephony and ISDN.</a:t>
            </a:r>
          </a:p>
          <a:p>
            <a:pPr>
              <a:buFont typeface="Wingdings" charset="2"/>
              <a:buChar char="Ø"/>
            </a:pPr>
            <a:r>
              <a:rPr lang="en-US" dirty="0">
                <a:latin typeface="Times New Roman"/>
                <a:cs typeface="Times New Roman"/>
              </a:rPr>
              <a:t>This consists of the processes for handling the services being supported by the signaling system.</a:t>
            </a:r>
          </a:p>
          <a:p>
            <a:pPr>
              <a:buFont typeface="Wingdings" charset="2"/>
              <a:buChar char="Ø"/>
            </a:pPr>
            <a:r>
              <a:rPr lang="en-US" dirty="0">
                <a:latin typeface="Times New Roman"/>
                <a:cs typeface="Times New Roman"/>
              </a:rPr>
              <a:t>The message transfer part, is capable of, supporting many different user parts.</a:t>
            </a:r>
          </a:p>
          <a:p>
            <a:pPr>
              <a:buFont typeface="Wingdings" charset="2"/>
              <a:buChar char="Ø"/>
            </a:pPr>
            <a:r>
              <a:rPr lang="en-US" dirty="0">
                <a:latin typeface="Times New Roman"/>
                <a:cs typeface="Times New Roman"/>
              </a:rPr>
              <a:t>The SS7 user part includes the ISDN user part (ISUP), the transaction capabilities application part (TCAP), and the operation maintenance and administration part (OMAP). The telephone user part(TUP) and the data user part(DUP) are included in ISUP.</a:t>
            </a:r>
          </a:p>
          <a:p>
            <a:pPr marL="0" indent="0">
              <a:buNone/>
            </a:pPr>
            <a:endParaRPr lang="en-US" dirty="0">
              <a:latin typeface="Times New Roman"/>
              <a:cs typeface="Times New Roman"/>
            </a:endParaRPr>
          </a:p>
          <a:p>
            <a:pPr>
              <a:buFont typeface="Wingdings" charset="2"/>
              <a:buChar char="Ø"/>
            </a:pPr>
            <a:endParaRPr lang="en-US" dirty="0">
              <a:latin typeface="Times New Roman"/>
              <a:cs typeface="Times New Roman"/>
            </a:endParaRPr>
          </a:p>
          <a:p>
            <a:pPr>
              <a:buFont typeface="Wingdings" charset="2"/>
              <a:buChar char="Ø"/>
            </a:pPr>
            <a:endParaRPr lang="en-US" dirty="0">
              <a:latin typeface="Times New Roman"/>
              <a:cs typeface="Times New Roman"/>
            </a:endParaRPr>
          </a:p>
        </p:txBody>
      </p:sp>
    </p:spTree>
    <p:extLst>
      <p:ext uri="{BB962C8B-B14F-4D97-AF65-F5344CB8AC3E}">
        <p14:creationId xmlns:p14="http://schemas.microsoft.com/office/powerpoint/2010/main" val="683022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2694"/>
            <a:ext cx="8229600" cy="5673470"/>
          </a:xfrm>
        </p:spPr>
        <p:txBody>
          <a:bodyPr>
            <a:normAutofit fontScale="92500" lnSpcReduction="20000"/>
          </a:bodyPr>
          <a:lstStyle/>
          <a:p>
            <a:pPr marL="514350" indent="-514350">
              <a:buFont typeface="+mj-lt"/>
              <a:buAutoNum type="arabicParenR"/>
            </a:pPr>
            <a:r>
              <a:rPr lang="en-US" sz="3000" dirty="0">
                <a:latin typeface="Times New Roman"/>
                <a:cs typeface="Times New Roman"/>
              </a:rPr>
              <a:t>Integrated Services Digital Network User Part (ISUP): provides signaling functions for carrier and supplementary services for voice, data and video in an ISDN environment.</a:t>
            </a:r>
          </a:p>
          <a:p>
            <a:pPr marL="514350" indent="-514350">
              <a:buFont typeface="+mj-lt"/>
              <a:buAutoNum type="arabicParenR"/>
            </a:pPr>
            <a:r>
              <a:rPr lang="en-US" sz="3000" dirty="0">
                <a:latin typeface="Times New Roman"/>
                <a:cs typeface="Times New Roman"/>
              </a:rPr>
              <a:t>Transaction Capabilities Application Part(TCAP) refers to the application layer which invokes the services of SCCP and the MTP in a hierarchical format and is concerned with remote operations.</a:t>
            </a:r>
          </a:p>
          <a:p>
            <a:pPr marL="514350" indent="-514350">
              <a:buFont typeface="+mj-lt"/>
              <a:buAutoNum type="arabicParenR"/>
            </a:pPr>
            <a:r>
              <a:rPr lang="en-US" sz="3000" dirty="0">
                <a:latin typeface="Times New Roman"/>
                <a:cs typeface="Times New Roman"/>
              </a:rPr>
              <a:t>Operation Maintenance And Administration Part(OMAP): include monitoring, coordination and control function to ensure that trouble free communications are possible.</a:t>
            </a:r>
          </a:p>
          <a:p>
            <a:r>
              <a:rPr lang="en-US" sz="3000" dirty="0">
                <a:latin typeface="Times New Roman"/>
                <a:cs typeface="Times New Roman"/>
              </a:rPr>
              <a:t>Signaling Connection Control Part(SCCP): can address applications, within a signaling point.</a:t>
            </a:r>
          </a:p>
        </p:txBody>
      </p:sp>
    </p:spTree>
    <p:extLst>
      <p:ext uri="{BB962C8B-B14F-4D97-AF65-F5344CB8AC3E}">
        <p14:creationId xmlns:p14="http://schemas.microsoft.com/office/powerpoint/2010/main" val="4258047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76646"/>
            <a:ext cx="8229600" cy="5849517"/>
          </a:xfrm>
        </p:spPr>
        <p:txBody>
          <a:bodyPr>
            <a:noAutofit/>
          </a:bodyPr>
          <a:lstStyle/>
          <a:p>
            <a:r>
              <a:rPr lang="en-US" sz="2200" b="1" dirty="0">
                <a:latin typeface="Times New Roman"/>
                <a:cs typeface="Times New Roman"/>
              </a:rPr>
              <a:t>Performance of SS7:</a:t>
            </a:r>
          </a:p>
          <a:p>
            <a:pPr marL="0" indent="0">
              <a:buNone/>
            </a:pPr>
            <a:r>
              <a:rPr lang="en-US" sz="2200" dirty="0">
                <a:latin typeface="Times New Roman"/>
                <a:cs typeface="Times New Roman"/>
              </a:rPr>
              <a:t>The performance of Signaling network is studied by the connection set-up time(response time) or end to end signaling information transfer time.</a:t>
            </a:r>
            <a:endParaRPr lang="en-US" sz="2200" b="1" dirty="0">
              <a:latin typeface="Times New Roman"/>
              <a:cs typeface="Times New Roman"/>
            </a:endParaRPr>
          </a:p>
          <a:p>
            <a:r>
              <a:rPr lang="en-US" sz="2200" b="1" dirty="0">
                <a:latin typeface="Times New Roman"/>
                <a:cs typeface="Times New Roman"/>
              </a:rPr>
              <a:t>Advantages of Common Channel Signaling over Conventional Signaling:</a:t>
            </a:r>
          </a:p>
          <a:p>
            <a:pPr marL="514350" indent="-514350">
              <a:buFont typeface="+mj-lt"/>
              <a:buAutoNum type="arabicParenR"/>
            </a:pPr>
            <a:r>
              <a:rPr lang="en-US" sz="2200" u="sng" dirty="0">
                <a:latin typeface="Times New Roman"/>
                <a:cs typeface="Times New Roman"/>
              </a:rPr>
              <a:t>Faster call set-up</a:t>
            </a:r>
            <a:r>
              <a:rPr lang="en-US" sz="2200" dirty="0">
                <a:latin typeface="Times New Roman"/>
                <a:cs typeface="Times New Roman"/>
              </a:rPr>
              <a:t>:  In CCS, high speed signaling  networks are used for transferring the call set-up messages resulting in smaller delay times compared to conventional signaling.</a:t>
            </a:r>
          </a:p>
          <a:p>
            <a:pPr marL="514350" indent="-514350">
              <a:buFont typeface="+mj-lt"/>
              <a:buAutoNum type="arabicParenR"/>
            </a:pPr>
            <a:r>
              <a:rPr lang="en-US" sz="2200" u="sng" dirty="0">
                <a:latin typeface="Times New Roman"/>
                <a:cs typeface="Times New Roman"/>
              </a:rPr>
              <a:t>Greater </a:t>
            </a:r>
            <a:r>
              <a:rPr lang="en-US" sz="2200" u="sng" dirty="0" err="1">
                <a:latin typeface="Times New Roman"/>
                <a:cs typeface="Times New Roman"/>
              </a:rPr>
              <a:t>Trunking</a:t>
            </a:r>
            <a:r>
              <a:rPr lang="en-US" sz="2200" u="sng" dirty="0">
                <a:latin typeface="Times New Roman"/>
                <a:cs typeface="Times New Roman"/>
              </a:rPr>
              <a:t> (or Queuing) Efficiency:</a:t>
            </a:r>
            <a:r>
              <a:rPr lang="en-US" sz="2200" dirty="0">
                <a:latin typeface="Times New Roman"/>
                <a:cs typeface="Times New Roman"/>
              </a:rPr>
              <a:t> CCS has shorter call set-up and tear down times that results in less call- holding time, reducing the traffic on the network.</a:t>
            </a:r>
          </a:p>
          <a:p>
            <a:pPr marL="514350" indent="-514350">
              <a:buFont typeface="+mj-lt"/>
              <a:buAutoNum type="arabicParenR"/>
            </a:pPr>
            <a:r>
              <a:rPr lang="en-US" sz="2200" u="sng" dirty="0">
                <a:latin typeface="Times New Roman"/>
                <a:cs typeface="Times New Roman"/>
              </a:rPr>
              <a:t>Information Transfer:</a:t>
            </a:r>
            <a:r>
              <a:rPr lang="en-US" sz="2200" dirty="0">
                <a:latin typeface="Times New Roman"/>
                <a:cs typeface="Times New Roman"/>
              </a:rPr>
              <a:t> CCS allows the transfer of additional information along with the signaling traffic providing facilities such as caller identification and voice or data identification.</a:t>
            </a:r>
          </a:p>
        </p:txBody>
      </p:sp>
    </p:spTree>
    <p:extLst>
      <p:ext uri="{BB962C8B-B14F-4D97-AF65-F5344CB8AC3E}">
        <p14:creationId xmlns:p14="http://schemas.microsoft.com/office/powerpoint/2010/main" val="2945851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a:cs typeface="Times New Roman"/>
              </a:rPr>
              <a:t>A Basic Cellular System</a:t>
            </a:r>
          </a:p>
        </p:txBody>
      </p:sp>
      <p:sp>
        <p:nvSpPr>
          <p:cNvPr id="3" name="Content Placeholder 2"/>
          <p:cNvSpPr>
            <a:spLocks noGrp="1"/>
          </p:cNvSpPr>
          <p:nvPr>
            <p:ph idx="1"/>
          </p:nvPr>
        </p:nvSpPr>
        <p:spPr/>
        <p:txBody>
          <a:bodyPr>
            <a:normAutofit fontScale="70000" lnSpcReduction="20000"/>
          </a:bodyPr>
          <a:lstStyle/>
          <a:p>
            <a:r>
              <a:rPr lang="en-US" sz="3400" dirty="0">
                <a:latin typeface="Times New Roman"/>
                <a:cs typeface="Times New Roman"/>
              </a:rPr>
              <a:t>A wireless radio network covering a set of cells in which two way radio units such as cellular or PCS telephones, can communicate.</a:t>
            </a:r>
          </a:p>
          <a:p>
            <a:r>
              <a:rPr lang="en-US" sz="3400" dirty="0">
                <a:latin typeface="Times New Roman"/>
                <a:cs typeface="Times New Roman"/>
              </a:rPr>
              <a:t>The radio network is defines by a set of Base station which serves as central control for all users within that cell.</a:t>
            </a:r>
          </a:p>
          <a:p>
            <a:r>
              <a:rPr lang="en-US" sz="3400" dirty="0">
                <a:latin typeface="Times New Roman"/>
                <a:cs typeface="Times New Roman"/>
              </a:rPr>
              <a:t>Mobile users  can communicate directly with the base stations and base station directly with Mobile Telephone Switching Office(MTSO) or MSC.</a:t>
            </a:r>
          </a:p>
          <a:p>
            <a:r>
              <a:rPr lang="en-US" sz="3400" dirty="0">
                <a:latin typeface="Times New Roman"/>
                <a:cs typeface="Times New Roman"/>
              </a:rPr>
              <a:t>An MTSO controls channel assignment, call processing, call setup and call termination which include signaling switching, supervision , and allocating radio- frequency channel.</a:t>
            </a:r>
          </a:p>
          <a:p>
            <a:r>
              <a:rPr lang="en-US" sz="3400" dirty="0">
                <a:latin typeface="Times New Roman"/>
                <a:cs typeface="Times New Roman"/>
              </a:rPr>
              <a:t>MTSO provides a centralized administration and maintenance point for the entire network. </a:t>
            </a:r>
          </a:p>
          <a:p>
            <a:endParaRPr lang="en-US" dirty="0"/>
          </a:p>
          <a:p>
            <a:endParaRPr lang="en-US" dirty="0"/>
          </a:p>
        </p:txBody>
      </p:sp>
    </p:spTree>
    <p:extLst>
      <p:ext uri="{BB962C8B-B14F-4D97-AF65-F5344CB8AC3E}">
        <p14:creationId xmlns:p14="http://schemas.microsoft.com/office/powerpoint/2010/main" val="3904566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54490"/>
            <a:ext cx="8229600" cy="5371673"/>
          </a:xfrm>
        </p:spPr>
        <p:txBody>
          <a:bodyPr>
            <a:normAutofit/>
          </a:bodyPr>
          <a:lstStyle/>
          <a:p>
            <a:r>
              <a:rPr lang="en-US" sz="2800" dirty="0">
                <a:latin typeface="Times New Roman"/>
                <a:cs typeface="Times New Roman"/>
              </a:rPr>
              <a:t>Base station can improve the transmission quality, but they cannot increase the channel capacity within the fixed bandwidth of the network.</a:t>
            </a:r>
          </a:p>
          <a:p>
            <a:r>
              <a:rPr lang="en-US" sz="2800" dirty="0">
                <a:latin typeface="Times New Roman"/>
                <a:cs typeface="Times New Roman"/>
              </a:rPr>
              <a:t>Base station are distributed over the area of system coverage and are managed and controlled by an on-site computerized cell site controller that handles all cell-site control and switching function.</a:t>
            </a:r>
          </a:p>
          <a:p>
            <a:r>
              <a:rPr lang="en-US" sz="2800" dirty="0">
                <a:latin typeface="Times New Roman"/>
                <a:cs typeface="Times New Roman"/>
              </a:rPr>
              <a:t>The function of Base station is to provide an interface between mobile telephone sets and the MTSO. BS communicate with the MTSO over dedicated data links.</a:t>
            </a:r>
          </a:p>
        </p:txBody>
      </p:sp>
    </p:spTree>
    <p:extLst>
      <p:ext uri="{BB962C8B-B14F-4D97-AF65-F5344CB8AC3E}">
        <p14:creationId xmlns:p14="http://schemas.microsoft.com/office/powerpoint/2010/main" val="3957149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 2020-08-26 at 8.12.08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24237" t="22810" r="21373" b="7757"/>
          <a:stretch/>
        </p:blipFill>
        <p:spPr>
          <a:xfrm>
            <a:off x="1420793" y="1169460"/>
            <a:ext cx="6764485" cy="4866461"/>
          </a:xfrm>
        </p:spPr>
      </p:pic>
    </p:spTree>
    <p:extLst>
      <p:ext uri="{BB962C8B-B14F-4D97-AF65-F5344CB8AC3E}">
        <p14:creationId xmlns:p14="http://schemas.microsoft.com/office/powerpoint/2010/main" val="219861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51577"/>
          </a:xfrm>
        </p:spPr>
        <p:txBody>
          <a:bodyPr>
            <a:normAutofit/>
          </a:bodyPr>
          <a:lstStyle/>
          <a:p>
            <a:r>
              <a:rPr lang="en-US" sz="4000" dirty="0">
                <a:latin typeface="Times New Roman"/>
                <a:cs typeface="Times New Roman"/>
              </a:rPr>
              <a:t>Multiple Access Techniques</a:t>
            </a:r>
          </a:p>
        </p:txBody>
      </p:sp>
      <p:sp>
        <p:nvSpPr>
          <p:cNvPr id="3" name="Content Placeholder 2"/>
          <p:cNvSpPr>
            <a:spLocks noGrp="1"/>
          </p:cNvSpPr>
          <p:nvPr>
            <p:ph idx="1"/>
          </p:nvPr>
        </p:nvSpPr>
        <p:spPr>
          <a:xfrm>
            <a:off x="457200" y="1180148"/>
            <a:ext cx="8229600" cy="4946016"/>
          </a:xfrm>
        </p:spPr>
        <p:txBody>
          <a:bodyPr>
            <a:normAutofit/>
          </a:bodyPr>
          <a:lstStyle/>
          <a:p>
            <a:r>
              <a:rPr lang="en-US" dirty="0">
                <a:latin typeface="Times New Roman"/>
                <a:cs typeface="Times New Roman"/>
              </a:rPr>
              <a:t>Multiple access is a signal transmission situation in which two or more users wish to simultaneously communicate with each other using the same propagation channel.</a:t>
            </a:r>
          </a:p>
          <a:p>
            <a:r>
              <a:rPr lang="en-US" dirty="0">
                <a:latin typeface="Times New Roman"/>
                <a:cs typeface="Times New Roman"/>
              </a:rPr>
              <a:t>It is often desirable to allow subscriber to send information simultaneously from MS to BS while receiving information from BS to MS.</a:t>
            </a:r>
          </a:p>
          <a:p>
            <a:r>
              <a:rPr lang="en-US" dirty="0">
                <a:latin typeface="Times New Roman"/>
                <a:cs typeface="Times New Roman"/>
              </a:rPr>
              <a:t>The main aim is able to increase the capacity of channel as possible in given bandwidth with sufficient quality of service.</a:t>
            </a:r>
          </a:p>
          <a:p>
            <a:r>
              <a:rPr lang="en-US" dirty="0">
                <a:latin typeface="Times New Roman"/>
                <a:cs typeface="Times New Roman"/>
              </a:rPr>
              <a:t>Multiple Access Schemes are:</a:t>
            </a:r>
          </a:p>
          <a:p>
            <a:pPr marL="514350" indent="-514350">
              <a:buFont typeface="+mj-lt"/>
              <a:buAutoNum type="arabicParenR"/>
            </a:pPr>
            <a:r>
              <a:rPr lang="en-US" dirty="0">
                <a:latin typeface="Times New Roman"/>
                <a:cs typeface="Times New Roman"/>
              </a:rPr>
              <a:t>Frequency Division Multiple Access(FDMA)</a:t>
            </a:r>
          </a:p>
          <a:p>
            <a:pPr marL="514350" indent="-514350">
              <a:buFont typeface="+mj-lt"/>
              <a:buAutoNum type="arabicParenR"/>
            </a:pPr>
            <a:r>
              <a:rPr lang="en-US" dirty="0">
                <a:latin typeface="Times New Roman"/>
                <a:cs typeface="Times New Roman"/>
              </a:rPr>
              <a:t>Time Division Multiple Access(TDMA)</a:t>
            </a:r>
          </a:p>
          <a:p>
            <a:pPr marL="514350" indent="-514350">
              <a:buFont typeface="+mj-lt"/>
              <a:buAutoNum type="arabicParenR"/>
            </a:pPr>
            <a:r>
              <a:rPr lang="en-US" dirty="0">
                <a:latin typeface="Times New Roman"/>
                <a:cs typeface="Times New Roman"/>
              </a:rPr>
              <a:t>Code Division Multiple Access(CDMA)</a:t>
            </a:r>
          </a:p>
          <a:p>
            <a:pPr marL="514350" indent="-514350">
              <a:buFont typeface="+mj-lt"/>
              <a:buAutoNum type="arabicParenR"/>
            </a:pPr>
            <a:r>
              <a:rPr lang="en-US" dirty="0">
                <a:latin typeface="Times New Roman"/>
                <a:cs typeface="Times New Roman"/>
              </a:rPr>
              <a:t>Space Division Multiple Access(SDMA)</a:t>
            </a:r>
          </a:p>
          <a:p>
            <a:endParaRPr lang="en-US" dirty="0">
              <a:latin typeface="Times New Roman"/>
              <a:cs typeface="Times New Roman"/>
            </a:endParaRPr>
          </a:p>
          <a:p>
            <a:endParaRPr lang="en-US" dirty="0">
              <a:latin typeface="Times New Roman"/>
              <a:cs typeface="Times New Roman"/>
            </a:endParaRPr>
          </a:p>
        </p:txBody>
      </p:sp>
    </p:spTree>
    <p:extLst>
      <p:ext uri="{BB962C8B-B14F-4D97-AF65-F5344CB8AC3E}">
        <p14:creationId xmlns:p14="http://schemas.microsoft.com/office/powerpoint/2010/main" val="1196538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97658"/>
            <a:ext cx="8229600" cy="5728506"/>
          </a:xfrm>
        </p:spPr>
        <p:txBody>
          <a:bodyPr>
            <a:normAutofit fontScale="92500"/>
          </a:bodyPr>
          <a:lstStyle/>
          <a:p>
            <a:pPr marL="514350" indent="-514350">
              <a:buFont typeface="+mj-lt"/>
              <a:buAutoNum type="arabicParenR"/>
            </a:pPr>
            <a:r>
              <a:rPr lang="en-US" sz="3600" b="1" dirty="0">
                <a:latin typeface="Times New Roman"/>
                <a:cs typeface="Times New Roman"/>
              </a:rPr>
              <a:t>FDMA :</a:t>
            </a:r>
            <a:endParaRPr lang="en-US" dirty="0">
              <a:latin typeface="Times New Roman"/>
              <a:cs typeface="Times New Roman"/>
            </a:endParaRPr>
          </a:p>
          <a:p>
            <a:pPr>
              <a:buFont typeface="Wingdings" charset="2"/>
              <a:buChar char="Ø"/>
            </a:pPr>
            <a:r>
              <a:rPr lang="en-US" dirty="0">
                <a:latin typeface="Times New Roman"/>
                <a:cs typeface="Times New Roman"/>
              </a:rPr>
              <a:t>Individual user are allotted individual channels. The channels are frequency band is unique for each user/subscriber. Or</a:t>
            </a:r>
          </a:p>
          <a:p>
            <a:pPr>
              <a:buFont typeface="Wingdings" charset="2"/>
              <a:buChar char="Ø"/>
            </a:pPr>
            <a:r>
              <a:rPr lang="en-US" dirty="0">
                <a:latin typeface="Times New Roman"/>
                <a:cs typeface="Times New Roman"/>
              </a:rPr>
              <a:t>In this scheme the avail bandwidth is divided into various frequency band.</a:t>
            </a:r>
          </a:p>
          <a:p>
            <a:pPr>
              <a:buFont typeface="Wingdings" charset="2"/>
              <a:buChar char="Ø"/>
            </a:pPr>
            <a:r>
              <a:rPr lang="en-US" dirty="0">
                <a:latin typeface="Times New Roman"/>
                <a:cs typeface="Times New Roman"/>
              </a:rPr>
              <a:t>Each station allocated a band to end its data when service request is made.</a:t>
            </a:r>
          </a:p>
          <a:p>
            <a:pPr>
              <a:buFont typeface="Wingdings" charset="2"/>
              <a:buChar char="Ø"/>
            </a:pPr>
            <a:r>
              <a:rPr lang="en-US" dirty="0">
                <a:latin typeface="Times New Roman"/>
                <a:cs typeface="Times New Roman"/>
              </a:rPr>
              <a:t>Thus each band is reserved for specific station and no other user can share the same frequency band.</a:t>
            </a:r>
          </a:p>
          <a:p>
            <a:pPr>
              <a:buFont typeface="Wingdings" charset="2"/>
              <a:buChar char="Ø"/>
            </a:pPr>
            <a:r>
              <a:rPr lang="en-US" dirty="0">
                <a:latin typeface="Times New Roman"/>
                <a:cs typeface="Times New Roman"/>
              </a:rPr>
              <a:t>Guard Band; In each band there is a guard band which unable the overlapping or we can say to avoid frequency overlapping small gap in the frequency band are required, those are called guard band. </a:t>
            </a:r>
          </a:p>
          <a:p>
            <a:pPr>
              <a:buFont typeface="Wingdings" charset="2"/>
              <a:buChar char="Ø"/>
            </a:pPr>
            <a:r>
              <a:rPr lang="en-US" dirty="0">
                <a:latin typeface="Times New Roman"/>
                <a:cs typeface="Times New Roman"/>
              </a:rPr>
              <a:t>Used for FDD (Frequency Division Duplexing).</a:t>
            </a:r>
          </a:p>
          <a:p>
            <a:pPr>
              <a:buFont typeface="Wingdings" charset="2"/>
              <a:buChar char="Ø"/>
            </a:pPr>
            <a:r>
              <a:rPr lang="en-US" dirty="0">
                <a:latin typeface="Times New Roman"/>
                <a:cs typeface="Times New Roman"/>
              </a:rPr>
              <a:t>Bidirectional communication is possible simultaneously and is essential for cellular communication also. Such a simultaneously talk and listen facility is known as Duplexing. Under frequency division multiplexing, duplexing is done using frequency &amp; termed as FDD.</a:t>
            </a:r>
          </a:p>
        </p:txBody>
      </p:sp>
    </p:spTree>
    <p:extLst>
      <p:ext uri="{BB962C8B-B14F-4D97-AF65-F5344CB8AC3E}">
        <p14:creationId xmlns:p14="http://schemas.microsoft.com/office/powerpoint/2010/main" val="1905577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3520"/>
            <a:ext cx="8229600" cy="5625883"/>
          </a:xfrm>
        </p:spPr>
        <p:txBody>
          <a:bodyPr>
            <a:normAutofit/>
          </a:bodyPr>
          <a:lstStyle/>
          <a:p>
            <a:r>
              <a:rPr lang="en-US" b="1" dirty="0">
                <a:latin typeface="Times New Roman"/>
                <a:cs typeface="Times New Roman"/>
              </a:rPr>
              <a:t>Salient feature of FDMA</a:t>
            </a:r>
            <a:r>
              <a:rPr lang="en-US" dirty="0">
                <a:latin typeface="Times New Roman"/>
                <a:cs typeface="Times New Roman"/>
              </a:rPr>
              <a:t>:</a:t>
            </a:r>
          </a:p>
          <a:p>
            <a:pPr marL="571500" indent="-571500">
              <a:buFont typeface="+mj-lt"/>
              <a:buAutoNum type="romanLcPeriod"/>
            </a:pPr>
            <a:r>
              <a:rPr lang="en-US" dirty="0">
                <a:latin typeface="Times New Roman"/>
                <a:cs typeface="Times New Roman"/>
              </a:rPr>
              <a:t>FDMA requires proper filtering at receiver side to avoid adjacent channel interference.</a:t>
            </a:r>
          </a:p>
          <a:p>
            <a:pPr marL="571500" indent="-571500">
              <a:buFont typeface="+mj-lt"/>
              <a:buAutoNum type="romanLcPeriod"/>
            </a:pPr>
            <a:r>
              <a:rPr lang="en-US" dirty="0">
                <a:latin typeface="Times New Roman"/>
                <a:cs typeface="Times New Roman"/>
              </a:rPr>
              <a:t>In FDMA scheme, if a channel is not in use it will be idle and it will not be used by some other user.</a:t>
            </a:r>
          </a:p>
          <a:p>
            <a:pPr marL="571500" indent="-571500">
              <a:buFont typeface="+mj-lt"/>
              <a:buAutoNum type="romanLcPeriod"/>
            </a:pPr>
            <a:r>
              <a:rPr lang="en-US" dirty="0">
                <a:latin typeface="Times New Roman"/>
                <a:cs typeface="Times New Roman"/>
              </a:rPr>
              <a:t>FDMA channel can handle one phone circuit at a time.</a:t>
            </a:r>
          </a:p>
          <a:p>
            <a:pPr marL="571500" indent="-571500">
              <a:buFont typeface="+mj-lt"/>
              <a:buAutoNum type="romanLcPeriod"/>
            </a:pPr>
            <a:r>
              <a:rPr lang="en-US" dirty="0">
                <a:latin typeface="Times New Roman"/>
                <a:cs typeface="Times New Roman"/>
              </a:rPr>
              <a:t>Complexity is less.</a:t>
            </a:r>
          </a:p>
          <a:p>
            <a:pPr marL="571500" indent="-571500">
              <a:buFont typeface="+mj-lt"/>
              <a:buAutoNum type="romanLcPeriod"/>
            </a:pPr>
            <a:r>
              <a:rPr lang="en-US" dirty="0">
                <a:latin typeface="Times New Roman"/>
                <a:cs typeface="Times New Roman"/>
              </a:rPr>
              <a:t>If voice channel are assigned in FDMA , then</a:t>
            </a:r>
            <a:r>
              <a:rPr lang="en-US">
                <a:latin typeface="Times New Roman"/>
                <a:cs typeface="Times New Roman"/>
              </a:rPr>
              <a:t>, the </a:t>
            </a:r>
            <a:r>
              <a:rPr lang="en-US" dirty="0">
                <a:latin typeface="Times New Roman"/>
                <a:cs typeface="Times New Roman"/>
              </a:rPr>
              <a:t>mobile unit and base station start transmitting simultaneously.  </a:t>
            </a:r>
          </a:p>
        </p:txBody>
      </p:sp>
    </p:spTree>
    <p:extLst>
      <p:ext uri="{BB962C8B-B14F-4D97-AF65-F5344CB8AC3E}">
        <p14:creationId xmlns:p14="http://schemas.microsoft.com/office/powerpoint/2010/main" val="282494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9382"/>
            <a:ext cx="8229600" cy="5856782"/>
          </a:xfrm>
        </p:spPr>
        <p:txBody>
          <a:bodyPr>
            <a:normAutofit/>
          </a:bodyPr>
          <a:lstStyle/>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a:buFont typeface="Wingdings" charset="2"/>
              <a:buChar char="Ø"/>
            </a:pPr>
            <a:endParaRPr lang="en-US" sz="3000" dirty="0">
              <a:latin typeface="Times New Roman"/>
              <a:cs typeface="Times New Roman"/>
            </a:endParaRPr>
          </a:p>
        </p:txBody>
      </p:sp>
      <p:pic>
        <p:nvPicPr>
          <p:cNvPr id="5" name="Picture 4" descr="FDMA,TDMa.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039042"/>
            <a:ext cx="8022890" cy="3258232"/>
          </a:xfrm>
          <a:prstGeom prst="rect">
            <a:avLst/>
          </a:prstGeom>
        </p:spPr>
      </p:pic>
    </p:spTree>
    <p:extLst>
      <p:ext uri="{BB962C8B-B14F-4D97-AF65-F5344CB8AC3E}">
        <p14:creationId xmlns:p14="http://schemas.microsoft.com/office/powerpoint/2010/main" val="3850602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9588"/>
            <a:ext cx="8229600" cy="5946575"/>
          </a:xfrm>
        </p:spPr>
        <p:txBody>
          <a:bodyPr>
            <a:normAutofit/>
          </a:bodyPr>
          <a:lstStyle/>
          <a:p>
            <a:pPr marL="0" indent="0">
              <a:buNone/>
            </a:pPr>
            <a:r>
              <a:rPr lang="en-US" b="1" dirty="0"/>
              <a:t>2)</a:t>
            </a:r>
            <a:r>
              <a:rPr lang="en-US" sz="2800" b="1" dirty="0">
                <a:latin typeface="Times New Roman"/>
                <a:cs typeface="Times New Roman"/>
              </a:rPr>
              <a:t> TDMA :</a:t>
            </a:r>
          </a:p>
          <a:p>
            <a:pPr>
              <a:buFont typeface="Wingdings" charset="2"/>
              <a:buChar char="Ø"/>
            </a:pPr>
            <a:r>
              <a:rPr lang="en-US" sz="2800" dirty="0">
                <a:latin typeface="Times New Roman"/>
                <a:cs typeface="Times New Roman"/>
              </a:rPr>
              <a:t>In time division duplexing (TDD) utilizes time instead of frequency.</a:t>
            </a:r>
          </a:p>
          <a:p>
            <a:pPr>
              <a:buFont typeface="Wingdings" charset="2"/>
              <a:buChar char="Ø"/>
            </a:pPr>
            <a:r>
              <a:rPr lang="en-US" sz="2800" dirty="0">
                <a:latin typeface="Times New Roman"/>
                <a:cs typeface="Times New Roman"/>
              </a:rPr>
              <a:t>Each TDD channel has individual time slots for forward and reverse time slots to have bidirectional communication.</a:t>
            </a:r>
          </a:p>
          <a:p>
            <a:pPr>
              <a:buFont typeface="Wingdings" charset="2"/>
              <a:buChar char="Ø"/>
            </a:pPr>
            <a:r>
              <a:rPr lang="en-US" sz="2800" dirty="0">
                <a:latin typeface="Times New Roman"/>
                <a:cs typeface="Times New Roman"/>
              </a:rPr>
              <a:t>All sender use same frequency at different point of time.</a:t>
            </a:r>
          </a:p>
          <a:p>
            <a:endParaRPr lang="en-US" sz="2800" dirty="0">
              <a:latin typeface="Times New Roman"/>
              <a:cs typeface="Times New Roman"/>
            </a:endParaRPr>
          </a:p>
        </p:txBody>
      </p:sp>
      <p:pic>
        <p:nvPicPr>
          <p:cNvPr id="4" name="Picture 3" descr="TDMA.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040" y="3848305"/>
            <a:ext cx="5451935" cy="2577614"/>
          </a:xfrm>
          <a:prstGeom prst="rect">
            <a:avLst/>
          </a:prstGeom>
        </p:spPr>
      </p:pic>
    </p:spTree>
    <p:extLst>
      <p:ext uri="{BB962C8B-B14F-4D97-AF65-F5344CB8AC3E}">
        <p14:creationId xmlns:p14="http://schemas.microsoft.com/office/powerpoint/2010/main" val="2642217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12469"/>
            <a:ext cx="8229600" cy="5608957"/>
          </a:xfrm>
        </p:spPr>
        <p:txBody>
          <a:bodyPr>
            <a:noAutofit/>
          </a:bodyPr>
          <a:lstStyle/>
          <a:p>
            <a:r>
              <a:rPr lang="en-US" sz="2600" dirty="0">
                <a:latin typeface="Times New Roman"/>
                <a:cs typeface="Times New Roman"/>
              </a:rPr>
              <a:t>In TDMA system the entire radio spectrum is divided into time slots where a single user is allowed to use the radio channel in a time slot.</a:t>
            </a:r>
          </a:p>
          <a:p>
            <a:r>
              <a:rPr lang="en-US" sz="2600" dirty="0">
                <a:latin typeface="Times New Roman"/>
                <a:cs typeface="Times New Roman"/>
              </a:rPr>
              <a:t>In this format the preamble field contains the synchronization and address information. The guard bits are used to allow synchronization of different receiver between various frames and time slots. There are ‘N’ number of time slots for ‘N’ number of users.</a:t>
            </a:r>
          </a:p>
          <a:p>
            <a:endParaRPr lang="en-US" sz="2600" dirty="0">
              <a:latin typeface="Times New Roman"/>
              <a:cs typeface="Times New Roman"/>
            </a:endParaRPr>
          </a:p>
          <a:p>
            <a:r>
              <a:rPr lang="en-US" sz="2600" b="1" dirty="0">
                <a:latin typeface="Times New Roman"/>
                <a:cs typeface="Times New Roman"/>
              </a:rPr>
              <a:t>Salient feature of TDMA</a:t>
            </a:r>
            <a:r>
              <a:rPr lang="en-US" sz="2600" dirty="0">
                <a:latin typeface="Times New Roman"/>
                <a:cs typeface="Times New Roman"/>
              </a:rPr>
              <a:t>:</a:t>
            </a:r>
          </a:p>
          <a:p>
            <a:pPr marL="571500" indent="-571500">
              <a:buFont typeface="+mj-lt"/>
              <a:buAutoNum type="romanLcPeriod"/>
            </a:pPr>
            <a:r>
              <a:rPr lang="en-US" sz="2600" dirty="0">
                <a:latin typeface="Times New Roman"/>
                <a:cs typeface="Times New Roman"/>
              </a:rPr>
              <a:t>Each user in TDMA multiple access scheme shares same carrier frequency but with non overlapping time slots.</a:t>
            </a:r>
          </a:p>
          <a:p>
            <a:endParaRPr lang="en-US" sz="2600" dirty="0"/>
          </a:p>
        </p:txBody>
      </p:sp>
    </p:spTree>
    <p:extLst>
      <p:ext uri="{BB962C8B-B14F-4D97-AF65-F5344CB8AC3E}">
        <p14:creationId xmlns:p14="http://schemas.microsoft.com/office/powerpoint/2010/main" val="2118788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54212"/>
            <a:ext cx="8229600" cy="5471951"/>
          </a:xfrm>
        </p:spPr>
        <p:txBody>
          <a:bodyPr>
            <a:normAutofit/>
          </a:bodyPr>
          <a:lstStyle/>
          <a:p>
            <a:pPr marL="114300" indent="0">
              <a:buNone/>
            </a:pPr>
            <a:r>
              <a:rPr lang="en-US" sz="3000" b="1" dirty="0">
                <a:latin typeface="Times New Roman"/>
                <a:cs typeface="Times New Roman"/>
              </a:rPr>
              <a:t>3) CDMA:</a:t>
            </a:r>
          </a:p>
          <a:p>
            <a:pPr>
              <a:buFont typeface="Wingdings" charset="2"/>
              <a:buChar char="Ø"/>
            </a:pPr>
            <a:r>
              <a:rPr lang="en-US" dirty="0">
                <a:latin typeface="Times New Roman"/>
                <a:cs typeface="Times New Roman"/>
              </a:rPr>
              <a:t>In CDMA technique any users share the same carrier frequency.</a:t>
            </a:r>
          </a:p>
          <a:p>
            <a:pPr>
              <a:buFont typeface="Wingdings" charset="2"/>
              <a:buChar char="Ø"/>
            </a:pPr>
            <a:r>
              <a:rPr lang="en-US" dirty="0">
                <a:latin typeface="Times New Roman"/>
                <a:cs typeface="Times New Roman"/>
              </a:rPr>
              <a:t>The narrow band signal is also multiplexed with a spreading signal of larger bandwidth. This spreading signal is actually a pseudo noise code sequence.</a:t>
            </a:r>
          </a:p>
          <a:p>
            <a:pPr>
              <a:buFont typeface="Wingdings" charset="2"/>
              <a:buChar char="Ø"/>
            </a:pPr>
            <a:r>
              <a:rPr lang="en-US" dirty="0">
                <a:latin typeface="Times New Roman"/>
                <a:cs typeface="Times New Roman"/>
              </a:rPr>
              <a:t>Spread Spectrum technology ,as it allow many users to occupy the same time and frequency in a given band/space.</a:t>
            </a:r>
          </a:p>
          <a:p>
            <a:pPr>
              <a:buFont typeface="Wingdings" charset="2"/>
              <a:buChar char="Ø"/>
            </a:pPr>
            <a:r>
              <a:rPr lang="en-US" dirty="0">
                <a:latin typeface="Times New Roman"/>
                <a:cs typeface="Times New Roman"/>
              </a:rPr>
              <a:t>Each user /subscriber is allocated n individual pseudo random </a:t>
            </a:r>
            <a:r>
              <a:rPr lang="en-US" dirty="0" err="1">
                <a:latin typeface="Times New Roman"/>
                <a:cs typeface="Times New Roman"/>
              </a:rPr>
              <a:t>codeword</a:t>
            </a:r>
            <a:r>
              <a:rPr lang="en-US" dirty="0">
                <a:latin typeface="Times New Roman"/>
                <a:cs typeface="Times New Roman"/>
              </a:rPr>
              <a:t>  that is orthogonal  all other </a:t>
            </a:r>
            <a:r>
              <a:rPr lang="en-US" dirty="0" err="1">
                <a:latin typeface="Times New Roman"/>
                <a:cs typeface="Times New Roman"/>
              </a:rPr>
              <a:t>codewords</a:t>
            </a:r>
            <a:r>
              <a:rPr lang="en-US" dirty="0">
                <a:latin typeface="Times New Roman"/>
                <a:cs typeface="Times New Roman"/>
              </a:rPr>
              <a:t> of remaining users.</a:t>
            </a:r>
          </a:p>
        </p:txBody>
      </p:sp>
    </p:spTree>
    <p:extLst>
      <p:ext uri="{BB962C8B-B14F-4D97-AF65-F5344CB8AC3E}">
        <p14:creationId xmlns:p14="http://schemas.microsoft.com/office/powerpoint/2010/main" val="3636604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2902"/>
            <a:ext cx="8229600" cy="5523262"/>
          </a:xfrm>
        </p:spPr>
        <p:txBody>
          <a:bodyPr>
            <a:normAutofit/>
          </a:bodyPr>
          <a:lstStyle/>
          <a:p>
            <a:r>
              <a:rPr lang="en-US" b="1" dirty="0">
                <a:latin typeface="Times New Roman"/>
                <a:cs typeface="Times New Roman"/>
              </a:rPr>
              <a:t>Salient feature of CDMA:</a:t>
            </a:r>
            <a:endParaRPr lang="en-US" dirty="0">
              <a:latin typeface="Times New Roman"/>
              <a:cs typeface="Times New Roman"/>
            </a:endParaRPr>
          </a:p>
          <a:p>
            <a:pPr marL="571500" indent="-571500">
              <a:buFont typeface="+mj-lt"/>
              <a:buAutoNum type="romanLcPeriod"/>
            </a:pPr>
            <a:r>
              <a:rPr lang="en-US" sz="2400" dirty="0">
                <a:latin typeface="Times New Roman"/>
                <a:cs typeface="Times New Roman"/>
              </a:rPr>
              <a:t>CDMA has a better soft capacity limit than TDMA and FDMA.</a:t>
            </a:r>
          </a:p>
          <a:p>
            <a:pPr marL="571500" indent="-571500">
              <a:buFont typeface="+mj-lt"/>
              <a:buAutoNum type="romanLcPeriod"/>
            </a:pPr>
            <a:r>
              <a:rPr lang="en-US" sz="2400" dirty="0">
                <a:latin typeface="Times New Roman"/>
                <a:cs typeface="Times New Roman"/>
              </a:rPr>
              <a:t>CDMA has less interference problems due to allocation of unique codes to each user and multiple access technique is applied for </a:t>
            </a:r>
            <a:r>
              <a:rPr lang="en-US" sz="2400" dirty="0" err="1">
                <a:latin typeface="Times New Roman"/>
                <a:cs typeface="Times New Roman"/>
              </a:rPr>
              <a:t>defence</a:t>
            </a:r>
            <a:r>
              <a:rPr lang="en-US" sz="2400" dirty="0">
                <a:latin typeface="Times New Roman"/>
                <a:cs typeface="Times New Roman"/>
              </a:rPr>
              <a:t> areas than other multiple access technique.</a:t>
            </a:r>
          </a:p>
          <a:p>
            <a:pPr marL="571500" indent="-571500">
              <a:buFont typeface="+mj-lt"/>
              <a:buAutoNum type="romanLcPeriod"/>
            </a:pPr>
            <a:r>
              <a:rPr lang="en-US" sz="2400" dirty="0">
                <a:latin typeface="Times New Roman"/>
                <a:cs typeface="Times New Roman"/>
              </a:rPr>
              <a:t>Radio signal strength indicator(RSSI) is being used  n CDMA to have better power control.</a:t>
            </a:r>
          </a:p>
          <a:p>
            <a:pPr marL="571500" indent="-571500">
              <a:buFont typeface="+mj-lt"/>
              <a:buAutoNum type="romanLcPeriod"/>
            </a:pPr>
            <a:r>
              <a:rPr lang="en-US" sz="2400" dirty="0">
                <a:latin typeface="Times New Roman"/>
                <a:cs typeface="Times New Roman"/>
              </a:rPr>
              <a:t>Handoff is very well handled.</a:t>
            </a:r>
          </a:p>
          <a:p>
            <a:pPr marL="571500" indent="-571500">
              <a:buFont typeface="+mj-lt"/>
              <a:buAutoNum type="romanLcPeriod"/>
            </a:pPr>
            <a:r>
              <a:rPr lang="en-US" sz="2400" dirty="0">
                <a:latin typeface="Times New Roman"/>
                <a:cs typeface="Times New Roman"/>
              </a:rPr>
              <a:t>Recommended for voice and data communication.</a:t>
            </a:r>
          </a:p>
          <a:p>
            <a:pPr marL="571500" indent="-571500">
              <a:buFont typeface="+mj-lt"/>
              <a:buAutoNum type="romanLcPeriod"/>
            </a:pPr>
            <a:r>
              <a:rPr lang="en-US" sz="2400" dirty="0">
                <a:latin typeface="Times New Roman"/>
                <a:cs typeface="Times New Roman"/>
              </a:rPr>
              <a:t>Every user use full available spectrum.</a:t>
            </a:r>
          </a:p>
          <a:p>
            <a:pPr marL="571500" indent="-571500">
              <a:buFont typeface="+mj-lt"/>
              <a:buAutoNum type="romanLcPeriod"/>
            </a:pPr>
            <a:endParaRPr lang="en-US" sz="2400" dirty="0">
              <a:latin typeface="Times New Roman"/>
              <a:cs typeface="Times New Roman"/>
            </a:endParaRPr>
          </a:p>
          <a:p>
            <a:pPr marL="571500" indent="-571500">
              <a:buFont typeface="+mj-lt"/>
              <a:buAutoNum type="romanLcPeriod"/>
            </a:pPr>
            <a:endParaRPr lang="en-US" sz="2400" dirty="0">
              <a:latin typeface="Times New Roman"/>
              <a:cs typeface="Times New Roman"/>
            </a:endParaRPr>
          </a:p>
          <a:p>
            <a:endParaRPr lang="en-US" dirty="0">
              <a:latin typeface="Times New Roman"/>
              <a:cs typeface="Times New Roman"/>
            </a:endParaRPr>
          </a:p>
        </p:txBody>
      </p:sp>
    </p:spTree>
    <p:extLst>
      <p:ext uri="{BB962C8B-B14F-4D97-AF65-F5344CB8AC3E}">
        <p14:creationId xmlns:p14="http://schemas.microsoft.com/office/powerpoint/2010/main" val="2821325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8764"/>
            <a:ext cx="8229600" cy="5587400"/>
          </a:xfrm>
        </p:spPr>
        <p:txBody>
          <a:bodyPr/>
          <a:lstStyle/>
          <a:p>
            <a:r>
              <a:rPr lang="en-US" sz="3000" b="1" dirty="0">
                <a:latin typeface="Times New Roman"/>
                <a:cs typeface="Times New Roman"/>
              </a:rPr>
              <a:t>SDMA:</a:t>
            </a:r>
          </a:p>
          <a:p>
            <a:pPr>
              <a:buFont typeface="Wingdings" charset="2"/>
              <a:buChar char="Ø"/>
            </a:pPr>
            <a:r>
              <a:rPr lang="en-US" sz="2700" dirty="0">
                <a:latin typeface="Times New Roman"/>
                <a:cs typeface="Times New Roman"/>
              </a:rPr>
              <a:t>SDMA is capable of controlling radiated energy for each and every user in space, i.e. by spot beams a spatially  filtered  base station antenna serves different cellular users. </a:t>
            </a:r>
          </a:p>
          <a:p>
            <a:pPr>
              <a:buFont typeface="Wingdings" charset="2"/>
              <a:buChar char="Ø"/>
            </a:pPr>
            <a:r>
              <a:rPr lang="en-US" sz="2700" dirty="0">
                <a:latin typeface="Times New Roman"/>
                <a:cs typeface="Times New Roman"/>
              </a:rPr>
              <a:t>SDMA is used for allocating a separated space to users in wireless network.</a:t>
            </a:r>
          </a:p>
        </p:txBody>
      </p:sp>
      <p:pic>
        <p:nvPicPr>
          <p:cNvPr id="2" name="Picture 1" descr="Screenshot 2020-08-31 at 10.57.11 AM.png"/>
          <p:cNvPicPr>
            <a:picLocks noChangeAspect="1"/>
          </p:cNvPicPr>
          <p:nvPr/>
        </p:nvPicPr>
        <p:blipFill rotWithShape="1">
          <a:blip r:embed="rId2">
            <a:extLst>
              <a:ext uri="{28A0092B-C50C-407E-A947-70E740481C1C}">
                <a14:useLocalDpi xmlns:a14="http://schemas.microsoft.com/office/drawing/2010/main" val="0"/>
              </a:ext>
            </a:extLst>
          </a:blip>
          <a:srcRect l="16226" t="42808" r="44311" b="30128"/>
          <a:stretch/>
        </p:blipFill>
        <p:spPr>
          <a:xfrm>
            <a:off x="1911156" y="3898198"/>
            <a:ext cx="4488701" cy="2227966"/>
          </a:xfrm>
          <a:prstGeom prst="rect">
            <a:avLst/>
          </a:prstGeom>
        </p:spPr>
      </p:pic>
    </p:spTree>
    <p:extLst>
      <p:ext uri="{BB962C8B-B14F-4D97-AF65-F5344CB8AC3E}">
        <p14:creationId xmlns:p14="http://schemas.microsoft.com/office/powerpoint/2010/main" val="2062470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14970"/>
            <a:ext cx="7620000" cy="5985830"/>
          </a:xfrm>
        </p:spPr>
        <p:txBody>
          <a:bodyPr>
            <a:noAutofit/>
          </a:bodyPr>
          <a:lstStyle/>
          <a:p>
            <a:pPr>
              <a:buFont typeface="Wingdings" charset="2"/>
              <a:buChar char="Ø"/>
            </a:pPr>
            <a:r>
              <a:rPr lang="en-US" sz="2700" dirty="0">
                <a:latin typeface="Times New Roman"/>
                <a:cs typeface="Times New Roman"/>
              </a:rPr>
              <a:t>SDMA serves different users by using spot beam antennas.</a:t>
            </a:r>
          </a:p>
          <a:p>
            <a:pPr>
              <a:buFont typeface="Wingdings" charset="2"/>
              <a:buChar char="Ø"/>
            </a:pPr>
            <a:r>
              <a:rPr lang="en-US" sz="2700" dirty="0">
                <a:latin typeface="Times New Roman"/>
                <a:cs typeface="Times New Roman"/>
              </a:rPr>
              <a:t>A typical application involves assigning an optimal base station to a mobile phone user.</a:t>
            </a:r>
          </a:p>
          <a:p>
            <a:pPr>
              <a:buFont typeface="Wingdings" charset="2"/>
              <a:buChar char="Ø"/>
            </a:pPr>
            <a:r>
              <a:rPr lang="en-US" sz="2700" dirty="0">
                <a:latin typeface="Times New Roman"/>
                <a:cs typeface="Times New Roman"/>
              </a:rPr>
              <a:t>Typically SDMA is never used in isolation but always in combination with one or more schemes such as FDMA, TDMA or CDMA.</a:t>
            </a:r>
          </a:p>
          <a:p>
            <a:pPr>
              <a:buFont typeface="Wingdings" charset="2"/>
              <a:buChar char="Ø"/>
            </a:pPr>
            <a:r>
              <a:rPr lang="en-US" sz="2700" b="1" dirty="0">
                <a:latin typeface="Times New Roman"/>
                <a:cs typeface="Times New Roman"/>
              </a:rPr>
              <a:t>Problems with SDMA:</a:t>
            </a:r>
          </a:p>
          <a:p>
            <a:pPr marL="628650" indent="-514350">
              <a:buFont typeface="+mj-lt"/>
              <a:buAutoNum type="romanLcPeriod"/>
            </a:pPr>
            <a:r>
              <a:rPr lang="en-US" sz="2700" dirty="0">
                <a:latin typeface="Times New Roman"/>
                <a:cs typeface="Times New Roman"/>
              </a:rPr>
              <a:t>Reverse link presents the difficulty in cellular system.</a:t>
            </a:r>
          </a:p>
          <a:p>
            <a:pPr marL="628650" indent="-514350">
              <a:buFont typeface="+mj-lt"/>
              <a:buAutoNum type="romanLcPeriod"/>
            </a:pPr>
            <a:r>
              <a:rPr lang="en-US" sz="2700" dirty="0">
                <a:latin typeface="Times New Roman"/>
                <a:cs typeface="Times New Roman"/>
              </a:rPr>
              <a:t>Different propagation path exists from user to the base station.</a:t>
            </a:r>
          </a:p>
        </p:txBody>
      </p:sp>
    </p:spTree>
    <p:extLst>
      <p:ext uri="{BB962C8B-B14F-4D97-AF65-F5344CB8AC3E}">
        <p14:creationId xmlns:p14="http://schemas.microsoft.com/office/powerpoint/2010/main" val="2107848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ultiple-access-techniques-for-wireless-communication-20-638.jpg"/>
          <p:cNvPicPr>
            <a:picLocks noGrp="1" noChangeAspect="1"/>
          </p:cNvPicPr>
          <p:nvPr>
            <p:ph idx="1"/>
          </p:nvPr>
        </p:nvPicPr>
        <p:blipFill rotWithShape="1">
          <a:blip r:embed="rId2">
            <a:extLst>
              <a:ext uri="{28A0092B-C50C-407E-A947-70E740481C1C}">
                <a14:useLocalDpi xmlns:a14="http://schemas.microsoft.com/office/drawing/2010/main" val="0"/>
              </a:ext>
            </a:extLst>
          </a:blip>
          <a:srcRect l="2551" t="2084" r="2824" b="22120"/>
          <a:stretch/>
        </p:blipFill>
        <p:spPr>
          <a:xfrm>
            <a:off x="346388" y="474624"/>
            <a:ext cx="8223506" cy="5887908"/>
          </a:xfrm>
        </p:spPr>
      </p:pic>
    </p:spTree>
    <p:extLst>
      <p:ext uri="{BB962C8B-B14F-4D97-AF65-F5344CB8AC3E}">
        <p14:creationId xmlns:p14="http://schemas.microsoft.com/office/powerpoint/2010/main" val="16941609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Adjacency.thmx</Template>
  <TotalTime>2059</TotalTime>
  <Words>1807</Words>
  <Application>Microsoft Office PowerPoint</Application>
  <PresentationFormat>On-screen Show (4:3)</PresentationFormat>
  <Paragraphs>143</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Cambria</vt:lpstr>
      <vt:lpstr>Times New Roman</vt:lpstr>
      <vt:lpstr>Wingdings</vt:lpstr>
      <vt:lpstr>Adjacency</vt:lpstr>
      <vt:lpstr>Network Signaling (SS7)</vt:lpstr>
      <vt:lpstr>Introduction</vt:lpstr>
      <vt:lpstr>Network Signaling SS7</vt:lpstr>
      <vt:lpstr>PowerPoint Presentation</vt:lpstr>
      <vt:lpstr>PowerPoint Presentation</vt:lpstr>
      <vt:lpstr>SS7 Protocol Architecture</vt:lpstr>
      <vt:lpstr>PowerPoint Presentation</vt:lpstr>
      <vt:lpstr>PowerPoint Presentation</vt:lpstr>
      <vt:lpstr>PowerPoint Presentation</vt:lpstr>
      <vt:lpstr>PowerPoint Presentation</vt:lpstr>
      <vt:lpstr>PowerPoint Presentation</vt:lpstr>
      <vt:lpstr>PowerPoint Presentation</vt:lpstr>
      <vt:lpstr>A Basic Cellular System</vt:lpstr>
      <vt:lpstr>PowerPoint Presentation</vt:lpstr>
      <vt:lpstr>PowerPoint Presentation</vt:lpstr>
      <vt:lpstr>Multiple Access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Prabhjeet Singh</dc:creator>
  <cp:lastModifiedBy>jaspinder singh</cp:lastModifiedBy>
  <cp:revision>67</cp:revision>
  <dcterms:created xsi:type="dcterms:W3CDTF">2020-08-26T10:42:18Z</dcterms:created>
  <dcterms:modified xsi:type="dcterms:W3CDTF">2020-09-17T14:20:04Z</dcterms:modified>
</cp:coreProperties>
</file>