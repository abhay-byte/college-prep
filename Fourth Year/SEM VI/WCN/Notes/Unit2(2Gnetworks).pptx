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sldIdLst>
    <p:sldId id="256" r:id="rId2"/>
    <p:sldId id="257" r:id="rId3"/>
    <p:sldId id="258" r:id="rId4"/>
    <p:sldId id="276"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09"/>
  </p:normalViewPr>
  <p:slideViewPr>
    <p:cSldViewPr snapToGrid="0" snapToObjects="1">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AF9E308E-9CDE-A249-A218-DAB3FCC22B77}"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332594665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F9E308E-9CDE-A249-A218-DAB3FCC22B77}"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393480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AF9E308E-9CDE-A249-A218-DAB3FCC22B77}"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31517617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F9E308E-9CDE-A249-A218-DAB3FCC22B77}" type="datetimeFigureOut">
              <a:rPr lang="en-US" smtClean="0"/>
              <a:t>10/7/2020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1354681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AF9E308E-9CDE-A249-A218-DAB3FCC22B77}"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DAED00-9A45-6140-B5E2-841A1D0FA435}"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11606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F9E308E-9CDE-A249-A218-DAB3FCC22B77}" type="datetimeFigureOut">
              <a:rPr lang="en-US" smtClean="0"/>
              <a:t>10/7/2020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3310535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E308E-9CDE-A249-A218-DAB3FCC22B77}" type="datetimeFigureOut">
              <a:rPr lang="en-US" smtClean="0"/>
              <a:t>10/7/2020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2561437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AF9E308E-9CDE-A249-A218-DAB3FCC22B77}" type="datetimeFigureOut">
              <a:rPr lang="en-US" smtClean="0"/>
              <a:t>10/7/2020</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2833425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0"/>
            <a:ext cx="4576573" cy="6858000"/>
          </a:xfrm>
          <a:solidFill>
            <a:schemeClr val="bg1"/>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F9E308E-9CDE-A249-A218-DAB3FCC22B77}" type="datetimeFigureOut">
              <a:rPr lang="en-US" smtClean="0"/>
              <a:t>10/7/2020</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287008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F9E308E-9CDE-A249-A218-DAB3FCC22B77}"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1722845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F9E308E-9CDE-A249-A218-DAB3FCC22B77}"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DAED00-9A45-6140-B5E2-841A1D0FA435}" type="slidenum">
              <a:rPr lang="en-US" smtClean="0"/>
              <a:t>‹#›</a:t>
            </a:fld>
            <a:endParaRPr lang="en-US"/>
          </a:p>
        </p:txBody>
      </p:sp>
    </p:spTree>
    <p:extLst>
      <p:ext uri="{BB962C8B-B14F-4D97-AF65-F5344CB8AC3E}">
        <p14:creationId xmlns:p14="http://schemas.microsoft.com/office/powerpoint/2010/main" val="245723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045" y="964692"/>
            <a:ext cx="5937755"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AF9E308E-9CDE-A249-A218-DAB3FCC22B77}" type="datetimeFigureOut">
              <a:rPr lang="en-US" smtClean="0"/>
              <a:t>10/7/2020</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E2DAED00-9A45-6140-B5E2-841A1D0FA435}" type="slidenum">
              <a:rPr lang="en-US" smtClean="0"/>
              <a:t>‹#›</a:t>
            </a:fld>
            <a:endParaRPr lang="en-US"/>
          </a:p>
        </p:txBody>
      </p:sp>
    </p:spTree>
    <p:extLst>
      <p:ext uri="{BB962C8B-B14F-4D97-AF65-F5344CB8AC3E}">
        <p14:creationId xmlns:p14="http://schemas.microsoft.com/office/powerpoint/2010/main" val="348050008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lnSpc>
          <a:spcPct val="90000"/>
        </a:lnSpc>
        <a:spcBef>
          <a:spcPct val="0"/>
        </a:spcBef>
        <a:buNone/>
        <a:defRPr sz="26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1200495"/>
            <a:ext cx="6939520" cy="1645920"/>
          </a:xfrm>
        </p:spPr>
        <p:txBody>
          <a:bodyPr/>
          <a:lstStyle/>
          <a:p>
            <a:r>
              <a:rPr lang="en-US" dirty="0"/>
              <a:t>Unit-2 2G Networks</a:t>
            </a:r>
          </a:p>
        </p:txBody>
      </p:sp>
      <p:sp>
        <p:nvSpPr>
          <p:cNvPr id="3" name="Subtitle 2"/>
          <p:cNvSpPr>
            <a:spLocks noGrp="1"/>
          </p:cNvSpPr>
          <p:nvPr>
            <p:ph type="subTitle" idx="1"/>
          </p:nvPr>
        </p:nvSpPr>
        <p:spPr>
          <a:xfrm>
            <a:off x="1102240" y="3435178"/>
            <a:ext cx="6939520" cy="2953264"/>
          </a:xfrm>
        </p:spPr>
        <p:txBody>
          <a:bodyPr>
            <a:normAutofit/>
          </a:bodyPr>
          <a:lstStyle/>
          <a:p>
            <a:pPr marL="457200" indent="-457200" algn="r">
              <a:buFont typeface="Wingdings" pitchFamily="2" charset="2"/>
              <a:buChar char="Ø"/>
            </a:pPr>
            <a:r>
              <a:rPr lang="en-US" sz="2200" dirty="0">
                <a:latin typeface="Times New Roman" panose="02020603050405020304" pitchFamily="18" charset="0"/>
                <a:cs typeface="Times New Roman" panose="02020603050405020304" pitchFamily="18" charset="0"/>
              </a:rPr>
              <a:t>Introduction</a:t>
            </a:r>
          </a:p>
          <a:p>
            <a:pPr marL="457200" indent="-457200" algn="r">
              <a:buFont typeface="Wingdings" pitchFamily="2" charset="2"/>
              <a:buChar char="Ø"/>
            </a:pPr>
            <a:r>
              <a:rPr lang="en-US" sz="2200" dirty="0">
                <a:latin typeface="Times New Roman" panose="02020603050405020304" pitchFamily="18" charset="0"/>
                <a:cs typeface="Times New Roman" panose="02020603050405020304" pitchFamily="18" charset="0"/>
              </a:rPr>
              <a:t>GSM </a:t>
            </a:r>
          </a:p>
          <a:p>
            <a:pPr marL="457200" indent="-457200" algn="r">
              <a:buFont typeface="Wingdings" pitchFamily="2" charset="2"/>
              <a:buChar char="Ø"/>
            </a:pPr>
            <a:r>
              <a:rPr lang="en-US" sz="2200" dirty="0">
                <a:latin typeface="Times New Roman" panose="02020603050405020304" pitchFamily="18" charset="0"/>
                <a:cs typeface="Times New Roman" panose="02020603050405020304" pitchFamily="18" charset="0"/>
              </a:rPr>
              <a:t>GSM Services</a:t>
            </a:r>
          </a:p>
          <a:p>
            <a:pPr marL="457200" indent="-457200" algn="r">
              <a:buFont typeface="Wingdings" pitchFamily="2" charset="2"/>
              <a:buChar char="Ø"/>
            </a:pPr>
            <a:r>
              <a:rPr lang="en-US" sz="2200" dirty="0">
                <a:latin typeface="Times New Roman" panose="02020603050405020304" pitchFamily="18" charset="0"/>
                <a:cs typeface="Times New Roman" panose="02020603050405020304" pitchFamily="18" charset="0"/>
              </a:rPr>
              <a:t>Architecture</a:t>
            </a:r>
          </a:p>
          <a:p>
            <a:pPr marL="457200" indent="-457200" algn="l">
              <a:buFont typeface="Wingdings" pitchFamily="2" charset="2"/>
              <a:buChar char="Ø"/>
            </a:pPr>
            <a:r>
              <a:rPr lang="en-US" sz="2200" dirty="0">
                <a:latin typeface="Times New Roman" panose="02020603050405020304" pitchFamily="18" charset="0"/>
                <a:cs typeface="Times New Roman" panose="02020603050405020304" pitchFamily="18" charset="0"/>
              </a:rPr>
              <a:t>By Jasleen Kaur                                  GSM Interface</a:t>
            </a:r>
          </a:p>
          <a:p>
            <a:pPr marL="457200" indent="-457200" algn="l">
              <a:buFont typeface="Wingdings" pitchFamily="2" charset="2"/>
              <a:buChar char="Ø"/>
            </a:pPr>
            <a:r>
              <a:rPr lang="en-US" sz="2200">
                <a:latin typeface="Times New Roman" panose="02020603050405020304" pitchFamily="18" charset="0"/>
                <a:cs typeface="Times New Roman" panose="02020603050405020304" pitchFamily="18" charset="0"/>
              </a:rPr>
              <a:t>GTBIT (IT </a:t>
            </a:r>
            <a:r>
              <a:rPr lang="en-US" sz="2200" dirty="0">
                <a:latin typeface="Times New Roman" panose="02020603050405020304" pitchFamily="18" charset="0"/>
                <a:cs typeface="Times New Roman" panose="02020603050405020304" pitchFamily="18" charset="0"/>
              </a:rPr>
              <a:t>Dept)    </a:t>
            </a:r>
          </a:p>
          <a:p>
            <a:pPr marL="457200" indent="-457200" algn="r">
              <a:buFont typeface="Wingdings" pitchFamily="2" charset="2"/>
              <a:buChar char="Ø"/>
            </a:pPr>
            <a:endParaRPr lang="en-US" sz="2200" dirty="0"/>
          </a:p>
        </p:txBody>
      </p:sp>
    </p:spTree>
    <p:extLst>
      <p:ext uri="{BB962C8B-B14F-4D97-AF65-F5344CB8AC3E}">
        <p14:creationId xmlns:p14="http://schemas.microsoft.com/office/powerpoint/2010/main" val="1621809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19373"/>
          </a:xfrm>
        </p:spPr>
        <p:txBody>
          <a:bodyPr>
            <a:normAutofit fontScale="90000"/>
          </a:bodyPr>
          <a:lstStyle/>
          <a:p>
            <a:r>
              <a:rPr lang="en-US" sz="4000" dirty="0">
                <a:latin typeface="Times New Roman"/>
                <a:cs typeface="Times New Roman"/>
              </a:rPr>
              <a:t>Introduction</a:t>
            </a:r>
          </a:p>
        </p:txBody>
      </p:sp>
      <p:sp>
        <p:nvSpPr>
          <p:cNvPr id="3" name="Content Placeholder 2"/>
          <p:cNvSpPr>
            <a:spLocks noGrp="1"/>
          </p:cNvSpPr>
          <p:nvPr>
            <p:ph idx="1"/>
          </p:nvPr>
        </p:nvSpPr>
        <p:spPr>
          <a:xfrm>
            <a:off x="457200" y="1395808"/>
            <a:ext cx="8229600" cy="4730356"/>
          </a:xfrm>
        </p:spPr>
        <p:txBody>
          <a:bodyPr>
            <a:normAutofit fontScale="92500" lnSpcReduction="20000"/>
          </a:bodyPr>
          <a:lstStyle/>
          <a:p>
            <a:r>
              <a:rPr lang="en-US" sz="2900" dirty="0">
                <a:latin typeface="Times New Roman"/>
                <a:cs typeface="Times New Roman"/>
              </a:rPr>
              <a:t>The second generation (2G) cellular systems provide more facilities  and attractive features than first generation (1G) systems.</a:t>
            </a:r>
          </a:p>
          <a:p>
            <a:r>
              <a:rPr lang="en-US" sz="2900" dirty="0">
                <a:latin typeface="Times New Roman"/>
                <a:cs typeface="Times New Roman"/>
              </a:rPr>
              <a:t>The 2G standards rely on digital  formats including TDMA/FDD and CDMA/FDD.</a:t>
            </a:r>
          </a:p>
          <a:p>
            <a:r>
              <a:rPr lang="en-US" sz="2900" dirty="0">
                <a:latin typeface="Times New Roman"/>
                <a:cs typeface="Times New Roman"/>
              </a:rPr>
              <a:t>2G standards provide:</a:t>
            </a:r>
          </a:p>
          <a:p>
            <a:pPr marL="571500" indent="-571500">
              <a:buFont typeface="+mj-lt"/>
              <a:buAutoNum type="romanLcPeriod"/>
            </a:pPr>
            <a:r>
              <a:rPr lang="en-US" sz="2900" dirty="0">
                <a:latin typeface="Times New Roman"/>
                <a:cs typeface="Times New Roman"/>
              </a:rPr>
              <a:t>Better speech quality</a:t>
            </a:r>
          </a:p>
          <a:p>
            <a:pPr marL="571500" indent="-571500">
              <a:buFont typeface="+mj-lt"/>
              <a:buAutoNum type="romanLcPeriod"/>
            </a:pPr>
            <a:r>
              <a:rPr lang="en-US" sz="2900" dirty="0">
                <a:latin typeface="Times New Roman"/>
                <a:cs typeface="Times New Roman"/>
              </a:rPr>
              <a:t>High speed data application</a:t>
            </a:r>
          </a:p>
          <a:p>
            <a:pPr marL="571500" indent="-571500">
              <a:buFont typeface="+mj-lt"/>
              <a:buAutoNum type="romanLcPeriod"/>
            </a:pPr>
            <a:r>
              <a:rPr lang="en-US" sz="2900" dirty="0">
                <a:latin typeface="Times New Roman"/>
                <a:cs typeface="Times New Roman"/>
              </a:rPr>
              <a:t>Efficient spectrum usage and compatible with TDMA access scheme.</a:t>
            </a:r>
          </a:p>
          <a:p>
            <a:pPr marL="571500" indent="-571500">
              <a:buFont typeface="+mj-lt"/>
              <a:buAutoNum type="romanLcPeriod"/>
            </a:pPr>
            <a:r>
              <a:rPr lang="en-US" sz="2900" dirty="0">
                <a:latin typeface="Times New Roman"/>
                <a:cs typeface="Times New Roman"/>
              </a:rPr>
              <a:t>Support multiple users.</a:t>
            </a:r>
          </a:p>
          <a:p>
            <a:endParaRPr lang="en-US" sz="2900" dirty="0">
              <a:latin typeface="Times New Roman"/>
              <a:cs typeface="Times New Roman"/>
            </a:endParaRPr>
          </a:p>
          <a:p>
            <a:endParaRPr lang="en-US" dirty="0"/>
          </a:p>
        </p:txBody>
      </p:sp>
    </p:spTree>
    <p:extLst>
      <p:ext uri="{BB962C8B-B14F-4D97-AF65-F5344CB8AC3E}">
        <p14:creationId xmlns:p14="http://schemas.microsoft.com/office/powerpoint/2010/main" val="1414759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16168"/>
            <a:ext cx="8229600" cy="5509996"/>
          </a:xfrm>
        </p:spPr>
        <p:txBody>
          <a:bodyPr>
            <a:normAutofit fontScale="92500" lnSpcReduction="10000"/>
          </a:bodyPr>
          <a:lstStyle/>
          <a:p>
            <a:r>
              <a:rPr lang="en-US" sz="2600" dirty="0">
                <a:latin typeface="Times New Roman"/>
                <a:cs typeface="Times New Roman"/>
              </a:rPr>
              <a:t>The TDMA technique is used by 2G standards that include Global system for mobile (GSM). The TDMA schemes use half duplex method. Other TDMA feature include:</a:t>
            </a:r>
          </a:p>
          <a:p>
            <a:pPr marL="571500" indent="-571500">
              <a:buFont typeface="+mj-lt"/>
              <a:buAutoNum type="romanLcPeriod"/>
            </a:pPr>
            <a:r>
              <a:rPr lang="en-US" sz="2600" dirty="0">
                <a:latin typeface="Times New Roman"/>
                <a:cs typeface="Times New Roman"/>
              </a:rPr>
              <a:t>Good Synchronization</a:t>
            </a:r>
          </a:p>
          <a:p>
            <a:pPr marL="571500" indent="-571500">
              <a:buFont typeface="+mj-lt"/>
              <a:buAutoNum type="romanLcPeriod"/>
            </a:pPr>
            <a:r>
              <a:rPr lang="en-US" sz="2600" dirty="0">
                <a:latin typeface="Times New Roman"/>
                <a:cs typeface="Times New Roman"/>
              </a:rPr>
              <a:t>For better operations, it possesses guard intervals.</a:t>
            </a:r>
          </a:p>
          <a:p>
            <a:pPr marL="571500" indent="-571500">
              <a:buFont typeface="+mj-lt"/>
              <a:buAutoNum type="romanLcPeriod"/>
            </a:pPr>
            <a:r>
              <a:rPr lang="en-US" sz="2600" dirty="0">
                <a:latin typeface="Times New Roman"/>
                <a:cs typeface="Times New Roman"/>
              </a:rPr>
              <a:t>Efficient spectrum utilization.</a:t>
            </a:r>
          </a:p>
          <a:p>
            <a:pPr marL="571500" indent="-571500">
              <a:buFont typeface="+mj-lt"/>
              <a:buAutoNum type="romanLcPeriod"/>
            </a:pPr>
            <a:r>
              <a:rPr lang="en-US" sz="2600" dirty="0">
                <a:latin typeface="Times New Roman"/>
                <a:cs typeface="Times New Roman"/>
              </a:rPr>
              <a:t>Operates with faster data rates.</a:t>
            </a:r>
          </a:p>
          <a:p>
            <a:r>
              <a:rPr lang="en-US" sz="2600" dirty="0">
                <a:latin typeface="Times New Roman"/>
                <a:cs typeface="Times New Roman"/>
              </a:rPr>
              <a:t>With CDMA technique, every subscriber is assigned a n-bit code and it guarantees high degree of security than other access techniques.</a:t>
            </a:r>
          </a:p>
          <a:p>
            <a:r>
              <a:rPr lang="en-US" sz="2600" dirty="0">
                <a:latin typeface="Times New Roman"/>
                <a:cs typeface="Times New Roman"/>
              </a:rPr>
              <a:t> Thus, TDMA and CDMA in 2G standards provide  less design complexity, more security, faster speeds of transmissions and high reliability than 1G systems.</a:t>
            </a:r>
          </a:p>
        </p:txBody>
      </p:sp>
    </p:spTree>
    <p:extLst>
      <p:ext uri="{BB962C8B-B14F-4D97-AF65-F5344CB8AC3E}">
        <p14:creationId xmlns:p14="http://schemas.microsoft.com/office/powerpoint/2010/main" val="2764498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C6D802-5F08-1C45-B862-69DF4C213FD2}"/>
              </a:ext>
            </a:extLst>
          </p:cNvPr>
          <p:cNvPicPr>
            <a:picLocks noGrp="1" noChangeAspect="1"/>
          </p:cNvPicPr>
          <p:nvPr>
            <p:ph idx="1"/>
          </p:nvPr>
        </p:nvPicPr>
        <p:blipFill rotWithShape="1">
          <a:blip r:embed="rId2"/>
          <a:srcRect l="49999" t="35084" r="21333" b="7856"/>
          <a:stretch/>
        </p:blipFill>
        <p:spPr>
          <a:xfrm>
            <a:off x="2372498" y="1075037"/>
            <a:ext cx="4300151" cy="4621427"/>
          </a:xfrm>
        </p:spPr>
      </p:pic>
    </p:spTree>
    <p:extLst>
      <p:ext uri="{BB962C8B-B14F-4D97-AF65-F5344CB8AC3E}">
        <p14:creationId xmlns:p14="http://schemas.microsoft.com/office/powerpoint/2010/main" val="831039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1018"/>
            <a:ext cx="8229600" cy="5535146"/>
          </a:xfrm>
        </p:spPr>
        <p:txBody>
          <a:bodyPr>
            <a:normAutofit fontScale="92500" lnSpcReduction="20000"/>
          </a:bodyPr>
          <a:lstStyle/>
          <a:p>
            <a:pPr>
              <a:buFont typeface="Wingdings" charset="2"/>
              <a:buChar char="Ø"/>
            </a:pPr>
            <a:r>
              <a:rPr lang="en-US" sz="2400" b="1" dirty="0">
                <a:latin typeface="Times New Roman"/>
                <a:cs typeface="Times New Roman"/>
              </a:rPr>
              <a:t>IS-136 (D-AMPS):</a:t>
            </a:r>
          </a:p>
          <a:p>
            <a:pPr marL="514350" indent="-514350">
              <a:buFont typeface="+mj-lt"/>
              <a:buAutoNum type="arabicParenR"/>
            </a:pPr>
            <a:r>
              <a:rPr lang="en-US" sz="2400" dirty="0">
                <a:latin typeface="Times New Roman"/>
                <a:cs typeface="Times New Roman"/>
              </a:rPr>
              <a:t>It stands for Interim standard-136.</a:t>
            </a:r>
          </a:p>
          <a:p>
            <a:pPr marL="514350" indent="-514350">
              <a:buFont typeface="+mj-lt"/>
              <a:buAutoNum type="arabicParenR"/>
            </a:pPr>
            <a:r>
              <a:rPr lang="en-US" sz="2400" dirty="0">
                <a:latin typeface="Times New Roman"/>
                <a:cs typeface="Times New Roman"/>
              </a:rPr>
              <a:t>The analog mobile phone system (AMPS) was not suitable to support  high traffic  and demands for high capacity.</a:t>
            </a:r>
          </a:p>
          <a:p>
            <a:pPr marL="514350" indent="-514350">
              <a:buFont typeface="+mj-lt"/>
              <a:buAutoNum type="arabicParenR"/>
            </a:pPr>
            <a:r>
              <a:rPr lang="en-US" sz="2400" dirty="0">
                <a:latin typeface="Times New Roman"/>
                <a:cs typeface="Times New Roman"/>
              </a:rPr>
              <a:t>In 1980’s USDC came into existence  to accommodate multiuser with frequency spectrum allocated.</a:t>
            </a:r>
          </a:p>
          <a:p>
            <a:pPr marL="514350" indent="-514350">
              <a:buFont typeface="+mj-lt"/>
              <a:buAutoNum type="arabicParenR"/>
            </a:pPr>
            <a:r>
              <a:rPr lang="en-US" sz="2400" dirty="0">
                <a:latin typeface="Times New Roman"/>
                <a:cs typeface="Times New Roman"/>
              </a:rPr>
              <a:t>USDC/AMPS was standardized as IS-54, It allows dual mode systems.</a:t>
            </a:r>
          </a:p>
          <a:p>
            <a:pPr>
              <a:buFont typeface="Wingdings" charset="2"/>
              <a:buChar char="²"/>
            </a:pPr>
            <a:r>
              <a:rPr lang="en-US" sz="2400" b="1" dirty="0">
                <a:latin typeface="Times New Roman"/>
                <a:cs typeface="Times New Roman"/>
              </a:rPr>
              <a:t> Salient Feature of USDC:</a:t>
            </a:r>
          </a:p>
          <a:p>
            <a:pPr marL="514350" indent="-514350">
              <a:buFont typeface="+mj-lt"/>
              <a:buAutoNum type="romanLcPeriod"/>
            </a:pPr>
            <a:r>
              <a:rPr lang="en-US" sz="2400" dirty="0">
                <a:latin typeface="Times New Roman"/>
                <a:cs typeface="Times New Roman"/>
              </a:rPr>
              <a:t> The USDC  system uses frequency reuse technique.</a:t>
            </a:r>
          </a:p>
          <a:p>
            <a:pPr marL="514350" indent="-514350">
              <a:buFont typeface="+mj-lt"/>
              <a:buAutoNum type="romanLcPeriod"/>
            </a:pPr>
            <a:r>
              <a:rPr lang="en-US" sz="2400" dirty="0">
                <a:latin typeface="Times New Roman"/>
                <a:cs typeface="Times New Roman"/>
              </a:rPr>
              <a:t>It provides high cellular capacity.</a:t>
            </a:r>
          </a:p>
          <a:p>
            <a:pPr marL="514350" indent="-514350">
              <a:buFont typeface="+mj-lt"/>
              <a:buAutoNum type="romanLcPeriod"/>
            </a:pPr>
            <a:r>
              <a:rPr lang="en-US" sz="2400" dirty="0">
                <a:latin typeface="Times New Roman"/>
                <a:cs typeface="Times New Roman"/>
              </a:rPr>
              <a:t>It accommodate many users.</a:t>
            </a:r>
          </a:p>
          <a:p>
            <a:pPr marL="514350" indent="-514350">
              <a:buFont typeface="+mj-lt"/>
              <a:buAutoNum type="romanLcPeriod"/>
            </a:pPr>
            <a:r>
              <a:rPr lang="en-US" sz="2400" dirty="0">
                <a:latin typeface="Times New Roman"/>
                <a:cs typeface="Times New Roman"/>
              </a:rPr>
              <a:t>It was also called  North America Digital Cellular Standard(NADC).</a:t>
            </a:r>
          </a:p>
          <a:p>
            <a:pPr marL="514350" indent="-514350">
              <a:buFont typeface="+mj-lt"/>
              <a:buAutoNum type="romanLcPeriod"/>
            </a:pPr>
            <a:r>
              <a:rPr lang="en-US" sz="2400" dirty="0">
                <a:latin typeface="Times New Roman"/>
                <a:cs typeface="Times New Roman"/>
              </a:rPr>
              <a:t>USDC shares same frequencies with minimized interference.</a:t>
            </a:r>
          </a:p>
        </p:txBody>
      </p:sp>
    </p:spTree>
    <p:extLst>
      <p:ext uri="{BB962C8B-B14F-4D97-AF65-F5344CB8AC3E}">
        <p14:creationId xmlns:p14="http://schemas.microsoft.com/office/powerpoint/2010/main" val="2794019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40119"/>
            <a:ext cx="8229600" cy="6034822"/>
          </a:xfrm>
        </p:spPr>
        <p:txBody>
          <a:bodyPr>
            <a:noAutofit/>
          </a:bodyPr>
          <a:lstStyle/>
          <a:p>
            <a:pPr>
              <a:buFont typeface="Wingdings" charset="2"/>
              <a:buChar char="²"/>
            </a:pPr>
            <a:r>
              <a:rPr lang="en-US" sz="2000" b="1" dirty="0">
                <a:latin typeface="Times New Roman"/>
                <a:cs typeface="Times New Roman"/>
              </a:rPr>
              <a:t>Salient Feature of IS-136</a:t>
            </a:r>
          </a:p>
          <a:p>
            <a:pPr marL="571500" indent="-571500">
              <a:buFont typeface="+mj-lt"/>
              <a:buAutoNum type="romanLcPeriod"/>
            </a:pPr>
            <a:r>
              <a:rPr lang="en-US" sz="2000" dirty="0">
                <a:latin typeface="Times New Roman"/>
                <a:cs typeface="Times New Roman"/>
              </a:rPr>
              <a:t>It operates in 800-1900 MHz frequency band.</a:t>
            </a:r>
          </a:p>
          <a:p>
            <a:pPr marL="571500" indent="-571500">
              <a:buFont typeface="+mj-lt"/>
              <a:buAutoNum type="romanLcPeriod"/>
            </a:pPr>
            <a:r>
              <a:rPr lang="en-US" sz="2000" dirty="0">
                <a:latin typeface="Times New Roman"/>
                <a:cs typeface="Times New Roman"/>
              </a:rPr>
              <a:t>Its channel bandwidth is 30kHz.</a:t>
            </a:r>
          </a:p>
          <a:p>
            <a:pPr marL="571500" indent="-571500">
              <a:buFont typeface="+mj-lt"/>
              <a:buAutoNum type="romanLcPeriod"/>
            </a:pPr>
            <a:r>
              <a:rPr lang="en-US" sz="2000" dirty="0">
                <a:latin typeface="Times New Roman"/>
                <a:cs typeface="Times New Roman"/>
              </a:rPr>
              <a:t>The TDMA  frame with 40 </a:t>
            </a:r>
            <a:r>
              <a:rPr lang="en-US" sz="2000" dirty="0" err="1">
                <a:latin typeface="Times New Roman"/>
                <a:cs typeface="Times New Roman"/>
              </a:rPr>
              <a:t>msec</a:t>
            </a:r>
            <a:r>
              <a:rPr lang="en-US" sz="2000" dirty="0">
                <a:latin typeface="Times New Roman"/>
                <a:cs typeface="Times New Roman"/>
              </a:rPr>
              <a:t> in 6 time slots is being used in it.</a:t>
            </a:r>
          </a:p>
          <a:p>
            <a:pPr marL="571500" indent="-571500">
              <a:buFont typeface="+mj-lt"/>
              <a:buAutoNum type="romanLcPeriod"/>
            </a:pPr>
            <a:r>
              <a:rPr lang="en-US" sz="2000" dirty="0">
                <a:latin typeface="Times New Roman"/>
                <a:cs typeface="Times New Roman"/>
              </a:rPr>
              <a:t>Six  time slots: (channel data rates)</a:t>
            </a:r>
          </a:p>
          <a:p>
            <a:pPr marL="0" indent="0">
              <a:buNone/>
            </a:pPr>
            <a:r>
              <a:rPr lang="en-US" sz="2000" dirty="0">
                <a:latin typeface="Times New Roman"/>
                <a:cs typeface="Times New Roman"/>
              </a:rPr>
              <a:t>    1</a:t>
            </a:r>
            <a:r>
              <a:rPr lang="en-US" sz="2000" baseline="30000" dirty="0">
                <a:latin typeface="Times New Roman"/>
                <a:cs typeface="Times New Roman"/>
              </a:rPr>
              <a:t>st</a:t>
            </a:r>
            <a:r>
              <a:rPr lang="en-US" sz="2000" dirty="0">
                <a:latin typeface="Times New Roman"/>
                <a:cs typeface="Times New Roman"/>
              </a:rPr>
              <a:t> time slot </a:t>
            </a:r>
            <a:r>
              <a:rPr lang="mr-IN" sz="2000" dirty="0">
                <a:latin typeface="Times New Roman"/>
                <a:cs typeface="Times New Roman"/>
              </a:rPr>
              <a:t>–</a:t>
            </a:r>
            <a:r>
              <a:rPr lang="en-US" sz="2000" dirty="0">
                <a:latin typeface="Times New Roman"/>
                <a:cs typeface="Times New Roman"/>
              </a:rPr>
              <a:t>Half rate channel </a:t>
            </a:r>
          </a:p>
          <a:p>
            <a:pPr marL="0" indent="0">
              <a:buNone/>
            </a:pPr>
            <a:r>
              <a:rPr lang="en-US" sz="2000" dirty="0">
                <a:latin typeface="Times New Roman"/>
                <a:cs typeface="Times New Roman"/>
              </a:rPr>
              <a:t>    2</a:t>
            </a:r>
            <a:r>
              <a:rPr lang="en-US" sz="2000" baseline="30000" dirty="0">
                <a:latin typeface="Times New Roman"/>
                <a:cs typeface="Times New Roman"/>
              </a:rPr>
              <a:t>nd</a:t>
            </a:r>
            <a:r>
              <a:rPr lang="en-US" sz="2000" dirty="0">
                <a:latin typeface="Times New Roman"/>
                <a:cs typeface="Times New Roman"/>
              </a:rPr>
              <a:t> , 5</a:t>
            </a:r>
            <a:r>
              <a:rPr lang="en-US" sz="2000" baseline="30000" dirty="0">
                <a:latin typeface="Times New Roman"/>
                <a:cs typeface="Times New Roman"/>
              </a:rPr>
              <a:t>th</a:t>
            </a:r>
            <a:r>
              <a:rPr lang="en-US" sz="2000" dirty="0">
                <a:latin typeface="Times New Roman"/>
                <a:cs typeface="Times New Roman"/>
              </a:rPr>
              <a:t> time slots- Full rate channel</a:t>
            </a:r>
          </a:p>
          <a:p>
            <a:pPr marL="0" indent="0">
              <a:buNone/>
            </a:pPr>
            <a:r>
              <a:rPr lang="en-US" sz="2000" dirty="0">
                <a:latin typeface="Times New Roman"/>
                <a:cs typeface="Times New Roman"/>
              </a:rPr>
              <a:t>    2</a:t>
            </a:r>
            <a:r>
              <a:rPr lang="en-US" sz="2000" baseline="30000" dirty="0">
                <a:latin typeface="Times New Roman"/>
                <a:cs typeface="Times New Roman"/>
              </a:rPr>
              <a:t>nd</a:t>
            </a:r>
            <a:r>
              <a:rPr lang="en-US" sz="2000" dirty="0">
                <a:latin typeface="Times New Roman"/>
                <a:cs typeface="Times New Roman"/>
              </a:rPr>
              <a:t>,3</a:t>
            </a:r>
            <a:r>
              <a:rPr lang="en-US" sz="2000" baseline="30000" dirty="0">
                <a:latin typeface="Times New Roman"/>
                <a:cs typeface="Times New Roman"/>
              </a:rPr>
              <a:t>rd</a:t>
            </a:r>
            <a:r>
              <a:rPr lang="en-US" sz="2000" dirty="0">
                <a:latin typeface="Times New Roman"/>
                <a:cs typeface="Times New Roman"/>
              </a:rPr>
              <a:t>, 5</a:t>
            </a:r>
            <a:r>
              <a:rPr lang="en-US" sz="2000" baseline="30000" dirty="0">
                <a:latin typeface="Times New Roman"/>
                <a:cs typeface="Times New Roman"/>
              </a:rPr>
              <a:t>th</a:t>
            </a:r>
            <a:r>
              <a:rPr lang="en-US" sz="2000" dirty="0">
                <a:latin typeface="Times New Roman"/>
                <a:cs typeface="Times New Roman"/>
              </a:rPr>
              <a:t> ,6</a:t>
            </a:r>
            <a:r>
              <a:rPr lang="en-US" sz="2000" baseline="30000" dirty="0">
                <a:latin typeface="Times New Roman"/>
                <a:cs typeface="Times New Roman"/>
              </a:rPr>
              <a:t>th</a:t>
            </a:r>
            <a:r>
              <a:rPr lang="en-US" sz="2000" dirty="0">
                <a:latin typeface="Times New Roman"/>
                <a:cs typeface="Times New Roman"/>
              </a:rPr>
              <a:t>  time slots- Double rate channel</a:t>
            </a:r>
          </a:p>
          <a:p>
            <a:pPr marL="0" indent="0">
              <a:buNone/>
            </a:pPr>
            <a:r>
              <a:rPr lang="en-US" sz="2000" dirty="0">
                <a:latin typeface="Times New Roman"/>
                <a:cs typeface="Times New Roman"/>
              </a:rPr>
              <a:t>v.    The data link layer of  IS-136 provides,</a:t>
            </a:r>
          </a:p>
          <a:p>
            <a:pPr marL="514350" indent="-514350">
              <a:buFont typeface="+mj-lt"/>
              <a:buAutoNum type="alphaLcParenR"/>
            </a:pPr>
            <a:r>
              <a:rPr lang="en-US" sz="2000" dirty="0">
                <a:latin typeface="Times New Roman"/>
                <a:cs typeface="Times New Roman"/>
              </a:rPr>
              <a:t>Addressing    	</a:t>
            </a:r>
          </a:p>
          <a:p>
            <a:pPr marL="514350" indent="-514350">
              <a:buFont typeface="+mj-lt"/>
              <a:buAutoNum type="alphaLcParenR"/>
            </a:pPr>
            <a:r>
              <a:rPr lang="en-US" sz="2000" dirty="0">
                <a:latin typeface="Times New Roman"/>
                <a:cs typeface="Times New Roman"/>
              </a:rPr>
              <a:t>Flow Control		</a:t>
            </a:r>
          </a:p>
          <a:p>
            <a:pPr marL="514350" indent="-514350">
              <a:buFont typeface="+mj-lt"/>
              <a:buAutoNum type="alphaLcParenR"/>
            </a:pPr>
            <a:r>
              <a:rPr lang="en-US" sz="2000" dirty="0">
                <a:latin typeface="Times New Roman"/>
                <a:cs typeface="Times New Roman"/>
              </a:rPr>
              <a:t>Error  detection</a:t>
            </a:r>
          </a:p>
          <a:p>
            <a:pPr marL="514350" indent="-514350">
              <a:buFont typeface="+mj-lt"/>
              <a:buAutoNum type="alphaLcParenR"/>
            </a:pPr>
            <a:r>
              <a:rPr lang="en-US" sz="2000" dirty="0">
                <a:latin typeface="Times New Roman"/>
                <a:cs typeface="Times New Roman"/>
              </a:rPr>
              <a:t>Segmentation</a:t>
            </a:r>
          </a:p>
          <a:p>
            <a:pPr marL="514350" indent="-514350">
              <a:buFont typeface="+mj-lt"/>
              <a:buAutoNum type="alphaLcParenR"/>
            </a:pPr>
            <a:r>
              <a:rPr lang="en-US" sz="2000" dirty="0">
                <a:latin typeface="Times New Roman"/>
                <a:cs typeface="Times New Roman"/>
              </a:rPr>
              <a:t>Media Access Control</a:t>
            </a:r>
          </a:p>
          <a:p>
            <a:pPr marL="0" indent="0">
              <a:buNone/>
            </a:pPr>
            <a:endParaRPr lang="en-US" sz="2000" dirty="0"/>
          </a:p>
        </p:txBody>
      </p:sp>
    </p:spTree>
    <p:extLst>
      <p:ext uri="{BB962C8B-B14F-4D97-AF65-F5344CB8AC3E}">
        <p14:creationId xmlns:p14="http://schemas.microsoft.com/office/powerpoint/2010/main" val="127737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2994"/>
            <a:ext cx="8229600" cy="5623170"/>
          </a:xfrm>
        </p:spPr>
        <p:txBody>
          <a:bodyPr/>
          <a:lstStyle/>
          <a:p>
            <a:pPr marL="0" indent="0">
              <a:buNone/>
            </a:pPr>
            <a:r>
              <a:rPr lang="en-US" sz="2400" dirty="0">
                <a:latin typeface="Times New Roman"/>
                <a:cs typeface="Times New Roman"/>
              </a:rPr>
              <a:t>vi)  Network layer allows:</a:t>
            </a:r>
          </a:p>
          <a:p>
            <a:pPr marL="514350" indent="-514350">
              <a:buFont typeface="+mj-lt"/>
              <a:buAutoNum type="alphaLcParenR"/>
            </a:pPr>
            <a:r>
              <a:rPr lang="en-US" sz="2400" dirty="0">
                <a:latin typeface="Times New Roman"/>
                <a:cs typeface="Times New Roman"/>
              </a:rPr>
              <a:t>Establishments 			</a:t>
            </a:r>
          </a:p>
          <a:p>
            <a:pPr marL="514350" indent="-514350">
              <a:buFont typeface="+mj-lt"/>
              <a:buAutoNum type="alphaLcParenR"/>
            </a:pPr>
            <a:r>
              <a:rPr lang="en-US" sz="2400" dirty="0">
                <a:latin typeface="Times New Roman"/>
                <a:cs typeface="Times New Roman"/>
              </a:rPr>
              <a:t>  Maintaining</a:t>
            </a:r>
          </a:p>
          <a:p>
            <a:pPr marL="514350" indent="-514350">
              <a:buFont typeface="+mj-lt"/>
              <a:buAutoNum type="alphaLcParenR"/>
            </a:pPr>
            <a:r>
              <a:rPr lang="en-US" sz="2400" dirty="0">
                <a:latin typeface="Times New Roman"/>
                <a:cs typeface="Times New Roman"/>
              </a:rPr>
              <a:t>Termination of connection</a:t>
            </a:r>
          </a:p>
          <a:p>
            <a:pPr marL="571500" indent="-571500">
              <a:buAutoNum type="romanLcParenR" startAt="7"/>
            </a:pPr>
            <a:r>
              <a:rPr lang="en-US" sz="2400" dirty="0">
                <a:latin typeface="Times New Roman"/>
                <a:cs typeface="Times New Roman"/>
              </a:rPr>
              <a:t>  It possesses channels namely,</a:t>
            </a:r>
          </a:p>
          <a:p>
            <a:pPr marL="457200" indent="-457200">
              <a:buAutoNum type="alphaLcParenR"/>
            </a:pPr>
            <a:r>
              <a:rPr lang="en-US" sz="2400" dirty="0">
                <a:latin typeface="Times New Roman"/>
                <a:cs typeface="Times New Roman"/>
              </a:rPr>
              <a:t>Digital Control Channel  </a:t>
            </a:r>
          </a:p>
          <a:p>
            <a:pPr marL="457200" indent="-457200">
              <a:buAutoNum type="alphaLcParenR"/>
            </a:pPr>
            <a:r>
              <a:rPr lang="en-US" sz="2400" dirty="0">
                <a:latin typeface="Times New Roman"/>
                <a:cs typeface="Times New Roman"/>
              </a:rPr>
              <a:t> Digital Traffic channel</a:t>
            </a:r>
          </a:p>
          <a:p>
            <a:pPr marL="0" indent="0">
              <a:buNone/>
            </a:pPr>
            <a:endParaRPr lang="en-US" sz="2400" dirty="0">
              <a:latin typeface="Times New Roman"/>
              <a:cs typeface="Times New Roman"/>
            </a:endParaRPr>
          </a:p>
          <a:p>
            <a:pPr marL="0" indent="0">
              <a:buNone/>
            </a:pPr>
            <a:endParaRPr lang="en-US" dirty="0"/>
          </a:p>
        </p:txBody>
      </p:sp>
    </p:spTree>
    <p:extLst>
      <p:ext uri="{BB962C8B-B14F-4D97-AF65-F5344CB8AC3E}">
        <p14:creationId xmlns:p14="http://schemas.microsoft.com/office/powerpoint/2010/main" val="248435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3592"/>
            <a:ext cx="8229600" cy="5522571"/>
          </a:xfrm>
        </p:spPr>
        <p:txBody>
          <a:bodyPr>
            <a:normAutofit fontScale="62500" lnSpcReduction="20000"/>
          </a:bodyPr>
          <a:lstStyle/>
          <a:p>
            <a:pPr>
              <a:buFont typeface="Wingdings" charset="2"/>
              <a:buChar char="Ø"/>
            </a:pPr>
            <a:r>
              <a:rPr lang="en-US" sz="3600" b="1" dirty="0">
                <a:latin typeface="Times New Roman"/>
                <a:cs typeface="Times New Roman"/>
              </a:rPr>
              <a:t>IS-95 (CDMA):</a:t>
            </a:r>
          </a:p>
          <a:p>
            <a:pPr marL="514350" indent="-514350">
              <a:buFont typeface="+mj-lt"/>
              <a:buAutoNum type="arabicParenR"/>
            </a:pPr>
            <a:r>
              <a:rPr lang="en-US" sz="3600" dirty="0">
                <a:latin typeface="Times New Roman"/>
                <a:cs typeface="Times New Roman"/>
              </a:rPr>
              <a:t> Interim standard 95.</a:t>
            </a:r>
          </a:p>
          <a:p>
            <a:pPr marL="514350" indent="-514350">
              <a:buFont typeface="+mj-lt"/>
              <a:buAutoNum type="arabicParenR"/>
            </a:pPr>
            <a:r>
              <a:rPr lang="en-US" sz="3600" dirty="0">
                <a:latin typeface="Times New Roman"/>
                <a:cs typeface="Times New Roman"/>
              </a:rPr>
              <a:t> It can tolerate interference with spread spectrum technique.</a:t>
            </a:r>
          </a:p>
          <a:p>
            <a:pPr marL="514350" indent="-514350">
              <a:buFont typeface="+mj-lt"/>
              <a:buAutoNum type="arabicParenR"/>
            </a:pPr>
            <a:r>
              <a:rPr lang="en-US" sz="3600" dirty="0">
                <a:latin typeface="Times New Roman"/>
                <a:cs typeface="Times New Roman"/>
              </a:rPr>
              <a:t>It provides high security.</a:t>
            </a:r>
          </a:p>
          <a:p>
            <a:pPr marL="514350" indent="-514350">
              <a:buFont typeface="+mj-lt"/>
              <a:buAutoNum type="arabicParenR"/>
            </a:pPr>
            <a:r>
              <a:rPr lang="en-US" sz="3600" dirty="0">
                <a:latin typeface="Times New Roman"/>
                <a:cs typeface="Times New Roman"/>
              </a:rPr>
              <a:t>It helps in achieving high capacity land mobile communication systems.</a:t>
            </a:r>
          </a:p>
          <a:p>
            <a:pPr marL="514350" indent="-514350">
              <a:buFont typeface="+mj-lt"/>
              <a:buAutoNum type="arabicParenR"/>
            </a:pPr>
            <a:endParaRPr lang="en-US" sz="3600" dirty="0">
              <a:latin typeface="Times New Roman"/>
              <a:cs typeface="Times New Roman"/>
            </a:endParaRPr>
          </a:p>
          <a:p>
            <a:pPr>
              <a:buFont typeface="Wingdings" charset="2"/>
              <a:buChar char="²"/>
            </a:pPr>
            <a:r>
              <a:rPr lang="en-US" sz="3600" b="1" dirty="0">
                <a:latin typeface="Times New Roman"/>
                <a:cs typeface="Times New Roman"/>
              </a:rPr>
              <a:t>Salient Feature of IS-95:</a:t>
            </a:r>
          </a:p>
          <a:p>
            <a:pPr marL="571500" indent="-571500">
              <a:buFont typeface="+mj-lt"/>
              <a:buAutoNum type="romanLcPeriod"/>
            </a:pPr>
            <a:r>
              <a:rPr lang="en-US" sz="3600" dirty="0">
                <a:latin typeface="Times New Roman"/>
                <a:cs typeface="Times New Roman"/>
              </a:rPr>
              <a:t>It uses speech coder Qualcomm, code Excited Linear Predictive  Coder, which can detect  voice activities &amp; reduce data rates </a:t>
            </a:r>
            <a:r>
              <a:rPr lang="en-US" sz="3600" dirty="0" err="1">
                <a:latin typeface="Times New Roman"/>
                <a:cs typeface="Times New Roman"/>
              </a:rPr>
              <a:t>upto</a:t>
            </a:r>
            <a:r>
              <a:rPr lang="en-US" sz="3600" dirty="0">
                <a:latin typeface="Times New Roman"/>
                <a:cs typeface="Times New Roman"/>
              </a:rPr>
              <a:t> 1200 b/sec in silent period.</a:t>
            </a:r>
          </a:p>
          <a:p>
            <a:pPr marL="571500" indent="-571500">
              <a:buFont typeface="+mj-lt"/>
              <a:buAutoNum type="romanLcPeriod"/>
            </a:pPr>
            <a:r>
              <a:rPr lang="en-US" sz="3600" dirty="0">
                <a:latin typeface="Times New Roman"/>
                <a:cs typeface="Times New Roman"/>
              </a:rPr>
              <a:t>It permits every  subscriber  within a cell to make use of radio channel where same radio channel is used by subscribers of adjacent cells too. This is possible with direct sequence  spread spectrum (DSSS) technique.</a:t>
            </a:r>
          </a:p>
          <a:p>
            <a:pPr marL="571500" indent="-571500">
              <a:buFont typeface="+mj-lt"/>
              <a:buAutoNum type="romanLcPeriod"/>
            </a:pPr>
            <a:endParaRPr lang="en-US" b="1" dirty="0"/>
          </a:p>
          <a:p>
            <a:pPr marL="0" indent="0">
              <a:buNone/>
            </a:pPr>
            <a:endParaRPr lang="en-US" b="1"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017304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0718"/>
            <a:ext cx="8229600" cy="5585445"/>
          </a:xfrm>
        </p:spPr>
        <p:txBody>
          <a:bodyPr>
            <a:normAutofit/>
          </a:bodyPr>
          <a:lstStyle/>
          <a:p>
            <a:pPr marL="0" indent="0">
              <a:buNone/>
            </a:pPr>
            <a:r>
              <a:rPr lang="en-US" sz="2700" dirty="0">
                <a:latin typeface="Times New Roman"/>
                <a:cs typeface="Times New Roman"/>
              </a:rPr>
              <a:t>iii.  It uses  specific modulation and spread spectrum techniques in its forward as well as reverse links.</a:t>
            </a:r>
          </a:p>
          <a:p>
            <a:pPr marL="571500" indent="-571500">
              <a:buAutoNum type="romanLcPeriod" startAt="4"/>
            </a:pPr>
            <a:r>
              <a:rPr lang="en-US" sz="2700" dirty="0">
                <a:latin typeface="Times New Roman"/>
                <a:cs typeface="Times New Roman"/>
              </a:rPr>
              <a:t>It is compatible with IS-41 networking standard.</a:t>
            </a:r>
          </a:p>
          <a:p>
            <a:pPr marL="0" indent="0">
              <a:buNone/>
            </a:pPr>
            <a:endParaRPr lang="en-US" sz="2700" dirty="0">
              <a:latin typeface="Times New Roman"/>
              <a:cs typeface="Times New Roman"/>
            </a:endParaRPr>
          </a:p>
          <a:p>
            <a:pPr>
              <a:buFont typeface="Wingdings" charset="2"/>
              <a:buChar char="Ø"/>
            </a:pPr>
            <a:r>
              <a:rPr lang="en-US" sz="2700" b="1" dirty="0">
                <a:latin typeface="Times New Roman"/>
                <a:cs typeface="Times New Roman"/>
              </a:rPr>
              <a:t>Channels and frequencies used in IS-95:</a:t>
            </a:r>
            <a:r>
              <a:rPr lang="en-US" sz="2700" dirty="0">
                <a:latin typeface="Times New Roman"/>
                <a:cs typeface="Times New Roman"/>
              </a:rPr>
              <a:t> </a:t>
            </a:r>
          </a:p>
          <a:p>
            <a:pPr marL="514350" indent="-514350">
              <a:buFont typeface="+mj-lt"/>
              <a:buAutoNum type="alphaLcPeriod"/>
            </a:pPr>
            <a:r>
              <a:rPr lang="en-US" sz="2700" dirty="0">
                <a:latin typeface="Times New Roman"/>
                <a:cs typeface="Times New Roman"/>
              </a:rPr>
              <a:t>Forward Link: 869-894 MHz    </a:t>
            </a:r>
          </a:p>
          <a:p>
            <a:pPr marL="514350" indent="-514350">
              <a:buFont typeface="+mj-lt"/>
              <a:buAutoNum type="alphaLcPeriod"/>
            </a:pPr>
            <a:r>
              <a:rPr lang="en-US" sz="2700" dirty="0">
                <a:latin typeface="Times New Roman"/>
                <a:cs typeface="Times New Roman"/>
              </a:rPr>
              <a:t>Reverse link:  824-849MHz</a:t>
            </a:r>
          </a:p>
          <a:p>
            <a:pPr marL="514350" indent="-514350">
              <a:buFont typeface="+mj-lt"/>
              <a:buAutoNum type="alphaLcPeriod"/>
            </a:pPr>
            <a:r>
              <a:rPr lang="en-US" sz="2700" dirty="0">
                <a:latin typeface="Times New Roman"/>
                <a:cs typeface="Times New Roman"/>
              </a:rPr>
              <a:t>For cellular operation, channel pair separated by frequency of 45MHz.</a:t>
            </a:r>
          </a:p>
          <a:p>
            <a:pPr marL="514350" indent="-514350">
              <a:buFont typeface="+mj-lt"/>
              <a:buAutoNum type="alphaLcPeriod"/>
            </a:pPr>
            <a:r>
              <a:rPr lang="en-US" sz="2700" dirty="0">
                <a:latin typeface="Times New Roman"/>
                <a:cs typeface="Times New Roman"/>
              </a:rPr>
              <a:t>Total Spreading factor is 128 (chip rate of 1.228 M chips/sec)</a:t>
            </a:r>
          </a:p>
          <a:p>
            <a:pPr marL="514350" indent="-514350">
              <a:buFont typeface="+mj-lt"/>
              <a:buAutoNum type="alphaLcPeriod"/>
            </a:pPr>
            <a:endParaRPr lang="en-US" sz="2700" dirty="0">
              <a:latin typeface="Times New Roman"/>
              <a:cs typeface="Times New Roman"/>
            </a:endParaRPr>
          </a:p>
          <a:p>
            <a:pPr marL="514350" indent="-514350">
              <a:buFont typeface="+mj-lt"/>
              <a:buAutoNum type="alphaLcPeriod"/>
            </a:pPr>
            <a:endParaRPr lang="en-US" sz="2700" dirty="0">
              <a:latin typeface="Times New Roman"/>
              <a:cs typeface="Times New Roman"/>
            </a:endParaRPr>
          </a:p>
          <a:p>
            <a:endParaRPr lang="en-US" sz="2700" dirty="0"/>
          </a:p>
        </p:txBody>
      </p:sp>
    </p:spTree>
    <p:extLst>
      <p:ext uri="{BB962C8B-B14F-4D97-AF65-F5344CB8AC3E}">
        <p14:creationId xmlns:p14="http://schemas.microsoft.com/office/powerpoint/2010/main" val="1632713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8442"/>
            <a:ext cx="8229600" cy="5547721"/>
          </a:xfrm>
        </p:spPr>
        <p:txBody>
          <a:bodyPr>
            <a:noAutofit/>
          </a:bodyPr>
          <a:lstStyle/>
          <a:p>
            <a:r>
              <a:rPr lang="en-US" sz="2200" b="1" dirty="0">
                <a:latin typeface="Times New Roman"/>
                <a:cs typeface="Times New Roman"/>
              </a:rPr>
              <a:t>GSM (Global System for Mobile)</a:t>
            </a:r>
            <a:r>
              <a:rPr lang="en-US" sz="2200" dirty="0">
                <a:latin typeface="Times New Roman"/>
                <a:cs typeface="Times New Roman"/>
              </a:rPr>
              <a:t>: </a:t>
            </a:r>
          </a:p>
          <a:p>
            <a:r>
              <a:rPr lang="en-US" sz="2200" dirty="0">
                <a:latin typeface="Times New Roman"/>
                <a:cs typeface="Times New Roman"/>
              </a:rPr>
              <a:t>The main aim was to provide ‘roaming facility’ for subscribers  &amp; to follow ISDN guidelines.</a:t>
            </a:r>
          </a:p>
          <a:p>
            <a:r>
              <a:rPr lang="en-US" sz="2200" dirty="0">
                <a:latin typeface="Times New Roman"/>
                <a:cs typeface="Times New Roman"/>
              </a:rPr>
              <a:t> Its is first 2G cellular network.</a:t>
            </a:r>
          </a:p>
          <a:p>
            <a:r>
              <a:rPr lang="en-US" sz="2200" dirty="0">
                <a:latin typeface="Times New Roman"/>
                <a:cs typeface="Times New Roman"/>
              </a:rPr>
              <a:t>2G network developed as a replacement  for  first generation (1G) analog cellular networks.</a:t>
            </a:r>
          </a:p>
          <a:p>
            <a:r>
              <a:rPr lang="en-US" sz="2200" dirty="0">
                <a:latin typeface="Times New Roman"/>
                <a:cs typeface="Times New Roman"/>
              </a:rPr>
              <a:t>The GSM  standard originally described a digital, circuit </a:t>
            </a:r>
            <a:r>
              <a:rPr lang="mr-IN" sz="2200" dirty="0">
                <a:latin typeface="Times New Roman"/>
                <a:cs typeface="Times New Roman"/>
              </a:rPr>
              <a:t>–</a:t>
            </a:r>
            <a:r>
              <a:rPr lang="en-US" sz="2200" dirty="0">
                <a:latin typeface="Times New Roman"/>
                <a:cs typeface="Times New Roman"/>
              </a:rPr>
              <a:t>switched network optimized for full duplex voice telephony.</a:t>
            </a:r>
          </a:p>
          <a:p>
            <a:r>
              <a:rPr lang="en-US" sz="2200" b="1" dirty="0">
                <a:latin typeface="Times New Roman"/>
                <a:cs typeface="Times New Roman"/>
              </a:rPr>
              <a:t>Basic Requirement:</a:t>
            </a:r>
          </a:p>
          <a:p>
            <a:pPr marL="571500" indent="-571500">
              <a:buFont typeface="+mj-lt"/>
              <a:buAutoNum type="romanLcPeriod"/>
            </a:pPr>
            <a:r>
              <a:rPr lang="en-US" sz="2200" dirty="0">
                <a:latin typeface="Times New Roman"/>
                <a:cs typeface="Times New Roman"/>
              </a:rPr>
              <a:t>Service Portability</a:t>
            </a:r>
          </a:p>
          <a:p>
            <a:pPr marL="571500" indent="-571500">
              <a:buFont typeface="+mj-lt"/>
              <a:buAutoNum type="romanLcPeriod"/>
            </a:pPr>
            <a:r>
              <a:rPr lang="en-US" sz="2200" dirty="0">
                <a:latin typeface="Times New Roman"/>
                <a:cs typeface="Times New Roman"/>
              </a:rPr>
              <a:t>Quality of Service</a:t>
            </a:r>
          </a:p>
          <a:p>
            <a:pPr marL="571500" indent="-571500">
              <a:buFont typeface="+mj-lt"/>
              <a:buAutoNum type="romanLcPeriod"/>
            </a:pPr>
            <a:r>
              <a:rPr lang="en-US" sz="2200" dirty="0">
                <a:latin typeface="Times New Roman"/>
                <a:cs typeface="Times New Roman"/>
              </a:rPr>
              <a:t>Frequency utilization (Reuse)</a:t>
            </a:r>
          </a:p>
          <a:p>
            <a:pPr marL="571500" indent="-571500">
              <a:buFont typeface="+mj-lt"/>
              <a:buAutoNum type="romanLcPeriod"/>
            </a:pPr>
            <a:r>
              <a:rPr lang="en-US" sz="2200" dirty="0">
                <a:latin typeface="Times New Roman"/>
                <a:cs typeface="Times New Roman"/>
              </a:rPr>
              <a:t>Cost</a:t>
            </a:r>
          </a:p>
          <a:p>
            <a:pPr marL="571500" indent="-571500">
              <a:buFont typeface="+mj-lt"/>
              <a:buAutoNum type="romanLcPeriod"/>
            </a:pPr>
            <a:r>
              <a:rPr lang="en-US" sz="2200" dirty="0">
                <a:latin typeface="Times New Roman"/>
                <a:cs typeface="Times New Roman"/>
              </a:rPr>
              <a:t>Security</a:t>
            </a:r>
          </a:p>
          <a:p>
            <a:endParaRPr lang="en-US" sz="2400" dirty="0">
              <a:latin typeface="Times New Roman"/>
              <a:cs typeface="Times New Roman"/>
            </a:endParaRPr>
          </a:p>
        </p:txBody>
      </p:sp>
    </p:spTree>
    <p:extLst>
      <p:ext uri="{BB962C8B-B14F-4D97-AF65-F5344CB8AC3E}">
        <p14:creationId xmlns:p14="http://schemas.microsoft.com/office/powerpoint/2010/main" val="4139702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8143"/>
            <a:ext cx="8229600" cy="5598021"/>
          </a:xfrm>
        </p:spPr>
        <p:txBody>
          <a:bodyPr>
            <a:normAutofit lnSpcReduction="10000"/>
          </a:bodyPr>
          <a:lstStyle/>
          <a:p>
            <a:r>
              <a:rPr lang="en-US" sz="2400" dirty="0">
                <a:latin typeface="Times New Roman"/>
                <a:cs typeface="Times New Roman"/>
              </a:rPr>
              <a:t> </a:t>
            </a:r>
            <a:r>
              <a:rPr lang="en-US" sz="2400" b="1" dirty="0">
                <a:latin typeface="Times New Roman"/>
                <a:cs typeface="Times New Roman"/>
              </a:rPr>
              <a:t>Performance characteristic of GSM</a:t>
            </a:r>
            <a:r>
              <a:rPr lang="en-US" sz="2400" dirty="0">
                <a:latin typeface="Times New Roman"/>
                <a:cs typeface="Times New Roman"/>
              </a:rPr>
              <a:t>:</a:t>
            </a:r>
          </a:p>
          <a:p>
            <a:pPr marL="571500" indent="-571500">
              <a:buFont typeface="+mj-lt"/>
              <a:buAutoNum type="romanLcPeriod"/>
            </a:pPr>
            <a:r>
              <a:rPr lang="en-US" sz="2400" dirty="0">
                <a:latin typeface="Times New Roman"/>
                <a:cs typeface="Times New Roman"/>
              </a:rPr>
              <a:t>Communication: wireless digital communication; support for voice and data services.</a:t>
            </a:r>
          </a:p>
          <a:p>
            <a:pPr marL="571500" indent="-571500">
              <a:buFont typeface="+mj-lt"/>
              <a:buAutoNum type="romanLcPeriod"/>
            </a:pPr>
            <a:r>
              <a:rPr lang="en-US" sz="2400" dirty="0">
                <a:latin typeface="Times New Roman"/>
                <a:cs typeface="Times New Roman"/>
              </a:rPr>
              <a:t>Total mobility: international access</a:t>
            </a:r>
          </a:p>
          <a:p>
            <a:pPr marL="571500" indent="-571500">
              <a:buFont typeface="+mj-lt"/>
              <a:buAutoNum type="romanLcPeriod"/>
            </a:pPr>
            <a:r>
              <a:rPr lang="en-US" sz="2400" dirty="0">
                <a:latin typeface="Times New Roman"/>
                <a:cs typeface="Times New Roman"/>
              </a:rPr>
              <a:t>Worldwide connectivity: The network can handles localization</a:t>
            </a:r>
          </a:p>
          <a:p>
            <a:pPr marL="571500" indent="-571500">
              <a:buFont typeface="+mj-lt"/>
              <a:buAutoNum type="romanLcPeriod"/>
            </a:pPr>
            <a:r>
              <a:rPr lang="en-US" sz="2400" dirty="0">
                <a:latin typeface="Times New Roman"/>
                <a:cs typeface="Times New Roman"/>
              </a:rPr>
              <a:t>High Capacity: Better frequency efficiency </a:t>
            </a:r>
          </a:p>
          <a:p>
            <a:pPr marL="571500" indent="-571500">
              <a:buFont typeface="+mj-lt"/>
              <a:buAutoNum type="romanLcPeriod"/>
            </a:pPr>
            <a:r>
              <a:rPr lang="en-US" sz="2400" dirty="0">
                <a:latin typeface="Times New Roman"/>
                <a:cs typeface="Times New Roman"/>
              </a:rPr>
              <a:t>High Transmission Quality: high audio quality, uninterrupted phone calls at higher speeds, Better handoffs</a:t>
            </a:r>
          </a:p>
          <a:p>
            <a:r>
              <a:rPr lang="en-US" sz="2400" b="1" dirty="0">
                <a:latin typeface="Times New Roman"/>
                <a:cs typeface="Times New Roman"/>
              </a:rPr>
              <a:t>Disadvantages:</a:t>
            </a:r>
          </a:p>
          <a:p>
            <a:pPr marL="571500" indent="-571500">
              <a:buFont typeface="+mj-lt"/>
              <a:buAutoNum type="romanLcPeriod"/>
            </a:pPr>
            <a:r>
              <a:rPr lang="en-US" sz="2400" dirty="0">
                <a:latin typeface="Times New Roman"/>
                <a:cs typeface="Times New Roman"/>
              </a:rPr>
              <a:t>High complexity of the system</a:t>
            </a:r>
          </a:p>
          <a:p>
            <a:pPr marL="571500" indent="-571500">
              <a:buFont typeface="+mj-lt"/>
              <a:buAutoNum type="romanLcPeriod"/>
            </a:pPr>
            <a:r>
              <a:rPr lang="en-US" sz="2400" dirty="0">
                <a:latin typeface="Times New Roman"/>
                <a:cs typeface="Times New Roman"/>
              </a:rPr>
              <a:t>Several incompatibilities within the GSM standards</a:t>
            </a:r>
          </a:p>
          <a:p>
            <a:pPr marL="571500" indent="-571500">
              <a:buFont typeface="+mj-lt"/>
              <a:buAutoNum type="romanLcPeriod"/>
            </a:pPr>
            <a:r>
              <a:rPr lang="en-US" sz="2400" dirty="0">
                <a:latin typeface="Times New Roman"/>
                <a:cs typeface="Times New Roman"/>
              </a:rPr>
              <a:t>No end to end encryption of data.</a:t>
            </a:r>
          </a:p>
        </p:txBody>
      </p:sp>
    </p:spTree>
    <p:extLst>
      <p:ext uri="{BB962C8B-B14F-4D97-AF65-F5344CB8AC3E}">
        <p14:creationId xmlns:p14="http://schemas.microsoft.com/office/powerpoint/2010/main" val="3223529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0718"/>
            <a:ext cx="8229600" cy="5585445"/>
          </a:xfrm>
        </p:spPr>
        <p:txBody>
          <a:bodyPr>
            <a:normAutofit/>
          </a:bodyPr>
          <a:lstStyle/>
          <a:p>
            <a:r>
              <a:rPr lang="en-US" sz="2400" b="1" dirty="0">
                <a:latin typeface="Times New Roman"/>
                <a:cs typeface="Times New Roman"/>
              </a:rPr>
              <a:t>GSM Service:</a:t>
            </a:r>
          </a:p>
          <a:p>
            <a:pPr marL="0" indent="0">
              <a:buNone/>
            </a:pPr>
            <a:r>
              <a:rPr lang="en-US" sz="2400" dirty="0">
                <a:latin typeface="Times New Roman"/>
                <a:cs typeface="Times New Roman"/>
              </a:rPr>
              <a:t>GSM services  follow ISDN guidelines  and are classified as either Teleservices or Data services. Teleservices include standard mobile telephony and mobile originated or base originated traffic. Data Services include computer- to computer communication and packet switched traffic. User services divided into three categories:</a:t>
            </a:r>
          </a:p>
          <a:p>
            <a:pPr marL="514350" indent="-514350">
              <a:buFont typeface="+mj-lt"/>
              <a:buAutoNum type="arabicParenR"/>
            </a:pPr>
            <a:r>
              <a:rPr lang="en-US" sz="2400" b="1" dirty="0">
                <a:latin typeface="Times New Roman"/>
                <a:cs typeface="Times New Roman"/>
              </a:rPr>
              <a:t>Bearer Services </a:t>
            </a:r>
            <a:r>
              <a:rPr lang="en-US" sz="2400" dirty="0">
                <a:latin typeface="Times New Roman"/>
                <a:cs typeface="Times New Roman"/>
              </a:rPr>
              <a:t>(Related to1,2 and 3 layer of OSI, Data service 300bps to 9.6kbps.)</a:t>
            </a:r>
          </a:p>
          <a:p>
            <a:pPr marL="514350" indent="-514350">
              <a:buFont typeface="+mj-lt"/>
              <a:buAutoNum type="arabicParenR"/>
            </a:pPr>
            <a:r>
              <a:rPr lang="en-US" sz="2400" b="1" dirty="0">
                <a:latin typeface="Times New Roman"/>
                <a:cs typeface="Times New Roman"/>
              </a:rPr>
              <a:t>Telephone Services</a:t>
            </a:r>
            <a:r>
              <a:rPr lang="en-US" sz="2400" dirty="0">
                <a:latin typeface="Times New Roman"/>
                <a:cs typeface="Times New Roman"/>
              </a:rPr>
              <a:t> (voice transmission, Message service and data communication, Emergency calls, SMS, MMS)</a:t>
            </a:r>
          </a:p>
          <a:p>
            <a:pPr marL="514350" indent="-514350">
              <a:buFont typeface="+mj-lt"/>
              <a:buAutoNum type="arabicParenR"/>
            </a:pPr>
            <a:r>
              <a:rPr lang="en-US" sz="2400" b="1" dirty="0">
                <a:latin typeface="Times New Roman"/>
                <a:cs typeface="Times New Roman"/>
              </a:rPr>
              <a:t>Supplementary Services</a:t>
            </a:r>
            <a:r>
              <a:rPr lang="en-US" sz="2400" dirty="0">
                <a:latin typeface="Times New Roman"/>
                <a:cs typeface="Times New Roman"/>
              </a:rPr>
              <a:t> ( call forwarding, call redirecting)</a:t>
            </a:r>
          </a:p>
          <a:p>
            <a:endParaRPr lang="en-US" sz="2400" dirty="0"/>
          </a:p>
        </p:txBody>
      </p:sp>
    </p:spTree>
    <p:extLst>
      <p:ext uri="{BB962C8B-B14F-4D97-AF65-F5344CB8AC3E}">
        <p14:creationId xmlns:p14="http://schemas.microsoft.com/office/powerpoint/2010/main" val="1651934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3592"/>
            <a:ext cx="8229600" cy="5522571"/>
          </a:xfrm>
        </p:spPr>
        <p:txBody>
          <a:bodyPr>
            <a:normAutofit/>
          </a:bodyPr>
          <a:lstStyle/>
          <a:p>
            <a:r>
              <a:rPr lang="en-US" sz="2400" b="1" dirty="0">
                <a:latin typeface="Times New Roman"/>
                <a:cs typeface="Times New Roman"/>
              </a:rPr>
              <a:t>GSM Architecture:  </a:t>
            </a:r>
          </a:p>
          <a:p>
            <a:pPr marL="0" indent="0">
              <a:buNone/>
            </a:pPr>
            <a:r>
              <a:rPr lang="en-US" sz="2400" dirty="0">
                <a:latin typeface="Times New Roman"/>
                <a:cs typeface="Times New Roman"/>
              </a:rPr>
              <a:t>The GSM system architecture consists of three major interconnected subsystems that interact with between themselves  and with the users through certain network interfaces. The subsystems are the Base station Subsystem (BSS), Network and switching Subsystem(NSS)  and the Operation Support Subsystem(OSS). The mobile station(MS) is also a subsystem, but is usually considered to be part of the BSS for architecture purposes. </a:t>
            </a:r>
          </a:p>
          <a:p>
            <a:pPr marL="0" indent="0">
              <a:buNone/>
            </a:pPr>
            <a:r>
              <a:rPr lang="en-US" sz="2400" dirty="0">
                <a:latin typeface="Times New Roman"/>
                <a:cs typeface="Times New Roman"/>
              </a:rPr>
              <a:t> </a:t>
            </a:r>
          </a:p>
        </p:txBody>
      </p:sp>
    </p:spTree>
    <p:extLst>
      <p:ext uri="{BB962C8B-B14F-4D97-AF65-F5344CB8AC3E}">
        <p14:creationId xmlns:p14="http://schemas.microsoft.com/office/powerpoint/2010/main" val="212159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CF5FB59-7251-B64E-B8F1-80A176F4D0AA}"/>
              </a:ext>
            </a:extLst>
          </p:cNvPr>
          <p:cNvPicPr>
            <a:picLocks noGrp="1" noChangeAspect="1"/>
          </p:cNvPicPr>
          <p:nvPr>
            <p:ph idx="1"/>
          </p:nvPr>
        </p:nvPicPr>
        <p:blipFill rotWithShape="1">
          <a:blip r:embed="rId2"/>
          <a:srcRect l="15360" t="20067" r="27988" b="16593"/>
          <a:stretch/>
        </p:blipFill>
        <p:spPr>
          <a:xfrm>
            <a:off x="1260390" y="1062681"/>
            <a:ext cx="6759146" cy="4695568"/>
          </a:xfrm>
        </p:spPr>
      </p:pic>
    </p:spTree>
    <p:extLst>
      <p:ext uri="{BB962C8B-B14F-4D97-AF65-F5344CB8AC3E}">
        <p14:creationId xmlns:p14="http://schemas.microsoft.com/office/powerpoint/2010/main" val="458139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8144"/>
            <a:ext cx="8229600" cy="5598020"/>
          </a:xfrm>
        </p:spPr>
        <p:txBody>
          <a:bodyPr>
            <a:normAutofit lnSpcReduction="10000"/>
          </a:bodyPr>
          <a:lstStyle/>
          <a:p>
            <a:pPr marL="571500" indent="-571500">
              <a:buFont typeface="+mj-lt"/>
              <a:buAutoNum type="arabicParenR"/>
            </a:pPr>
            <a:r>
              <a:rPr lang="en-US" sz="2700" b="1" dirty="0">
                <a:latin typeface="Times New Roman"/>
                <a:cs typeface="Times New Roman"/>
              </a:rPr>
              <a:t>Base Station Subsystem(BSS)</a:t>
            </a:r>
            <a:r>
              <a:rPr lang="en-US" sz="2700" dirty="0">
                <a:latin typeface="Times New Roman"/>
                <a:cs typeface="Times New Roman"/>
              </a:rPr>
              <a:t>: The BSS provides and manages radio transmission path between the Mobile Station(MS) and the mobile Switching Centre(MSC). It also manages radio interface between the mobile stations and all other subsystems.</a:t>
            </a:r>
          </a:p>
          <a:p>
            <a:pPr marL="571500" indent="-571500">
              <a:buFont typeface="+mj-lt"/>
              <a:buAutoNum type="romanLcPeriod"/>
            </a:pPr>
            <a:r>
              <a:rPr lang="en-US" sz="2700" dirty="0">
                <a:latin typeface="Times New Roman"/>
                <a:cs typeface="Times New Roman"/>
              </a:rPr>
              <a:t>Mobile Stations(MS): The MS communicates the user information  and modifies it according to the transmission protocols of air-interface to communicate with other BSS equipment. The MS has two elements, Mobile equipment(ME) and Subscriber Identity Module (SIM).</a:t>
            </a:r>
          </a:p>
          <a:p>
            <a:pPr marL="571500" indent="-571500">
              <a:buFont typeface="+mj-lt"/>
              <a:buAutoNum type="romanLcPeriod"/>
            </a:pPr>
            <a:r>
              <a:rPr lang="en-US" sz="2700" dirty="0">
                <a:latin typeface="Times New Roman"/>
                <a:cs typeface="Times New Roman"/>
              </a:rPr>
              <a:t>Two Elements in BSS: Base Transceiver Station(BTS) &amp; Base Station Controller(BSC)</a:t>
            </a:r>
          </a:p>
        </p:txBody>
      </p:sp>
    </p:spTree>
    <p:extLst>
      <p:ext uri="{BB962C8B-B14F-4D97-AF65-F5344CB8AC3E}">
        <p14:creationId xmlns:p14="http://schemas.microsoft.com/office/powerpoint/2010/main" val="231893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1018"/>
            <a:ext cx="8229600" cy="5535146"/>
          </a:xfrm>
        </p:spPr>
        <p:txBody>
          <a:bodyPr>
            <a:normAutofit/>
          </a:bodyPr>
          <a:lstStyle/>
          <a:p>
            <a:r>
              <a:rPr lang="en-US" sz="2700" dirty="0">
                <a:latin typeface="Times New Roman"/>
                <a:cs typeface="Times New Roman"/>
              </a:rPr>
              <a:t>Base Transceiver Station(BTS): The BTS include a transmitter, a receiver and signaling equipment to operate over the air interface. It include all necessary equipment for radio transmission</a:t>
            </a:r>
          </a:p>
          <a:p>
            <a:r>
              <a:rPr lang="en-US" sz="2700" dirty="0">
                <a:latin typeface="Times New Roman"/>
                <a:cs typeface="Times New Roman"/>
              </a:rPr>
              <a:t>Base Station Controller: It manages BTS. It manages handoffs, radio frequency assignment</a:t>
            </a:r>
          </a:p>
          <a:p>
            <a:pPr marL="514350" indent="-514350">
              <a:buAutoNum type="arabicParenR" startAt="2"/>
            </a:pPr>
            <a:r>
              <a:rPr lang="en-US" sz="2700" b="1" dirty="0">
                <a:latin typeface="Times New Roman"/>
                <a:cs typeface="Times New Roman"/>
              </a:rPr>
              <a:t>Network and switching Subsystems(NSS): </a:t>
            </a:r>
          </a:p>
          <a:p>
            <a:pPr marL="0" indent="0">
              <a:buNone/>
            </a:pPr>
            <a:r>
              <a:rPr lang="en-US" sz="2700" dirty="0">
                <a:latin typeface="Times New Roman"/>
                <a:cs typeface="Times New Roman"/>
              </a:rPr>
              <a:t> The NSS handles the switching of GSM calls between external networks and the BSC’s in the radio subsystem and is also responsible for managing and providing external access to several customer databases. It provides the main control and interfacing for whole network.</a:t>
            </a:r>
            <a:endParaRPr lang="en-US" sz="2700" b="1" dirty="0">
              <a:latin typeface="Times New Roman"/>
              <a:cs typeface="Times New Roman"/>
            </a:endParaRPr>
          </a:p>
          <a:p>
            <a:pPr marL="0" indent="0">
              <a:buNone/>
            </a:pPr>
            <a:endParaRPr lang="en-US" dirty="0"/>
          </a:p>
          <a:p>
            <a:endParaRPr lang="en-US" dirty="0"/>
          </a:p>
        </p:txBody>
      </p:sp>
    </p:spTree>
    <p:extLst>
      <p:ext uri="{BB962C8B-B14F-4D97-AF65-F5344CB8AC3E}">
        <p14:creationId xmlns:p14="http://schemas.microsoft.com/office/powerpoint/2010/main" val="2724542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0718"/>
            <a:ext cx="8229600" cy="5585445"/>
          </a:xfrm>
        </p:spPr>
        <p:txBody>
          <a:bodyPr>
            <a:noAutofit/>
          </a:bodyPr>
          <a:lstStyle/>
          <a:p>
            <a:pPr marL="571500" indent="-571500">
              <a:buFont typeface="+mj-lt"/>
              <a:buAutoNum type="romanLcPeriod"/>
            </a:pPr>
            <a:r>
              <a:rPr lang="en-US" sz="2400" dirty="0">
                <a:latin typeface="Times New Roman"/>
                <a:cs typeface="Times New Roman"/>
              </a:rPr>
              <a:t>Mobile Switching Centre(MSC): It is the main element within the core of GSM network. The MSC is the central unit in the NSS and controls  the traffic among all of the BSCs. </a:t>
            </a:r>
          </a:p>
          <a:p>
            <a:pPr marL="571500" indent="-571500">
              <a:buFont typeface="+mj-lt"/>
              <a:buAutoNum type="romanLcPeriod"/>
            </a:pPr>
            <a:r>
              <a:rPr lang="en-US" sz="2400" dirty="0">
                <a:latin typeface="Times New Roman"/>
                <a:cs typeface="Times New Roman"/>
              </a:rPr>
              <a:t>Three Databases:  </a:t>
            </a:r>
          </a:p>
          <a:p>
            <a:r>
              <a:rPr lang="en-US" sz="2400" dirty="0">
                <a:latin typeface="Times New Roman"/>
                <a:cs typeface="Times New Roman"/>
              </a:rPr>
              <a:t>HLR( Home Location Register): Contains all the administrative information about subscriber and location information for each user who resides in the same city.</a:t>
            </a:r>
          </a:p>
          <a:p>
            <a:r>
              <a:rPr lang="en-US" sz="2400" dirty="0">
                <a:latin typeface="Times New Roman"/>
                <a:cs typeface="Times New Roman"/>
              </a:rPr>
              <a:t>VLR(Visitor Location Register): VLR database which temporarily stores the customer information for each roaming subscriber.</a:t>
            </a:r>
          </a:p>
          <a:p>
            <a:r>
              <a:rPr lang="en-US" sz="2400" dirty="0">
                <a:latin typeface="Times New Roman"/>
                <a:cs typeface="Times New Roman"/>
              </a:rPr>
              <a:t>Authentication Centre(AUC): Handles authentication and encryption keys for every single subscriber in the HLR and VLR.</a:t>
            </a:r>
          </a:p>
          <a:p>
            <a:endParaRPr lang="en-US" sz="2400" dirty="0"/>
          </a:p>
          <a:p>
            <a:endParaRPr lang="en-US" sz="2400" dirty="0"/>
          </a:p>
        </p:txBody>
      </p:sp>
    </p:spTree>
    <p:extLst>
      <p:ext uri="{BB962C8B-B14F-4D97-AF65-F5344CB8AC3E}">
        <p14:creationId xmlns:p14="http://schemas.microsoft.com/office/powerpoint/2010/main" val="1257027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15568"/>
            <a:ext cx="8229600" cy="5610595"/>
          </a:xfrm>
        </p:spPr>
        <p:txBody>
          <a:bodyPr>
            <a:normAutofit/>
          </a:bodyPr>
          <a:lstStyle/>
          <a:p>
            <a:pPr marL="571500" indent="-571500">
              <a:buAutoNum type="romanLcPeriod" startAt="3"/>
            </a:pPr>
            <a:r>
              <a:rPr lang="en-US" sz="2600" b="1" dirty="0">
                <a:latin typeface="Times New Roman"/>
                <a:cs typeface="Times New Roman"/>
              </a:rPr>
              <a:t>Operation Support Subsystem(OSS)</a:t>
            </a:r>
            <a:r>
              <a:rPr lang="en-US" sz="2600" dirty="0">
                <a:latin typeface="Times New Roman"/>
                <a:cs typeface="Times New Roman"/>
              </a:rPr>
              <a:t>: The OSS supports one or several Operation Maintenance Centre (OMC) which used to monitor and maintain the performance of each  MS,BS,BSC and MSC within a GSM system. The OSS has three main functions, which are:</a:t>
            </a:r>
          </a:p>
          <a:p>
            <a:pPr marL="514350" indent="-514350">
              <a:buFont typeface="+mj-lt"/>
              <a:buAutoNum type="alphaLcParenR"/>
            </a:pPr>
            <a:r>
              <a:rPr lang="en-US" sz="2600" dirty="0">
                <a:latin typeface="Times New Roman"/>
                <a:cs typeface="Times New Roman"/>
              </a:rPr>
              <a:t>Manage all charging and billing procedures.</a:t>
            </a:r>
          </a:p>
          <a:p>
            <a:pPr marL="514350" indent="-514350">
              <a:buFont typeface="+mj-lt"/>
              <a:buAutoNum type="alphaLcParenR"/>
            </a:pPr>
            <a:r>
              <a:rPr lang="en-US" sz="2600" dirty="0">
                <a:latin typeface="Times New Roman"/>
                <a:cs typeface="Times New Roman"/>
              </a:rPr>
              <a:t>Manage all mobile equipment in the system.</a:t>
            </a:r>
          </a:p>
          <a:p>
            <a:pPr marL="514350" indent="-514350">
              <a:buFont typeface="+mj-lt"/>
              <a:buAutoNum type="alphaLcParenR"/>
            </a:pPr>
            <a:r>
              <a:rPr lang="en-US" sz="2600" dirty="0">
                <a:latin typeface="Times New Roman"/>
                <a:cs typeface="Times New Roman"/>
              </a:rPr>
              <a:t>To maintain all Telecommunications hardware and network operation.</a:t>
            </a:r>
          </a:p>
          <a:p>
            <a:pPr marL="514350" indent="-514350">
              <a:buFont typeface="+mj-lt"/>
              <a:buAutoNum type="alphaLcParenR"/>
            </a:pPr>
            <a:endParaRPr lang="en-US" sz="2600" dirty="0">
              <a:latin typeface="Times New Roman"/>
              <a:cs typeface="Times New Roman"/>
            </a:endParaRPr>
          </a:p>
        </p:txBody>
      </p:sp>
    </p:spTree>
    <p:extLst>
      <p:ext uri="{BB962C8B-B14F-4D97-AF65-F5344CB8AC3E}">
        <p14:creationId xmlns:p14="http://schemas.microsoft.com/office/powerpoint/2010/main" val="1653204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2993"/>
            <a:ext cx="8229600" cy="6090435"/>
          </a:xfrm>
        </p:spPr>
        <p:txBody>
          <a:bodyPr>
            <a:noAutofit/>
          </a:bodyPr>
          <a:lstStyle/>
          <a:p>
            <a:pPr marL="0" indent="0">
              <a:buNone/>
            </a:pPr>
            <a:r>
              <a:rPr lang="en-US" sz="2500" dirty="0">
                <a:latin typeface="Times New Roman"/>
                <a:cs typeface="Times New Roman"/>
              </a:rPr>
              <a:t>3)  </a:t>
            </a:r>
            <a:r>
              <a:rPr lang="en-US" sz="2500" b="1" dirty="0">
                <a:latin typeface="Times New Roman"/>
                <a:cs typeface="Times New Roman"/>
              </a:rPr>
              <a:t>GSM interfaces</a:t>
            </a:r>
            <a:r>
              <a:rPr lang="en-US" sz="2500" dirty="0">
                <a:latin typeface="Times New Roman"/>
                <a:cs typeface="Times New Roman"/>
              </a:rPr>
              <a:t>: </a:t>
            </a:r>
          </a:p>
          <a:p>
            <a:r>
              <a:rPr lang="en-US" sz="2500" dirty="0">
                <a:latin typeface="Times New Roman"/>
                <a:cs typeface="Times New Roman"/>
              </a:rPr>
              <a:t>The MS communicates with the Base Transceiver Station(BTS) over the Radio-Air Interface and the interface which connects BTS to a Base Station Controller(BSC) is called the </a:t>
            </a:r>
            <a:r>
              <a:rPr lang="en-US" sz="2500" dirty="0" err="1">
                <a:latin typeface="Times New Roman"/>
                <a:cs typeface="Times New Roman"/>
              </a:rPr>
              <a:t>Abis</a:t>
            </a:r>
            <a:r>
              <a:rPr lang="en-US" sz="2500" dirty="0">
                <a:latin typeface="Times New Roman"/>
                <a:cs typeface="Times New Roman"/>
              </a:rPr>
              <a:t> Interfaces.</a:t>
            </a:r>
          </a:p>
          <a:p>
            <a:r>
              <a:rPr lang="en-US" sz="2500" dirty="0">
                <a:latin typeface="Times New Roman"/>
                <a:cs typeface="Times New Roman"/>
              </a:rPr>
              <a:t>The </a:t>
            </a:r>
            <a:r>
              <a:rPr lang="en-US" sz="2500" dirty="0" err="1">
                <a:latin typeface="Times New Roman"/>
                <a:cs typeface="Times New Roman"/>
              </a:rPr>
              <a:t>Abis</a:t>
            </a:r>
            <a:r>
              <a:rPr lang="en-US" sz="2500" dirty="0">
                <a:latin typeface="Times New Roman"/>
                <a:cs typeface="Times New Roman"/>
              </a:rPr>
              <a:t> interface carries  traffic and maintenance data.</a:t>
            </a:r>
          </a:p>
          <a:p>
            <a:r>
              <a:rPr lang="en-US" sz="2500" dirty="0">
                <a:latin typeface="Times New Roman"/>
                <a:cs typeface="Times New Roman"/>
              </a:rPr>
              <a:t>The interface between a BSC and a MSC is called the A interface. The A interface uses an SS7 protocol called the signaling correction control part(SCCP) which supports communication between the MSC and the BSS, as well as network messages between the individual subscribers and the MSC.</a:t>
            </a:r>
          </a:p>
          <a:p>
            <a:r>
              <a:rPr lang="en-US" sz="2500" dirty="0">
                <a:latin typeface="Times New Roman"/>
                <a:cs typeface="Times New Roman"/>
              </a:rPr>
              <a:t> The A interface allows  a service provider to use base stations and switching equipment made by different manufacturers.</a:t>
            </a:r>
          </a:p>
        </p:txBody>
      </p:sp>
    </p:spTree>
    <p:extLst>
      <p:ext uri="{BB962C8B-B14F-4D97-AF65-F5344CB8AC3E}">
        <p14:creationId xmlns:p14="http://schemas.microsoft.com/office/powerpoint/2010/main" val="2660062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SM+interface+2.jpg"/>
          <p:cNvPicPr>
            <a:picLocks noGrp="1" noChangeAspect="1"/>
          </p:cNvPicPr>
          <p:nvPr>
            <p:ph idx="1"/>
          </p:nvPr>
        </p:nvPicPr>
        <p:blipFill rotWithShape="1">
          <a:blip r:embed="rId2">
            <a:extLst>
              <a:ext uri="{28A0092B-C50C-407E-A947-70E740481C1C}">
                <a14:useLocalDpi xmlns:a14="http://schemas.microsoft.com/office/drawing/2010/main" val="0"/>
              </a:ext>
            </a:extLst>
          </a:blip>
          <a:srcRect t="6322" b="11377"/>
          <a:stretch/>
        </p:blipFill>
        <p:spPr>
          <a:xfrm>
            <a:off x="457200" y="974904"/>
            <a:ext cx="8229600" cy="5272178"/>
          </a:xfrm>
        </p:spPr>
      </p:pic>
    </p:spTree>
    <p:extLst>
      <p:ext uri="{BB962C8B-B14F-4D97-AF65-F5344CB8AC3E}">
        <p14:creationId xmlns:p14="http://schemas.microsoft.com/office/powerpoint/2010/main" val="3147592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927B42-94BE-5348-AAAE-A3BD370113DE}"/>
              </a:ext>
            </a:extLst>
          </p:cNvPr>
          <p:cNvSpPr>
            <a:spLocks noGrp="1"/>
          </p:cNvSpPr>
          <p:nvPr>
            <p:ph type="title"/>
          </p:nvPr>
        </p:nvSpPr>
        <p:spPr>
          <a:xfrm>
            <a:off x="815546" y="383060"/>
            <a:ext cx="7253415" cy="889686"/>
          </a:xfrm>
        </p:spPr>
        <p:txBody>
          <a:bodyPr/>
          <a:lstStyle/>
          <a:p>
            <a:r>
              <a:rPr lang="en-US" dirty="0">
                <a:latin typeface="Times New Roman" panose="02020603050405020304" pitchFamily="18" charset="0"/>
                <a:cs typeface="Times New Roman" panose="02020603050405020304" pitchFamily="18" charset="0"/>
              </a:rPr>
              <a:t>Network Signaling in GSM</a:t>
            </a:r>
          </a:p>
        </p:txBody>
      </p:sp>
      <p:sp>
        <p:nvSpPr>
          <p:cNvPr id="5" name="Content Placeholder 4">
            <a:extLst>
              <a:ext uri="{FF2B5EF4-FFF2-40B4-BE49-F238E27FC236}">
                <a16:creationId xmlns:a16="http://schemas.microsoft.com/office/drawing/2014/main" id="{E1C3845A-CE67-1746-9BFF-5EDD66A75CA3}"/>
              </a:ext>
            </a:extLst>
          </p:cNvPr>
          <p:cNvSpPr>
            <a:spLocks noGrp="1"/>
          </p:cNvSpPr>
          <p:nvPr>
            <p:ph idx="1"/>
          </p:nvPr>
        </p:nvSpPr>
        <p:spPr>
          <a:xfrm>
            <a:off x="729049" y="1569308"/>
            <a:ext cx="7475837" cy="5103156"/>
          </a:xfrm>
        </p:spPr>
        <p:txBody>
          <a:bodyPr>
            <a:noAutofit/>
          </a:bodyPr>
          <a:lstStyle/>
          <a:p>
            <a:r>
              <a:rPr lang="en-US" sz="2200" dirty="0">
                <a:latin typeface="Times New Roman" panose="02020603050405020304" pitchFamily="18" charset="0"/>
                <a:cs typeface="Times New Roman" panose="02020603050405020304" pitchFamily="18" charset="0"/>
              </a:rPr>
              <a:t>GSM signaling defines the communication between the mobile and the network.</a:t>
            </a:r>
          </a:p>
          <a:p>
            <a:r>
              <a:rPr lang="en-US" sz="2200" dirty="0">
                <a:latin typeface="Times New Roman" panose="02020603050405020304" pitchFamily="18" charset="0"/>
                <a:cs typeface="Times New Roman" panose="02020603050405020304" pitchFamily="18" charset="0"/>
              </a:rPr>
              <a:t>Signaling has to be carried through the network and across the air interface to the mobile.</a:t>
            </a:r>
          </a:p>
          <a:p>
            <a:r>
              <a:rPr lang="en-US" sz="2200" dirty="0">
                <a:latin typeface="Times New Roman" panose="02020603050405020304" pitchFamily="18" charset="0"/>
                <a:cs typeface="Times New Roman" panose="02020603050405020304" pitchFamily="18" charset="0"/>
              </a:rPr>
              <a:t>Different protocols are used across different interfaces.</a:t>
            </a:r>
          </a:p>
          <a:p>
            <a:r>
              <a:rPr lang="en-US" sz="2200" dirty="0">
                <a:latin typeface="Times New Roman" panose="02020603050405020304" pitchFamily="18" charset="0"/>
                <a:cs typeface="Times New Roman" panose="02020603050405020304" pitchFamily="18" charset="0"/>
              </a:rPr>
              <a:t>All GSM signaling is based on Open System Interconnect(OSI) model used for computer system.</a:t>
            </a:r>
          </a:p>
          <a:p>
            <a:r>
              <a:rPr lang="en-US" sz="2200" dirty="0">
                <a:latin typeface="Times New Roman" panose="02020603050405020304" pitchFamily="18" charset="0"/>
                <a:cs typeface="Times New Roman" panose="02020603050405020304" pitchFamily="18" charset="0"/>
              </a:rPr>
              <a:t>The signaling protocol in GSM is structured into three layers:</a:t>
            </a:r>
          </a:p>
          <a:p>
            <a:pPr>
              <a:buFont typeface="Wingdings" pitchFamily="2" charset="2"/>
              <a:buChar char="Ø"/>
            </a:pPr>
            <a:r>
              <a:rPr lang="en-US" sz="2200" dirty="0">
                <a:latin typeface="Times New Roman" panose="02020603050405020304" pitchFamily="18" charset="0"/>
                <a:cs typeface="Times New Roman" panose="02020603050405020304" pitchFamily="18" charset="0"/>
              </a:rPr>
              <a:t>Layer 1:Physical Layer- is providing media for communication</a:t>
            </a:r>
          </a:p>
          <a:p>
            <a:pPr>
              <a:buFont typeface="Wingdings" pitchFamily="2" charset="2"/>
              <a:buChar char="Ø"/>
            </a:pPr>
            <a:r>
              <a:rPr lang="en-US" sz="2200" dirty="0">
                <a:latin typeface="Times New Roman" panose="02020603050405020304" pitchFamily="18" charset="0"/>
                <a:cs typeface="Times New Roman" panose="02020603050405020304" pitchFamily="18" charset="0"/>
              </a:rPr>
              <a:t>Layer2: Data Link Layer: Error Detection &amp; Correction</a:t>
            </a:r>
          </a:p>
          <a:p>
            <a:pPr>
              <a:buFont typeface="Wingdings" pitchFamily="2" charset="2"/>
              <a:buChar char="Ø"/>
            </a:pPr>
            <a:r>
              <a:rPr lang="en-US" sz="2200" dirty="0">
                <a:latin typeface="Times New Roman" panose="02020603050405020304" pitchFamily="18" charset="0"/>
                <a:cs typeface="Times New Roman" panose="02020603050405020304" pitchFamily="18" charset="0"/>
              </a:rPr>
              <a:t>Layer 3: Network Layer: Communication</a:t>
            </a:r>
          </a:p>
        </p:txBody>
      </p:sp>
    </p:spTree>
    <p:extLst>
      <p:ext uri="{BB962C8B-B14F-4D97-AF65-F5344CB8AC3E}">
        <p14:creationId xmlns:p14="http://schemas.microsoft.com/office/powerpoint/2010/main" val="2244486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57EF21-0F0E-6947-806C-4BF8228CDC1D}"/>
              </a:ext>
            </a:extLst>
          </p:cNvPr>
          <p:cNvPicPr>
            <a:picLocks noGrp="1" noChangeAspect="1"/>
          </p:cNvPicPr>
          <p:nvPr>
            <p:ph idx="1"/>
          </p:nvPr>
        </p:nvPicPr>
        <p:blipFill rotWithShape="1">
          <a:blip r:embed="rId2"/>
          <a:srcRect t="233"/>
          <a:stretch/>
        </p:blipFill>
        <p:spPr>
          <a:xfrm>
            <a:off x="839788" y="704335"/>
            <a:ext cx="6704012" cy="5274835"/>
          </a:xfrm>
        </p:spPr>
      </p:pic>
    </p:spTree>
    <p:extLst>
      <p:ext uri="{BB962C8B-B14F-4D97-AF65-F5344CB8AC3E}">
        <p14:creationId xmlns:p14="http://schemas.microsoft.com/office/powerpoint/2010/main" val="4124989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64E67-4839-C54C-9033-9DBA249B1AC7}"/>
              </a:ext>
            </a:extLst>
          </p:cNvPr>
          <p:cNvSpPr>
            <a:spLocks noGrp="1"/>
          </p:cNvSpPr>
          <p:nvPr>
            <p:ph idx="1"/>
          </p:nvPr>
        </p:nvSpPr>
        <p:spPr>
          <a:xfrm>
            <a:off x="605481" y="531341"/>
            <a:ext cx="7475838" cy="5659394"/>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MS-BTS: The physical layer between MS and BTS is called Um or air interface and perform functions full or half duplex access, provides TDMA, FDMA &amp; CDMA, framing of data.</a:t>
            </a:r>
          </a:p>
          <a:p>
            <a:r>
              <a:rPr lang="en-US" sz="2400" dirty="0">
                <a:latin typeface="Times New Roman" panose="02020603050405020304" pitchFamily="18" charset="0"/>
                <a:cs typeface="Times New Roman" panose="02020603050405020304" pitchFamily="18" charset="0"/>
              </a:rPr>
              <a:t>The Data link layer control the flow of packets to and from network  and provides access to various services like:</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Connection: provides connection between two terminal</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Teleservices: MMS,SMS, fax etc.</a:t>
            </a:r>
          </a:p>
          <a:p>
            <a:r>
              <a:rPr lang="en-US" sz="2400" dirty="0">
                <a:latin typeface="Times New Roman" panose="02020603050405020304" pitchFamily="18" charset="0"/>
                <a:cs typeface="Times New Roman" panose="02020603050405020304" pitchFamily="18" charset="0"/>
              </a:rPr>
              <a:t>The data link present between MS &amp; BTS is called </a:t>
            </a:r>
            <a:r>
              <a:rPr lang="en-US" sz="2400" dirty="0" err="1">
                <a:latin typeface="Times New Roman" panose="02020603050405020304" pitchFamily="18" charset="0"/>
                <a:cs typeface="Times New Roman" panose="02020603050405020304" pitchFamily="18" charset="0"/>
              </a:rPr>
              <a:t>LAPDm</a:t>
            </a:r>
            <a:r>
              <a:rPr lang="en-US" sz="2400" dirty="0">
                <a:latin typeface="Times New Roman" panose="02020603050405020304" pitchFamily="18" charset="0"/>
                <a:cs typeface="Times New Roman" panose="02020603050405020304" pitchFamily="18" charset="0"/>
              </a:rPr>
              <a:t> and functions are data flow control, acknowledged/ unacknowledged data transmission, segmentation , address and sequence number check.</a:t>
            </a:r>
          </a:p>
          <a:p>
            <a:r>
              <a:rPr lang="en-US" sz="2400" dirty="0">
                <a:latin typeface="Times New Roman" panose="02020603050405020304" pitchFamily="18" charset="0"/>
                <a:cs typeface="Times New Roman" panose="02020603050405020304" pitchFamily="18" charset="0"/>
              </a:rPr>
              <a:t>CM:  Connection Management</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Supports call establishment, maintenance, termination </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Support Functioning of SMS</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Support Dual Tone Multiple frequency (DTMF) signaling</a:t>
            </a:r>
          </a:p>
          <a:p>
            <a:pPr marL="0" indent="0">
              <a:buNone/>
            </a:pPr>
            <a:endParaRPr lang="en-US" sz="2400" dirty="0">
              <a:latin typeface="Times New Roman" panose="02020603050405020304" pitchFamily="18" charset="0"/>
              <a:cs typeface="Times New Roman" panose="02020603050405020304" pitchFamily="18" charset="0"/>
            </a:endParaRPr>
          </a:p>
          <a:p>
            <a:pPr marL="400050" indent="-400050">
              <a:buFont typeface="+mj-lt"/>
              <a:buAutoNum type="romanLcPeriod"/>
            </a:pPr>
            <a:endParaRPr lang="en-US" dirty="0"/>
          </a:p>
        </p:txBody>
      </p:sp>
    </p:spTree>
    <p:extLst>
      <p:ext uri="{BB962C8B-B14F-4D97-AF65-F5344CB8AC3E}">
        <p14:creationId xmlns:p14="http://schemas.microsoft.com/office/powerpoint/2010/main" val="4190075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9DA0AD-0650-AC46-8275-AAC0E67A2C9F}"/>
              </a:ext>
            </a:extLst>
          </p:cNvPr>
          <p:cNvSpPr>
            <a:spLocks noGrp="1"/>
          </p:cNvSpPr>
          <p:nvPr>
            <p:ph idx="1"/>
          </p:nvPr>
        </p:nvSpPr>
        <p:spPr>
          <a:xfrm>
            <a:off x="852615" y="716692"/>
            <a:ext cx="7426411" cy="5881816"/>
          </a:xfrm>
        </p:spPr>
        <p:txBody>
          <a:bodyPr>
            <a:noAutofit/>
          </a:bodyPr>
          <a:lstStyle/>
          <a:p>
            <a:r>
              <a:rPr lang="en-US" sz="2400" dirty="0">
                <a:latin typeface="Times New Roman" panose="02020603050405020304" pitchFamily="18" charset="0"/>
                <a:cs typeface="Times New Roman" panose="02020603050405020304" pitchFamily="18" charset="0"/>
              </a:rPr>
              <a:t>MM (Mobility Management):</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Control the issue regarding mobility management, location updating &amp; registration.</a:t>
            </a:r>
          </a:p>
          <a:p>
            <a:r>
              <a:rPr lang="en-US" sz="2400" dirty="0">
                <a:latin typeface="Times New Roman" panose="02020603050405020304" pitchFamily="18" charset="0"/>
                <a:cs typeface="Times New Roman" panose="02020603050405020304" pitchFamily="18" charset="0"/>
              </a:rPr>
              <a:t>RRM (Radio Resource Management)</a:t>
            </a:r>
          </a:p>
          <a:p>
            <a:pPr marL="400050" indent="-400050">
              <a:buFont typeface="+mj-lt"/>
              <a:buAutoNum type="romanLcPeriod"/>
            </a:pPr>
            <a:r>
              <a:rPr lang="en-US" sz="2400" dirty="0">
                <a:latin typeface="Times New Roman" panose="02020603050405020304" pitchFamily="18" charset="0"/>
                <a:cs typeface="Times New Roman" panose="02020603050405020304" pitchFamily="18" charset="0"/>
              </a:rPr>
              <a:t>Manages radio resources such as: frequency assignment, signal measurement.</a:t>
            </a:r>
          </a:p>
          <a:p>
            <a:r>
              <a:rPr lang="en-US" sz="2400" dirty="0">
                <a:latin typeface="Times New Roman" panose="02020603050405020304" pitchFamily="18" charset="0"/>
                <a:cs typeface="Times New Roman" panose="02020603050405020304" pitchFamily="18" charset="0"/>
              </a:rPr>
              <a:t>BTS-BSC signaling protocols: </a:t>
            </a:r>
          </a:p>
          <a:p>
            <a:pPr marL="0" indent="0">
              <a:buNone/>
            </a:pPr>
            <a:r>
              <a:rPr lang="en-US" sz="2400" dirty="0">
                <a:latin typeface="Times New Roman" panose="02020603050405020304" pitchFamily="18" charset="0"/>
                <a:cs typeface="Times New Roman" panose="02020603050405020304" pitchFamily="18" charset="0"/>
              </a:rPr>
              <a:t> The physical layer between BTS and BSC  is called </a:t>
            </a:r>
            <a:r>
              <a:rPr lang="en-US" sz="2400" dirty="0" err="1">
                <a:latin typeface="Times New Roman" panose="02020603050405020304" pitchFamily="18" charset="0"/>
                <a:cs typeface="Times New Roman" panose="02020603050405020304" pitchFamily="18" charset="0"/>
              </a:rPr>
              <a:t>Abis</a:t>
            </a:r>
            <a:r>
              <a:rPr lang="en-US" sz="2400" dirty="0">
                <a:latin typeface="Times New Roman" panose="02020603050405020304" pitchFamily="18" charset="0"/>
                <a:cs typeface="Times New Roman" panose="02020603050405020304" pitchFamily="18" charset="0"/>
              </a:rPr>
              <a:t> interface, where, voice is coded by using 64 kbps. The connection between  BTS and BSC is through  wired network.  The data link layer is </a:t>
            </a:r>
            <a:r>
              <a:rPr lang="en-US" sz="2400" dirty="0" err="1">
                <a:latin typeface="Times New Roman" panose="02020603050405020304" pitchFamily="18" charset="0"/>
                <a:cs typeface="Times New Roman" panose="02020603050405020304" pitchFamily="18" charset="0"/>
              </a:rPr>
              <a:t>LAPDm</a:t>
            </a:r>
            <a:r>
              <a:rPr lang="en-US" sz="2400" dirty="0">
                <a:latin typeface="Times New Roman" panose="02020603050405020304" pitchFamily="18" charset="0"/>
                <a:cs typeface="Times New Roman" panose="02020603050405020304" pitchFamily="18" charset="0"/>
              </a:rPr>
              <a:t>.  Network layer protocol is BTS management which interact with BSSAP.</a:t>
            </a:r>
          </a:p>
          <a:p>
            <a:pPr marL="0" indent="0">
              <a:buNone/>
            </a:pPr>
            <a:endParaRPr lang="en-US" sz="1900" dirty="0"/>
          </a:p>
        </p:txBody>
      </p:sp>
    </p:spTree>
    <p:extLst>
      <p:ext uri="{BB962C8B-B14F-4D97-AF65-F5344CB8AC3E}">
        <p14:creationId xmlns:p14="http://schemas.microsoft.com/office/powerpoint/2010/main" val="1937427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7AE31B-00E1-954C-AF9C-8C00032A8024}"/>
              </a:ext>
            </a:extLst>
          </p:cNvPr>
          <p:cNvSpPr>
            <a:spLocks noGrp="1"/>
          </p:cNvSpPr>
          <p:nvPr>
            <p:ph idx="1"/>
          </p:nvPr>
        </p:nvSpPr>
        <p:spPr>
          <a:xfrm>
            <a:off x="778476" y="852617"/>
            <a:ext cx="7611761" cy="4887412"/>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BSC-MSC Signaling protocols:</a:t>
            </a:r>
          </a:p>
          <a:p>
            <a:pPr marL="0" indent="0">
              <a:buNone/>
            </a:pPr>
            <a:r>
              <a:rPr lang="en-US" sz="2400" dirty="0">
                <a:latin typeface="Times New Roman" panose="02020603050405020304" pitchFamily="18" charset="0"/>
                <a:cs typeface="Times New Roman" panose="02020603050405020304" pitchFamily="18" charset="0"/>
              </a:rPr>
              <a:t>Physical layer between BSC and MSC is called A interface. Data link layer protocol between BSC and MSC is MTP(Message Transfer Protocol) and SCCP (Signaling Connection Control Protocol). MTP and SCCP are part of SS7. Network layer protocols are the MSC are CM, MM and BSSAP.</a:t>
            </a:r>
          </a:p>
          <a:p>
            <a:pPr marL="0" indent="0">
              <a:buNone/>
            </a:pPr>
            <a:endParaRPr lang="en-US" sz="2300" dirty="0">
              <a:latin typeface="Times New Roman" panose="02020603050405020304" pitchFamily="18" charset="0"/>
              <a:cs typeface="Times New Roman" panose="02020603050405020304" pitchFamily="18" charset="0"/>
            </a:endParaRPr>
          </a:p>
          <a:p>
            <a:pPr>
              <a:buFont typeface="Wingdings" pitchFamily="2" charset="2"/>
              <a:buChar char="Ø"/>
            </a:pPr>
            <a:r>
              <a:rPr lang="en-US" sz="2300" dirty="0">
                <a:latin typeface="Times New Roman" panose="02020603050405020304" pitchFamily="18" charset="0"/>
                <a:cs typeface="Times New Roman" panose="02020603050405020304" pitchFamily="18" charset="0"/>
              </a:rPr>
              <a:t>Mobility Management in GSM: </a:t>
            </a:r>
          </a:p>
          <a:p>
            <a:pPr marL="342900" indent="-342900">
              <a:buFont typeface="+mj-lt"/>
              <a:buAutoNum type="arabicPeriod"/>
            </a:pPr>
            <a:r>
              <a:rPr lang="en-US" sz="2300" dirty="0">
                <a:latin typeface="Times New Roman" panose="02020603050405020304" pitchFamily="18" charset="0"/>
                <a:cs typeface="Times New Roman" panose="02020603050405020304" pitchFamily="18" charset="0"/>
              </a:rPr>
              <a:t>Mobility management function handles the function that arises due to mobility of the subscriber.</a:t>
            </a:r>
          </a:p>
          <a:p>
            <a:pPr marL="342900" indent="-342900">
              <a:buFont typeface="+mj-lt"/>
              <a:buAutoNum type="arabicPeriod"/>
            </a:pPr>
            <a:r>
              <a:rPr lang="en-US" sz="2300" dirty="0">
                <a:latin typeface="Times New Roman" panose="02020603050405020304" pitchFamily="18" charset="0"/>
                <a:cs typeface="Times New Roman" panose="02020603050405020304" pitchFamily="18" charset="0"/>
              </a:rPr>
              <a:t>Main objective of MM is location tracking &amp; call setup.</a:t>
            </a:r>
          </a:p>
          <a:p>
            <a:pPr marL="342900" indent="-342900">
              <a:buFont typeface="+mj-lt"/>
              <a:buAutoNum type="arabicPeriod"/>
            </a:pPr>
            <a:r>
              <a:rPr lang="en-US" sz="2300" dirty="0">
                <a:latin typeface="Times New Roman" panose="02020603050405020304" pitchFamily="18" charset="0"/>
                <a:cs typeface="Times New Roman" panose="02020603050405020304" pitchFamily="18" charset="0"/>
              </a:rPr>
              <a:t>Registration Process of MS moving from one VLR to another VLR.</a:t>
            </a:r>
            <a:endParaRPr lang="en-US" dirty="0"/>
          </a:p>
          <a:p>
            <a:endParaRPr lang="en-US" dirty="0"/>
          </a:p>
        </p:txBody>
      </p:sp>
    </p:spTree>
    <p:extLst>
      <p:ext uri="{BB962C8B-B14F-4D97-AF65-F5344CB8AC3E}">
        <p14:creationId xmlns:p14="http://schemas.microsoft.com/office/powerpoint/2010/main" val="4180880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7F86F-7764-D44C-AE95-9404635FECEA}"/>
              </a:ext>
            </a:extLst>
          </p:cNvPr>
          <p:cNvSpPr>
            <a:spLocks noGrp="1"/>
          </p:cNvSpPr>
          <p:nvPr>
            <p:ph idx="1"/>
          </p:nvPr>
        </p:nvSpPr>
        <p:spPr/>
        <p:txBody>
          <a:bodyPr>
            <a:normAutofit/>
          </a:bodyPr>
          <a:lstStyle/>
          <a:p>
            <a:pPr>
              <a:buFont typeface="Wingdings" pitchFamily="2" charset="2"/>
              <a:buChar char="Ø"/>
            </a:pPr>
            <a:r>
              <a:rPr lang="en-US" sz="2000" b="1" dirty="0">
                <a:latin typeface="Times New Roman" panose="02020603050405020304" pitchFamily="18" charset="0"/>
                <a:cs typeface="Times New Roman" panose="02020603050405020304" pitchFamily="18" charset="0"/>
              </a:rPr>
              <a:t>GSM Call organization</a:t>
            </a:r>
          </a:p>
          <a:p>
            <a:pPr marL="400050" indent="-400050">
              <a:buFont typeface="+mj-lt"/>
              <a:buAutoNum type="romanLcPeriod"/>
            </a:pPr>
            <a:r>
              <a:rPr lang="en-US" sz="2000" dirty="0">
                <a:latin typeface="Times New Roman" panose="02020603050405020304" pitchFamily="18" charset="0"/>
                <a:cs typeface="Times New Roman" panose="02020603050405020304" pitchFamily="18" charset="0"/>
              </a:rPr>
              <a:t>MS sends the call organization request to MSC.</a:t>
            </a:r>
          </a:p>
          <a:p>
            <a:pPr marL="400050" indent="-400050">
              <a:buFont typeface="+mj-lt"/>
              <a:buAutoNum type="romanLcPeriod"/>
            </a:pPr>
            <a:r>
              <a:rPr lang="en-US" sz="2000" dirty="0">
                <a:latin typeface="Times New Roman" panose="02020603050405020304" pitchFamily="18" charset="0"/>
                <a:cs typeface="Times New Roman" panose="02020603050405020304" pitchFamily="18" charset="0"/>
              </a:rPr>
              <a:t>MSC  forwards the request to VLR by sending MAP_SEND_INFO_FOR_OUTGOING_CALL.</a:t>
            </a:r>
          </a:p>
          <a:p>
            <a:pPr marL="400050" indent="-400050">
              <a:buFont typeface="+mj-lt"/>
              <a:buAutoNum type="romanLcPeriod"/>
            </a:pPr>
            <a:r>
              <a:rPr lang="en-US" sz="2000" dirty="0">
                <a:latin typeface="Times New Roman" panose="02020603050405020304" pitchFamily="18" charset="0"/>
                <a:cs typeface="Times New Roman" panose="02020603050405020304" pitchFamily="18" charset="0"/>
              </a:rPr>
              <a:t>VLR checks MS’s profile and sends an ACK to MSC to grant call request.</a:t>
            </a:r>
          </a:p>
          <a:p>
            <a:pPr marL="400050" indent="-400050">
              <a:buFont typeface="+mj-lt"/>
              <a:buAutoNum type="romanLcPeriod"/>
            </a:pPr>
            <a:r>
              <a:rPr lang="en-US" sz="2000" dirty="0">
                <a:latin typeface="Times New Roman" panose="02020603050405020304" pitchFamily="18" charset="0"/>
                <a:cs typeface="Times New Roman" panose="02020603050405020304" pitchFamily="18" charset="0"/>
              </a:rPr>
              <a:t>MSC set up communication link according to standard PSTN call setup procedure.</a:t>
            </a:r>
          </a:p>
          <a:p>
            <a:pPr marL="400050" indent="-400050">
              <a:buFont typeface="+mj-lt"/>
              <a:buAutoNum type="romanLcPeriod"/>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DD6577DE-D17A-3847-A5B1-FA59FF266FE2}"/>
              </a:ext>
            </a:extLst>
          </p:cNvPr>
          <p:cNvSpPr>
            <a:spLocks noGrp="1"/>
          </p:cNvSpPr>
          <p:nvPr>
            <p:ph type="body" sz="half" idx="2"/>
          </p:nvPr>
        </p:nvSpPr>
        <p:spPr>
          <a:xfrm>
            <a:off x="346364" y="1163782"/>
            <a:ext cx="3985952" cy="3851563"/>
          </a:xfrm>
        </p:spPr>
        <p:txBody>
          <a:bodyPr/>
          <a:lstStyle/>
          <a:p>
            <a:endParaRPr lang="en-US" dirty="0"/>
          </a:p>
        </p:txBody>
      </p:sp>
      <p:pic>
        <p:nvPicPr>
          <p:cNvPr id="5" name="Picture 4">
            <a:extLst>
              <a:ext uri="{FF2B5EF4-FFF2-40B4-BE49-F238E27FC236}">
                <a16:creationId xmlns:a16="http://schemas.microsoft.com/office/drawing/2014/main" id="{2A2F4838-ABDB-1846-AC3C-69F4F76B416B}"/>
              </a:ext>
            </a:extLst>
          </p:cNvPr>
          <p:cNvPicPr>
            <a:picLocks noChangeAspect="1"/>
          </p:cNvPicPr>
          <p:nvPr/>
        </p:nvPicPr>
        <p:blipFill rotWithShape="1">
          <a:blip r:embed="rId2"/>
          <a:srcRect l="38783" t="31351" r="14865" b="18703"/>
          <a:stretch/>
        </p:blipFill>
        <p:spPr>
          <a:xfrm>
            <a:off x="346364" y="1163782"/>
            <a:ext cx="3985952" cy="3851563"/>
          </a:xfrm>
          <a:prstGeom prst="rect">
            <a:avLst/>
          </a:prstGeom>
        </p:spPr>
      </p:pic>
    </p:spTree>
    <p:extLst>
      <p:ext uri="{BB962C8B-B14F-4D97-AF65-F5344CB8AC3E}">
        <p14:creationId xmlns:p14="http://schemas.microsoft.com/office/powerpoint/2010/main" val="2494930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B28DB-F21C-6C4F-82B5-BA9D7EE91D96}"/>
              </a:ext>
            </a:extLst>
          </p:cNvPr>
          <p:cNvSpPr>
            <a:spLocks noGrp="1"/>
          </p:cNvSpPr>
          <p:nvPr>
            <p:ph idx="1"/>
          </p:nvPr>
        </p:nvSpPr>
        <p:spPr/>
        <p:txBody>
          <a:bodyPr>
            <a:normAutofit fontScale="85000" lnSpcReduction="10000"/>
          </a:bodyPr>
          <a:lstStyle/>
          <a:p>
            <a:pPr>
              <a:buFont typeface="Wingdings" pitchFamily="2" charset="2"/>
              <a:buChar char="Ø"/>
            </a:pPr>
            <a:r>
              <a:rPr lang="en-US" sz="2000" b="1" dirty="0">
                <a:latin typeface="Times New Roman" panose="02020603050405020304" pitchFamily="18" charset="0"/>
                <a:cs typeface="Times New Roman" panose="02020603050405020304" pitchFamily="18" charset="0"/>
              </a:rPr>
              <a:t>GSM Call Termination</a:t>
            </a:r>
          </a:p>
          <a:p>
            <a:pPr marL="400050" indent="-400050">
              <a:buFont typeface="+mj-lt"/>
              <a:buAutoNum type="romanLcPeriod"/>
            </a:pPr>
            <a:r>
              <a:rPr lang="en-US" dirty="0">
                <a:latin typeface="Times New Roman" panose="02020603050405020304" pitchFamily="18" charset="0"/>
                <a:cs typeface="Times New Roman" panose="02020603050405020304" pitchFamily="18" charset="0"/>
              </a:rPr>
              <a:t>To obtain routing information, GMSC interrogates HLR by sending MAP_SEND_ROUTING_INFORMATION to HLR.</a:t>
            </a:r>
          </a:p>
          <a:p>
            <a:pPr marL="400050" indent="-400050">
              <a:buFont typeface="+mj-lt"/>
              <a:buAutoNum type="romanLcPeriod"/>
            </a:pPr>
            <a:r>
              <a:rPr lang="en-US" dirty="0">
                <a:latin typeface="Times New Roman" panose="02020603050405020304" pitchFamily="18" charset="0"/>
                <a:cs typeface="Times New Roman" panose="02020603050405020304" pitchFamily="18" charset="0"/>
              </a:rPr>
              <a:t>HLR sends a MAP_PROVIDE_ROAMING_NUMBER msg to VLR to obtain MSRN (MS Roaming Number). The message consists of IMSI, MSC number etc.</a:t>
            </a:r>
          </a:p>
          <a:p>
            <a:pPr marL="400050" indent="-400050">
              <a:buFont typeface="+mj-lt"/>
              <a:buAutoNum type="romanLcPeriod"/>
            </a:pPr>
            <a:r>
              <a:rPr lang="en-US" dirty="0">
                <a:latin typeface="Times New Roman" panose="02020603050405020304" pitchFamily="18" charset="0"/>
                <a:cs typeface="Times New Roman" panose="02020603050405020304" pitchFamily="18" charset="0"/>
              </a:rPr>
              <a:t>The VLR creates the MSRN by using MSC number stored in VLR record of MS. The MSRN number is sent back to GMSC through HLR.</a:t>
            </a:r>
          </a:p>
          <a:p>
            <a:pPr marL="400050" indent="-400050">
              <a:buFont typeface="+mj-lt"/>
              <a:buAutoNum type="romanLcPeriod"/>
            </a:pPr>
            <a:r>
              <a:rPr lang="en-US" dirty="0">
                <a:latin typeface="Times New Roman" panose="02020603050405020304" pitchFamily="18" charset="0"/>
                <a:cs typeface="Times New Roman" panose="02020603050405020304" pitchFamily="18" charset="0"/>
              </a:rPr>
              <a:t>MSRN provides address of target MSC where the MS resides. Then a message is directed from GMSC to target MSC to set communication link.</a:t>
            </a:r>
          </a:p>
          <a:p>
            <a:pPr marL="400050" indent="-400050">
              <a:buFont typeface="+mj-lt"/>
              <a:buAutoNum type="romanLcPeriod"/>
            </a:pPr>
            <a:endParaRPr lang="en-US" sz="2000" dirty="0"/>
          </a:p>
        </p:txBody>
      </p:sp>
      <p:sp>
        <p:nvSpPr>
          <p:cNvPr id="4" name="Text Placeholder 3">
            <a:extLst>
              <a:ext uri="{FF2B5EF4-FFF2-40B4-BE49-F238E27FC236}">
                <a16:creationId xmlns:a16="http://schemas.microsoft.com/office/drawing/2014/main" id="{0043C967-CE17-6944-B9AE-85B633E6BCD4}"/>
              </a:ext>
            </a:extLst>
          </p:cNvPr>
          <p:cNvSpPr>
            <a:spLocks noGrp="1"/>
          </p:cNvSpPr>
          <p:nvPr>
            <p:ph type="body" sz="half" idx="2"/>
          </p:nvPr>
        </p:nvSpPr>
        <p:spPr>
          <a:xfrm>
            <a:off x="360218" y="997527"/>
            <a:ext cx="3611880" cy="4502727"/>
          </a:xfrm>
        </p:spPr>
        <p:txBody>
          <a:bodyPr/>
          <a:lstStyle/>
          <a:p>
            <a:endParaRPr lang="en-US" dirty="0"/>
          </a:p>
        </p:txBody>
      </p:sp>
      <p:pic>
        <p:nvPicPr>
          <p:cNvPr id="5" name="Content Placeholder 4">
            <a:extLst>
              <a:ext uri="{FF2B5EF4-FFF2-40B4-BE49-F238E27FC236}">
                <a16:creationId xmlns:a16="http://schemas.microsoft.com/office/drawing/2014/main" id="{D83C6FFD-58C7-624B-8D29-0D5DF7B3524F}"/>
              </a:ext>
            </a:extLst>
          </p:cNvPr>
          <p:cNvPicPr>
            <a:picLocks noGrp="1" noChangeAspect="1"/>
          </p:cNvPicPr>
          <p:nvPr>
            <p:ph idx="1"/>
          </p:nvPr>
        </p:nvPicPr>
        <p:blipFill rotWithShape="1">
          <a:blip r:embed="rId2"/>
          <a:srcRect l="33648" t="27140" r="12838" b="10806"/>
          <a:stretch/>
        </p:blipFill>
        <p:spPr>
          <a:xfrm>
            <a:off x="360218" y="997527"/>
            <a:ext cx="3611880" cy="4502727"/>
          </a:xfrm>
          <a:prstGeom prst="rect">
            <a:avLst/>
          </a:prstGeom>
        </p:spPr>
      </p:pic>
    </p:spTree>
    <p:extLst>
      <p:ext uri="{BB962C8B-B14F-4D97-AF65-F5344CB8AC3E}">
        <p14:creationId xmlns:p14="http://schemas.microsoft.com/office/powerpoint/2010/main" val="4217179851"/>
      </p:ext>
    </p:extLst>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docProps/app.xml><?xml version="1.0" encoding="utf-8"?>
<Properties xmlns="http://schemas.openxmlformats.org/officeDocument/2006/extended-properties" xmlns:vt="http://schemas.openxmlformats.org/officeDocument/2006/docPropsVTypes">
  <Template>Parcel</Template>
  <TotalTime>8459</TotalTime>
  <Words>2015</Words>
  <Application>Microsoft Office PowerPoint</Application>
  <PresentationFormat>On-screen Show (4:3)</PresentationFormat>
  <Paragraphs>169</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Gill Sans MT</vt:lpstr>
      <vt:lpstr>Times New Roman</vt:lpstr>
      <vt:lpstr>Wingdings</vt:lpstr>
      <vt:lpstr>Parcel</vt:lpstr>
      <vt:lpstr>Unit-2 2G Networks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Signaling in GSM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 2G Networks</dc:title>
  <dc:creator>Prabhjeet Singh</dc:creator>
  <cp:lastModifiedBy>jaspinder singh</cp:lastModifiedBy>
  <cp:revision>71</cp:revision>
  <dcterms:created xsi:type="dcterms:W3CDTF">2020-09-02T11:17:59Z</dcterms:created>
  <dcterms:modified xsi:type="dcterms:W3CDTF">2020-10-07T15:52:30Z</dcterms:modified>
</cp:coreProperties>
</file>